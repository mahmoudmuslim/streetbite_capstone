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3" r:id="rId9"/>
    <p:sldId id="265" r:id="rId11"/>
    <p:sldId id="266" r:id="rId12"/>
    <p:sldId id="267" r:id="rId13"/>
    <p:sldId id="268" r:id="rId14"/>
    <p:sldId id="272" r:id="rId10"/>
    <p:sldId id="269" r:id="rId15"/>
    <p:sldId id="270" r:id="rId16"/>
    <p:sldId id="271" r:id="rId17"/>
  </p:sldIdLst>
  <p:sldSz cx="12192000" cy="6858000"/>
  <p:notesSz cx="6858000" cy="9144000"/>
</p:presentation>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13.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p:bodyStyle/>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merged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merged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merged3.png"/><Relationship Id="rId3" Type="http://schemas.openxmlformats.org/officeDocument/2006/relationships/image" Target="../media/merged4.png"/><Relationship Id="rId4" Type="http://schemas.openxmlformats.org/officeDocument/2006/relationships/image" Target="../media/merged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80D18"/>
        </a:solidFill>
        <a:effectLst/>
      </p:bgPr>
    </p:bg>
    <p:spTree>
      <p:nvGrpSpPr>
        <p:cNvPr id="1" name=""/>
        <p:cNvGrpSpPr/>
        <p:nvPr/>
      </p:nvGrpSpPr>
      <p:grpSpPr>
        <a:xfrm>
          <a:off x="0" y="0"/>
          <a:ext cx="0" cy="0"/>
          <a:chOff x="0" y="0"/>
          <a:chExt cx="0" cy="0"/>
        </a:xfrm>
      </p:grpSpPr>
      <p:sp>
        <p:nvSpPr>
          <p:cNvPr id="3" name="Shape 3">
            <a:extLst>
              <a:ext uri="{FF2B5EF4-FFF2-40B4-BE49-F238E27FC236}">
                <a16:creationId xmlns:a16="http://schemas.microsoft.com/office/drawing/2014/main" id="{62E53B97-108E-410F-9FFD-015A40C9C758}"/>
              </a:ext>
            </a:extLst>
          </p:cNvPr>
          <p:cNvSpPr/>
          <p:nvPr/>
        </p:nvSpPr>
        <p:spPr>
          <a:xfrm>
            <a:off x="7048500" y="381000"/>
            <a:ext cx="4000500" cy="4000500"/>
          </a:xfrm>
          <a:prstGeom prst="ellipse">
            <a:avLst/>
          </a:prstGeom>
          <a:solidFill>
            <a:srgbClr val="00C16A">
              <a:alpha val="12157"/>
            </a:srgbClr>
          </a:solidFill>
        </p:spPr>
        <p:txBody>
          <a:bodyPr wrap="square" rtlCol="0"/>
          <a:lstStyle/>
          <a:p>
            <a:r>
              <a:rPr/>
              <a:t/>
            </a:r>
          </a:p>
        </p:txBody>
      </p:sp>
      <p:sp>
        <p:nvSpPr>
          <p:cNvPr id="4" name="Shape 4">
            <a:extLst>
              <a:ext uri="{FF2B5EF4-FFF2-40B4-BE49-F238E27FC236}">
                <a16:creationId xmlns:a16="http://schemas.microsoft.com/office/drawing/2014/main" id="{EFB9677D-7CF8-4CB6-985F-1F1EE5DB5D1E}"/>
              </a:ext>
            </a:extLst>
          </p:cNvPr>
          <p:cNvSpPr/>
          <p:nvPr/>
        </p:nvSpPr>
        <p:spPr>
          <a:xfrm>
            <a:off x="5715000" y="3048000"/>
            <a:ext cx="3048000" cy="3048000"/>
          </a:xfrm>
          <a:prstGeom prst="ellipse">
            <a:avLst/>
          </a:prstGeom>
          <a:solidFill>
            <a:srgbClr val="2E6BFF">
              <a:alpha val="10196"/>
            </a:srgbClr>
          </a:solidFill>
        </p:spPr>
        <p:txBody>
          <a:bodyPr wrap="square" rtlCol="0"/>
          <a:lstStyle/>
          <a:p>
            <a:r>
              <a:rPr/>
              <a:t/>
            </a:r>
          </a:p>
        </p:txBody>
      </p:sp>
      <p:sp>
        <p:nvSpPr>
          <p:cNvPr id="5" name="Shape 5">
            <a:extLst>
              <a:ext uri="{FF2B5EF4-FFF2-40B4-BE49-F238E27FC236}">
                <a16:creationId xmlns:a16="http://schemas.microsoft.com/office/drawing/2014/main" id="{15E776D1-B9BB-4E71-AFF6-1E94166AE61A}"/>
              </a:ext>
            </a:extLst>
          </p:cNvPr>
          <p:cNvSpPr/>
          <p:nvPr/>
        </p:nvSpPr>
        <p:spPr>
          <a:xfrm>
            <a:off x="7905750" y="1714500"/>
            <a:ext cx="1428750" cy="990600"/>
          </a:xfrm>
          <a:prstGeom prst="roundRect">
            <a:avLst/>
          </a:prstGeom>
          <a:solidFill>
            <a:srgbClr val="00C16A">
              <a:alpha val="18039"/>
            </a:srgbClr>
          </a:solidFill>
          <a:ln w="12700">
            <a:solidFill>
              <a:srgbClr val="FFFFFF"/>
            </a:solidFill>
          </a:ln>
        </p:spPr>
        <p:txBody>
          <a:bodyPr wrap="square" rtlCol="0"/>
          <a:lstStyle/>
          <a:p>
            <a:r>
              <a:rPr/>
              <a:t/>
            </a:r>
          </a:p>
        </p:txBody>
      </p:sp>
      <p:sp>
        <p:nvSpPr>
          <p:cNvPr id="6" name="Shape 6">
            <a:extLst>
              <a:ext uri="{FF2B5EF4-FFF2-40B4-BE49-F238E27FC236}">
                <a16:creationId xmlns:a16="http://schemas.microsoft.com/office/drawing/2014/main" id="{8C4F33FE-A188-4FB9-8A05-B6AA23C5B973}"/>
              </a:ext>
            </a:extLst>
          </p:cNvPr>
          <p:cNvSpPr/>
          <p:nvPr/>
        </p:nvSpPr>
        <p:spPr>
          <a:xfrm>
            <a:off x="9620250" y="1714500"/>
            <a:ext cx="1428750" cy="990600"/>
          </a:xfrm>
          <a:prstGeom prst="roundRect">
            <a:avLst/>
          </a:prstGeom>
          <a:solidFill>
            <a:srgbClr val="FFFFFF">
              <a:alpha val="7059"/>
            </a:srgbClr>
          </a:solidFill>
          <a:ln w="12700">
            <a:solidFill>
              <a:srgbClr val="FFFFFF"/>
            </a:solidFill>
          </a:ln>
        </p:spPr>
        <p:txBody>
          <a:bodyPr wrap="square" rtlCol="0"/>
          <a:lstStyle/>
          <a:p>
            <a:r>
              <a:rPr/>
              <a:t/>
            </a:r>
          </a:p>
        </p:txBody>
      </p:sp>
      <p:sp>
        <p:nvSpPr>
          <p:cNvPr id="7" name="Shape 7">
            <a:extLst>
              <a:ext uri="{FF2B5EF4-FFF2-40B4-BE49-F238E27FC236}">
                <a16:creationId xmlns:a16="http://schemas.microsoft.com/office/drawing/2014/main" id="{027F8DFF-9272-4039-9111-C96D1526E295}"/>
              </a:ext>
            </a:extLst>
          </p:cNvPr>
          <p:cNvSpPr/>
          <p:nvPr/>
        </p:nvSpPr>
        <p:spPr>
          <a:xfrm>
            <a:off x="7905750" y="2857500"/>
            <a:ext cx="1428750" cy="990600"/>
          </a:xfrm>
          <a:prstGeom prst="roundRect">
            <a:avLst/>
          </a:prstGeom>
          <a:solidFill>
            <a:srgbClr val="FFFFFF">
              <a:alpha val="7059"/>
            </a:srgbClr>
          </a:solidFill>
          <a:ln w="12700">
            <a:solidFill>
              <a:srgbClr val="FFFFFF"/>
            </a:solidFill>
          </a:ln>
        </p:spPr>
        <p:txBody>
          <a:bodyPr wrap="square" rtlCol="0"/>
          <a:lstStyle/>
          <a:p>
            <a:r>
              <a:rPr/>
              <a:t/>
            </a:r>
          </a:p>
        </p:txBody>
      </p:sp>
      <p:sp>
        <p:nvSpPr>
          <p:cNvPr id="8" name="Shape 8">
            <a:extLst>
              <a:ext uri="{FF2B5EF4-FFF2-40B4-BE49-F238E27FC236}">
                <a16:creationId xmlns:a16="http://schemas.microsoft.com/office/drawing/2014/main" id="{70B58B2C-3331-4921-9C8E-32B09831DBBE}"/>
              </a:ext>
            </a:extLst>
          </p:cNvPr>
          <p:cNvSpPr/>
          <p:nvPr/>
        </p:nvSpPr>
        <p:spPr>
          <a:xfrm>
            <a:off x="9620250" y="2857500"/>
            <a:ext cx="1428750" cy="990600"/>
          </a:xfrm>
          <a:prstGeom prst="roundRect">
            <a:avLst/>
          </a:prstGeom>
          <a:solidFill>
            <a:srgbClr val="FFFFFF">
              <a:alpha val="7059"/>
            </a:srgbClr>
          </a:solidFill>
          <a:ln w="12700">
            <a:solidFill>
              <a:srgbClr val="FFFFFF"/>
            </a:solidFill>
          </a:ln>
        </p:spPr>
        <p:txBody>
          <a:bodyPr wrap="square" rtlCol="0"/>
          <a:lstStyle/>
          <a:p>
            <a:r>
              <a:rPr/>
              <a:t/>
            </a:r>
          </a:p>
        </p:txBody>
      </p:sp>
      <p:sp>
        <p:nvSpPr>
          <p:cNvPr id="9" name="Shape 9">
            <a:extLst>
              <a:ext uri="{FF2B5EF4-FFF2-40B4-BE49-F238E27FC236}">
                <a16:creationId xmlns:a16="http://schemas.microsoft.com/office/drawing/2014/main" id="{6BB08FA0-64F6-44EB-A50E-C720CDB1F302}"/>
              </a:ext>
            </a:extLst>
          </p:cNvPr>
          <p:cNvSpPr/>
          <p:nvPr/>
        </p:nvSpPr>
        <p:spPr>
          <a:xfrm>
            <a:off x="7905750" y="4000500"/>
            <a:ext cx="1428750" cy="990600"/>
          </a:xfrm>
          <a:prstGeom prst="roundRect">
            <a:avLst/>
          </a:prstGeom>
          <a:solidFill>
            <a:srgbClr val="FFFFFF">
              <a:alpha val="7059"/>
            </a:srgbClr>
          </a:solidFill>
          <a:ln w="12700">
            <a:solidFill>
              <a:srgbClr val="FFFFFF"/>
            </a:solidFill>
          </a:ln>
        </p:spPr>
        <p:txBody>
          <a:bodyPr wrap="square" rtlCol="0"/>
          <a:lstStyle/>
          <a:p>
            <a:r>
              <a:rPr/>
              <a:t/>
            </a:r>
          </a:p>
        </p:txBody>
      </p:sp>
      <p:sp>
        <p:nvSpPr>
          <p:cNvPr id="10" name="Shape 10">
            <a:extLst>
              <a:ext uri="{FF2B5EF4-FFF2-40B4-BE49-F238E27FC236}">
                <a16:creationId xmlns:a16="http://schemas.microsoft.com/office/drawing/2014/main" id="{F474DC9F-7CC6-4639-AD56-2E869905DDB9}"/>
              </a:ext>
            </a:extLst>
          </p:cNvPr>
          <p:cNvSpPr/>
          <p:nvPr/>
        </p:nvSpPr>
        <p:spPr>
          <a:xfrm>
            <a:off x="9620250" y="4000500"/>
            <a:ext cx="1428750" cy="990600"/>
          </a:xfrm>
          <a:prstGeom prst="roundRect">
            <a:avLst/>
          </a:prstGeom>
          <a:solidFill>
            <a:srgbClr val="FFFFFF">
              <a:alpha val="7059"/>
            </a:srgbClr>
          </a:solidFill>
          <a:ln w="12700">
            <a:solidFill>
              <a:srgbClr val="FFFFFF"/>
            </a:solidFill>
          </a:ln>
        </p:spPr>
        <p:txBody>
          <a:bodyPr wrap="square" rtlCol="0"/>
          <a:lstStyle/>
          <a:p>
            <a:r>
              <a:rPr/>
              <a:t/>
            </a:r>
          </a:p>
        </p:txBody>
      </p:sp>
      <p:sp>
        <p:nvSpPr>
          <p:cNvPr id="11" name="TextBox 11">
            <a:extLst>
              <a:ext uri="{FF2B5EF4-FFF2-40B4-BE49-F238E27FC236}">
                <a16:creationId xmlns:a16="http://schemas.microsoft.com/office/drawing/2014/main" id="{4BA05378-FDD7-4033-87D0-4EAE472D39B2}"/>
              </a:ext>
            </a:extLst>
          </p:cNvPr>
          <p:cNvSpPr txBox="1"/>
          <p:nvPr/>
        </p:nvSpPr>
        <p:spPr>
          <a:xfrm>
            <a:off x="762000" y="838200"/>
            <a:ext cx="6667500" cy="247650"/>
          </a:xfrm>
        </p:spPr>
        <p:txBody>
          <a:bodyPr wrap="square" rtlCol="0" lIns="0" tIns="0" rIns="0" bIns="0" anchor="t"/>
          <a:lstStyle/>
          <a:p>
            <a:pPr algn="l"/>
            <a:r>
              <a:rPr sz="1200" b="1">
                <a:solidFill>
                  <a:srgbClr val="00C16A"/>
                </a:solidFill>
                <a:latin typeface="Segoe UI"/>
                <a:ea typeface="Segoe UI"/>
              </a:rPr>
              <a:t>STREETBITE VENTURES  ·  GRADUATION CAPSTONE  ·  2026</a:t>
            </a:r>
          </a:p>
        </p:txBody>
      </p:sp>
      <p:sp>
        <p:nvSpPr>
          <p:cNvPr id="12" name="TextBox 12">
            <a:extLst>
              <a:ext uri="{FF2B5EF4-FFF2-40B4-BE49-F238E27FC236}">
                <a16:creationId xmlns:a16="http://schemas.microsoft.com/office/drawing/2014/main" id="{5EC9458D-7AAC-490C-8E04-86BBDF184142}"/>
              </a:ext>
            </a:extLst>
          </p:cNvPr>
          <p:cNvSpPr txBox="1"/>
          <p:nvPr/>
        </p:nvSpPr>
        <p:spPr>
          <a:xfrm>
            <a:off x="762000" y="1123950"/>
            <a:ext cx="6286500" cy="857250"/>
          </a:xfrm>
        </p:spPr>
        <p:txBody>
          <a:bodyPr wrap="square" rtlCol="0" lIns="0" tIns="0" rIns="0" bIns="0" anchor="t"/>
          <a:lstStyle/>
          <a:p>
            <a:pPr algn="l">
              <a:lnSpc>
                <a:spcPct val="105000"/>
              </a:lnSpc>
            </a:pPr>
            <a:r>
              <a:rPr sz="4600" b="1">
                <a:solidFill>
                  <a:srgbClr val="FFFFFF"/>
                </a:solidFill>
                <a:latin typeface="Segoe UI"/>
                <a:ea typeface="Segoe UI"/>
              </a:rPr>
              <a:t>StreetBite</a:t>
            </a:r>
          </a:p>
        </p:txBody>
      </p:sp>
      <p:sp>
        <p:nvSpPr>
          <p:cNvPr id="13" name="TextBox 13">
            <a:extLst>
              <a:ext uri="{FF2B5EF4-FFF2-40B4-BE49-F238E27FC236}">
                <a16:creationId xmlns:a16="http://schemas.microsoft.com/office/drawing/2014/main" id="{250CDE0D-3C70-49D4-819D-5031DD5730CF}"/>
              </a:ext>
            </a:extLst>
          </p:cNvPr>
          <p:cNvSpPr txBox="1"/>
          <p:nvPr/>
        </p:nvSpPr>
        <p:spPr>
          <a:xfrm>
            <a:off x="762000" y="2057400"/>
            <a:ext cx="6286500" cy="552450"/>
          </a:xfrm>
        </p:spPr>
        <p:txBody>
          <a:bodyPr wrap="square" rtlCol="0" lIns="0" tIns="0" rIns="0" bIns="0" anchor="t"/>
          <a:lstStyle/>
          <a:p>
            <a:pPr algn="l"/>
            <a:r>
              <a:rPr sz="2800" b="1">
                <a:solidFill>
                  <a:srgbClr val="00C16A"/>
                </a:solidFill>
                <a:latin typeface="Segoe UI"/>
                <a:ea typeface="Segoe UI"/>
              </a:rPr>
              <a:t>ستريت بايت</a:t>
            </a:r>
          </a:p>
        </p:txBody>
      </p:sp>
      <p:sp>
        <p:nvSpPr>
          <p:cNvPr id="14" name="TextBox 14">
            <a:extLst>
              <a:ext uri="{FF2B5EF4-FFF2-40B4-BE49-F238E27FC236}">
                <a16:creationId xmlns:a16="http://schemas.microsoft.com/office/drawing/2014/main" id="{0C1F5EBA-88EB-4EC9-A526-B35D985A611F}"/>
              </a:ext>
            </a:extLst>
          </p:cNvPr>
          <p:cNvSpPr txBox="1"/>
          <p:nvPr/>
        </p:nvSpPr>
        <p:spPr>
          <a:xfrm>
            <a:off x="762000" y="2857500"/>
            <a:ext cx="6286500" cy="1143000"/>
          </a:xfrm>
        </p:spPr>
        <p:txBody>
          <a:bodyPr wrap="square" rtlCol="0" lIns="0" tIns="0" rIns="0" bIns="0" anchor="t"/>
          <a:lstStyle/>
          <a:p>
            <a:pPr algn="l">
              <a:lnSpc>
                <a:spcPct val="130000"/>
              </a:lnSpc>
            </a:pPr>
            <a:r>
              <a:rPr sz="1600">
                <a:solidFill>
                  <a:srgbClr val="C7D0DC"/>
                </a:solidFill>
                <a:latin typeface="Segoe UI"/>
                <a:ea typeface="Segoe UI"/>
              </a:rPr>
              <a:t>Hyperlocal food discovery and ordering: a live vendor map, a real menu API, cart and checkout, orders, favourites and fingerprint sign-in.</a:t>
            </a:r>
          </a:p>
        </p:txBody>
      </p:sp>
      <p:sp>
        <p:nvSpPr>
          <p:cNvPr id="15" name="TextBox 15">
            <a:extLst>
              <a:ext uri="{FF2B5EF4-FFF2-40B4-BE49-F238E27FC236}">
                <a16:creationId xmlns:a16="http://schemas.microsoft.com/office/drawing/2014/main" id="{7930F70D-A453-492C-A9BE-7FBEA5B9588D}"/>
              </a:ext>
            </a:extLst>
          </p:cNvPr>
          <p:cNvSpPr txBox="1"/>
          <p:nvPr/>
        </p:nvSpPr>
        <p:spPr>
          <a:xfrm>
            <a:off x="762000" y="4152900"/>
            <a:ext cx="6286500" cy="1123950"/>
          </a:xfrm>
        </p:spPr>
        <p:txBody>
          <a:bodyPr wrap="square" rtlCol="0" lIns="0" tIns="0" rIns="0" bIns="0" anchor="t"/>
          <a:lstStyle/>
          <a:p>
            <a:pPr algn="l">
              <a:lnSpc>
                <a:spcPct val="130000"/>
              </a:lnSpc>
            </a:pPr>
            <a:r>
              <a:rPr sz="1500">
                <a:solidFill>
                  <a:srgbClr val="9DAABF"/>
                </a:solidFill>
                <a:latin typeface="Segoe UI"/>
                <a:ea typeface="Segoe UI"/>
              </a:rPr>
              <a:t>تطبيق لاكتشاف الطعام وطلبه من الباعة المحليين: خريطة حيّة للبائعين، قائمة طعام من واجهة برمجية حقيقية، سلّة وطلبات ومفضّلات، ودخول ببصمة الإصبع.</a:t>
            </a:r>
          </a:p>
        </p:txBody>
      </p:sp>
      <p:sp>
        <p:nvSpPr>
          <p:cNvPr id="16" name="TextBox 16">
            <a:extLst>
              <a:ext uri="{FF2B5EF4-FFF2-40B4-BE49-F238E27FC236}">
                <a16:creationId xmlns:a16="http://schemas.microsoft.com/office/drawing/2014/main" id="{3C15D7E4-8E5E-4EA5-B5CE-960363F25334}"/>
              </a:ext>
            </a:extLst>
          </p:cNvPr>
          <p:cNvSpPr txBox="1"/>
          <p:nvPr/>
        </p:nvSpPr>
        <p:spPr>
          <a:xfrm>
            <a:off x="762000" y="5562600"/>
            <a:ext cx="10668000" cy="723900"/>
          </a:xfrm>
        </p:spPr>
        <p:txBody>
          <a:bodyPr wrap="square" rtlCol="0" lIns="0" tIns="0" rIns="0" bIns="0" anchor="t"/>
          <a:lstStyle/>
          <a:p>
            <a:pPr algn="l">
              <a:spcAft>
                <a:spcPts val="600"/>
              </a:spcAft>
            </a:pPr>
            <a:r>
              <a:rPr sz="1200">
                <a:solidFill>
                  <a:srgbClr val="7E8B9E"/>
                </a:solidFill>
                <a:latin typeface="Segoe UI"/>
                <a:ea typeface="Segoe UI"/>
              </a:rPr>
              <a:t>Flutter 3.47  ·  Dart 3.13  ·  Firebase  ·  Clean Architecture  ·  GetIt DI</a:t>
            </a:r>
          </a:p>
          <a:p>
            <a:pPr algn="l"/>
            <a:r>
              <a:rPr sz="1200">
                <a:solidFill>
                  <a:srgbClr val="7E8B9E"/>
                </a:solidFill>
                <a:latin typeface="Segoe UI"/>
                <a:ea typeface="Segoe UI"/>
              </a:rPr>
              <a:t>99 unit and widget tests  ·  Appium 6/6 on a physical Android 16 device  ·  51-case manual QA pack</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6F8FA"/>
        </a:solidFill>
        <a:effectLst/>
      </p:bgPr>
    </p:bg>
    <p:spTree>
      <p:nvGrpSpPr>
        <p:cNvPr id="1" name=""/>
        <p:cNvGrpSpPr/>
        <p:nvPr/>
      </p:nvGrpSpPr>
      <p:grpSpPr>
        <a:xfrm>
          <a:off x="0" y="0"/>
          <a:ext cx="0" cy="0"/>
          <a:chOff x="0" y="0"/>
          <a:chExt cx="0" cy="0"/>
        </a:xfrm>
      </p:grpSpPr>
      <p:sp>
        <p:nvSpPr>
          <p:cNvPr id="3" name="TextBox 3">
            <a:extLst>
              <a:ext uri="{FF2B5EF4-FFF2-40B4-BE49-F238E27FC236}">
                <a16:creationId xmlns:a16="http://schemas.microsoft.com/office/drawing/2014/main" id="{90DA0846-2279-4560-90DC-141241723B56}"/>
              </a:ext>
            </a:extLst>
          </p:cNvPr>
          <p:cNvSpPr txBox="1"/>
          <p:nvPr/>
        </p:nvSpPr>
        <p:spPr>
          <a:xfrm>
            <a:off x="762000" y="533400"/>
            <a:ext cx="5715000" cy="209550"/>
          </a:xfrm>
        </p:spPr>
        <p:txBody>
          <a:bodyPr wrap="square" rtlCol="0" lIns="0" tIns="0" rIns="0" bIns="0" anchor="t"/>
          <a:lstStyle/>
          <a:p>
            <a:pPr algn="l"/>
            <a:r>
              <a:rPr sz="1100" b="1">
                <a:solidFill>
                  <a:srgbClr val="00C16A"/>
                </a:solidFill>
                <a:latin typeface="Segoe UI"/>
                <a:ea typeface="Segoe UI"/>
              </a:rPr>
              <a:t>01  ·  THE PRODUCT</a:t>
            </a:r>
          </a:p>
        </p:txBody>
      </p:sp>
      <p:sp>
        <p:nvSpPr>
          <p:cNvPr id="4" name="TextBox 4">
            <a:extLst>
              <a:ext uri="{FF2B5EF4-FFF2-40B4-BE49-F238E27FC236}">
                <a16:creationId xmlns:a16="http://schemas.microsoft.com/office/drawing/2014/main" id="{997A2350-21EF-4219-AD39-5EB2202880E4}"/>
              </a:ext>
            </a:extLst>
          </p:cNvPr>
          <p:cNvSpPr txBox="1"/>
          <p:nvPr/>
        </p:nvSpPr>
        <p:spPr>
          <a:xfrm>
            <a:off x="762000" y="800100"/>
            <a:ext cx="5905500" cy="495300"/>
          </a:xfrm>
        </p:spPr>
        <p:txBody>
          <a:bodyPr wrap="square" rtlCol="0" lIns="0" tIns="0" rIns="0" bIns="0" anchor="t"/>
          <a:lstStyle/>
          <a:p>
            <a:pPr algn="l"/>
            <a:r>
              <a:rPr sz="3000" b="1">
                <a:solidFill>
                  <a:srgbClr val="12141A"/>
                </a:solidFill>
                <a:latin typeface="Segoe UI"/>
                <a:ea typeface="Segoe UI"/>
              </a:rPr>
              <a:t>What shipped</a:t>
            </a:r>
          </a:p>
        </p:txBody>
      </p:sp>
      <p:sp>
        <p:nvSpPr>
          <p:cNvPr id="5" name="TextBox 5">
            <a:extLst>
              <a:ext uri="{FF2B5EF4-FFF2-40B4-BE49-F238E27FC236}">
                <a16:creationId xmlns:a16="http://schemas.microsoft.com/office/drawing/2014/main" id="{28B8799C-3DA1-4058-930F-7D03808D2396}"/>
              </a:ext>
            </a:extLst>
          </p:cNvPr>
          <p:cNvSpPr txBox="1"/>
          <p:nvPr/>
        </p:nvSpPr>
        <p:spPr>
          <a:xfrm>
            <a:off x="6667500" y="876300"/>
            <a:ext cx="4000500" cy="419100"/>
          </a:xfrm>
        </p:spPr>
        <p:txBody>
          <a:bodyPr wrap="square" rtlCol="0" lIns="0" tIns="0" rIns="0" bIns="0" anchor="t"/>
          <a:lstStyle/>
          <a:p>
            <a:pPr algn="r"/>
            <a:r>
              <a:rPr sz="2400" b="1">
                <a:solidFill>
                  <a:srgbClr val="5A6675"/>
                </a:solidFill>
                <a:latin typeface="Segoe UI"/>
                <a:ea typeface="Segoe UI"/>
              </a:rPr>
              <a:t>ما الذي تم بناؤه</a:t>
            </a:r>
          </a:p>
        </p:txBody>
      </p:sp>
      <p:sp>
        <p:nvSpPr>
          <p:cNvPr id="6" name="TextBox 6">
            <a:extLst>
              <a:ext uri="{FF2B5EF4-FFF2-40B4-BE49-F238E27FC236}">
                <a16:creationId xmlns:a16="http://schemas.microsoft.com/office/drawing/2014/main" id="{CCC3B50D-4B85-4773-ACEE-0D4333276C63}"/>
              </a:ext>
            </a:extLst>
          </p:cNvPr>
          <p:cNvSpPr txBox="1"/>
          <p:nvPr/>
        </p:nvSpPr>
        <p:spPr>
          <a:xfrm>
            <a:off x="762000" y="1676400"/>
            <a:ext cx="7620000" cy="1809750"/>
          </a:xfrm>
        </p:spPr>
        <p:txBody>
          <a:bodyPr wrap="square" rtlCol="0" lIns="0" tIns="0" rIns="0" bIns="0" anchor="t"/>
          <a:lstStyle/>
          <a:p>
            <a:pPr algn="l">
              <a:lnSpc>
                <a:spcPct val="132000"/>
              </a:lnSpc>
            </a:pPr>
            <a:r>
              <a:rPr sz="1500">
                <a:solidFill>
                  <a:srgbClr val="12141A"/>
                </a:solidFill>
                <a:latin typeface="Segoe UI"/>
                <a:ea typeface="Segoe UI"/>
              </a:rPr>
              <a:t>StreetBite is a hyperlocal food-delivery app built as a graduation capstone. A user signs in, browses a live menu pulled from TheMealDB, saves favourites, orders through a cart with real payment strategies, tracks past orders, opens a vendor map, and gets back in with a fingerprint — in English or Arabic, light or dark.</a:t>
            </a:r>
          </a:p>
        </p:txBody>
      </p:sp>
      <p:sp>
        <p:nvSpPr>
          <p:cNvPr id="7" name="TextBox 7">
            <a:extLst>
              <a:ext uri="{FF2B5EF4-FFF2-40B4-BE49-F238E27FC236}">
                <a16:creationId xmlns:a16="http://schemas.microsoft.com/office/drawing/2014/main" id="{7407120F-BF67-4729-B264-FA38C2DEA12D}"/>
              </a:ext>
            </a:extLst>
          </p:cNvPr>
          <p:cNvSpPr txBox="1"/>
          <p:nvPr/>
        </p:nvSpPr>
        <p:spPr>
          <a:xfrm>
            <a:off x="762000" y="3619500"/>
            <a:ext cx="7620000" cy="1524000"/>
          </a:xfrm>
        </p:spPr>
        <p:txBody>
          <a:bodyPr wrap="square" rtlCol="0" lIns="0" tIns="0" rIns="0" bIns="0" anchor="t"/>
          <a:lstStyle/>
          <a:p>
            <a:pPr algn="l">
              <a:lnSpc>
                <a:spcPct val="132000"/>
              </a:lnSpc>
            </a:pPr>
            <a:r>
              <a:rPr sz="1400">
                <a:solidFill>
                  <a:srgbClr val="5A6675"/>
                </a:solidFill>
                <a:latin typeface="Segoe UI"/>
                <a:ea typeface="Segoe UI"/>
              </a:rPr>
              <a:t>ستريت بايت تطبيق لطلب الطعام من الباعة المحليين، بُني كمشروع تخرّج. يسجّل المستخدم الدخول، ويتصفّح قائمة حيّة من TheMealDB، ويحفظ المفضّلات، ويطلب عبر سلّة بأنماط دفع حقيقية، ويتابع طلباته السابقة، ويفتح خريطة البائعين، ويعود للدخول ببصمة الإصبع — بالإنجليزية أو العربية، وبالمظهر الفاتح أو الداكن.</a:t>
            </a:r>
          </a:p>
        </p:txBody>
      </p:sp>
      <p:sp>
        <p:nvSpPr>
          <p:cNvPr id="8" name="Shape 8">
            <a:extLst>
              <a:ext uri="{FF2B5EF4-FFF2-40B4-BE49-F238E27FC236}">
                <a16:creationId xmlns:a16="http://schemas.microsoft.com/office/drawing/2014/main" id="{9E3F952D-D679-4619-9FFA-17D92995E143}"/>
              </a:ext>
            </a:extLst>
          </p:cNvPr>
          <p:cNvSpPr/>
          <p:nvPr/>
        </p:nvSpPr>
        <p:spPr>
          <a:xfrm>
            <a:off x="762000" y="5334000"/>
            <a:ext cx="1809750" cy="533400"/>
          </a:xfrm>
          <a:prstGeom prst="roundRect">
            <a:avLst/>
          </a:prstGeom>
          <a:solidFill>
            <a:srgbClr val="FFFFFF"/>
          </a:solidFill>
          <a:ln w="12700">
            <a:solidFill>
              <a:srgbClr val="E4E9F0"/>
            </a:solidFill>
          </a:ln>
        </p:spPr>
        <p:txBody>
          <a:bodyPr wrap="square" rtlCol="0"/>
          <a:lstStyle/>
          <a:p>
            <a:r>
              <a:rPr/>
              <a:t/>
            </a:r>
          </a:p>
        </p:txBody>
      </p:sp>
      <p:sp>
        <p:nvSpPr>
          <p:cNvPr id="9" name="Shape 9">
            <a:extLst>
              <a:ext uri="{FF2B5EF4-FFF2-40B4-BE49-F238E27FC236}">
                <a16:creationId xmlns:a16="http://schemas.microsoft.com/office/drawing/2014/main" id="{B5CC813F-84DA-4F36-9295-8AA5AAD610B4}"/>
              </a:ext>
            </a:extLst>
          </p:cNvPr>
          <p:cNvSpPr/>
          <p:nvPr/>
        </p:nvSpPr>
        <p:spPr>
          <a:xfrm>
            <a:off x="2705100" y="5334000"/>
            <a:ext cx="1809750" cy="533400"/>
          </a:xfrm>
          <a:prstGeom prst="roundRect">
            <a:avLst/>
          </a:prstGeom>
          <a:solidFill>
            <a:srgbClr val="FFFFFF"/>
          </a:solidFill>
          <a:ln w="12700">
            <a:solidFill>
              <a:srgbClr val="E4E9F0"/>
            </a:solidFill>
          </a:ln>
        </p:spPr>
        <p:txBody>
          <a:bodyPr wrap="square" rtlCol="0"/>
          <a:lstStyle/>
          <a:p>
            <a:r>
              <a:rPr/>
              <a:t/>
            </a:r>
          </a:p>
        </p:txBody>
      </p:sp>
      <p:sp>
        <p:nvSpPr>
          <p:cNvPr id="10" name="Shape 10">
            <a:extLst>
              <a:ext uri="{FF2B5EF4-FFF2-40B4-BE49-F238E27FC236}">
                <a16:creationId xmlns:a16="http://schemas.microsoft.com/office/drawing/2014/main" id="{56D6F601-5A9A-4236-B4C2-468820AC695C}"/>
              </a:ext>
            </a:extLst>
          </p:cNvPr>
          <p:cNvSpPr/>
          <p:nvPr/>
        </p:nvSpPr>
        <p:spPr>
          <a:xfrm>
            <a:off x="4648200" y="5334000"/>
            <a:ext cx="1809750" cy="533400"/>
          </a:xfrm>
          <a:prstGeom prst="roundRect">
            <a:avLst/>
          </a:prstGeom>
          <a:solidFill>
            <a:srgbClr val="FFFFFF"/>
          </a:solidFill>
          <a:ln w="12700">
            <a:solidFill>
              <a:srgbClr val="E4E9F0"/>
            </a:solidFill>
          </a:ln>
        </p:spPr>
        <p:txBody>
          <a:bodyPr wrap="square" rtlCol="0"/>
          <a:lstStyle/>
          <a:p>
            <a:r>
              <a:rPr/>
              <a:t/>
            </a:r>
          </a:p>
        </p:txBody>
      </p:sp>
      <p:sp>
        <p:nvSpPr>
          <p:cNvPr id="11" name="Shape 11">
            <a:extLst>
              <a:ext uri="{FF2B5EF4-FFF2-40B4-BE49-F238E27FC236}">
                <a16:creationId xmlns:a16="http://schemas.microsoft.com/office/drawing/2014/main" id="{0E6F70DA-FE0C-4C4D-AF76-E4FB0AAECD48}"/>
              </a:ext>
            </a:extLst>
          </p:cNvPr>
          <p:cNvSpPr/>
          <p:nvPr/>
        </p:nvSpPr>
        <p:spPr>
          <a:xfrm>
            <a:off x="6591300" y="5334000"/>
            <a:ext cx="1809750" cy="533400"/>
          </a:xfrm>
          <a:prstGeom prst="roundRect">
            <a:avLst/>
          </a:prstGeom>
          <a:solidFill>
            <a:srgbClr val="FFFFFF"/>
          </a:solidFill>
          <a:ln w="12700">
            <a:solidFill>
              <a:srgbClr val="E4E9F0"/>
            </a:solidFill>
          </a:ln>
        </p:spPr>
        <p:txBody>
          <a:bodyPr wrap="square" rtlCol="0"/>
          <a:lstStyle/>
          <a:p>
            <a:r>
              <a:rPr/>
              <a:t/>
            </a:r>
          </a:p>
        </p:txBody>
      </p:sp>
      <p:sp>
        <p:nvSpPr>
          <p:cNvPr id="12" name="TextBox 12">
            <a:extLst>
              <a:ext uri="{FF2B5EF4-FFF2-40B4-BE49-F238E27FC236}">
                <a16:creationId xmlns:a16="http://schemas.microsoft.com/office/drawing/2014/main" id="{72FF980C-4616-447A-BAEA-B937BEF1214C}"/>
              </a:ext>
            </a:extLst>
          </p:cNvPr>
          <p:cNvSpPr txBox="1"/>
          <p:nvPr/>
        </p:nvSpPr>
        <p:spPr>
          <a:xfrm>
            <a:off x="914400" y="5391150"/>
            <a:ext cx="1504950" cy="419100"/>
          </a:xfrm>
        </p:spPr>
        <p:txBody>
          <a:bodyPr wrap="square" rtlCol="0" lIns="0" tIns="0" rIns="0" bIns="0" anchor="t"/>
          <a:lstStyle/>
          <a:p>
            <a:pPr algn="l">
              <a:spcAft>
                <a:spcPts val="200"/>
              </a:spcAft>
            </a:pPr>
            <a:r>
              <a:rPr sz="1300" b="1">
                <a:solidFill>
                  <a:srgbClr val="12141A"/>
                </a:solidFill>
                <a:latin typeface="Segoe UI"/>
                <a:ea typeface="Segoe UI"/>
              </a:rPr>
              <a:t>14 screens</a:t>
            </a:r>
          </a:p>
          <a:p>
            <a:pPr algn="l"/>
            <a:r>
              <a:rPr sz="1100">
                <a:solidFill>
                  <a:srgbClr val="00A85A"/>
                </a:solidFill>
                <a:latin typeface="Segoe UI"/>
                <a:ea typeface="Segoe UI"/>
              </a:rPr>
              <a:t>أربع عشرة شاشة</a:t>
            </a:r>
          </a:p>
        </p:txBody>
      </p:sp>
      <p:sp>
        <p:nvSpPr>
          <p:cNvPr id="13" name="TextBox 13">
            <a:extLst>
              <a:ext uri="{FF2B5EF4-FFF2-40B4-BE49-F238E27FC236}">
                <a16:creationId xmlns:a16="http://schemas.microsoft.com/office/drawing/2014/main" id="{E068AB28-8B66-4753-96FD-16BF928E5088}"/>
              </a:ext>
            </a:extLst>
          </p:cNvPr>
          <p:cNvSpPr txBox="1"/>
          <p:nvPr/>
        </p:nvSpPr>
        <p:spPr>
          <a:xfrm>
            <a:off x="2857500" y="5391150"/>
            <a:ext cx="1504950" cy="419100"/>
          </a:xfrm>
        </p:spPr>
        <p:txBody>
          <a:bodyPr wrap="square" rtlCol="0" lIns="0" tIns="0" rIns="0" bIns="0" anchor="t"/>
          <a:lstStyle/>
          <a:p>
            <a:pPr algn="l">
              <a:spcAft>
                <a:spcPts val="200"/>
              </a:spcAft>
            </a:pPr>
            <a:r>
              <a:rPr sz="1300" b="1">
                <a:solidFill>
                  <a:srgbClr val="12141A"/>
                </a:solidFill>
                <a:latin typeface="Segoe UI"/>
                <a:ea typeface="Segoe UI"/>
              </a:rPr>
              <a:t>7 requirements</a:t>
            </a:r>
          </a:p>
          <a:p>
            <a:pPr algn="l"/>
            <a:r>
              <a:rPr sz="1100">
                <a:solidFill>
                  <a:srgbClr val="00A85A"/>
                </a:solidFill>
                <a:latin typeface="Segoe UI"/>
                <a:ea typeface="Segoe UI"/>
              </a:rPr>
              <a:t>سبعة متطلبات</a:t>
            </a:r>
          </a:p>
        </p:txBody>
      </p:sp>
      <p:sp>
        <p:nvSpPr>
          <p:cNvPr id="14" name="TextBox 14">
            <a:extLst>
              <a:ext uri="{FF2B5EF4-FFF2-40B4-BE49-F238E27FC236}">
                <a16:creationId xmlns:a16="http://schemas.microsoft.com/office/drawing/2014/main" id="{A6327D14-1426-41A6-A20C-BF3F03D7DB2D}"/>
              </a:ext>
            </a:extLst>
          </p:cNvPr>
          <p:cNvSpPr txBox="1"/>
          <p:nvPr/>
        </p:nvSpPr>
        <p:spPr>
          <a:xfrm>
            <a:off x="4800600" y="5391150"/>
            <a:ext cx="1504950" cy="419100"/>
          </a:xfrm>
        </p:spPr>
        <p:txBody>
          <a:bodyPr wrap="square" rtlCol="0" lIns="0" tIns="0" rIns="0" bIns="0" anchor="t"/>
          <a:lstStyle/>
          <a:p>
            <a:pPr algn="l">
              <a:spcAft>
                <a:spcPts val="200"/>
              </a:spcAft>
            </a:pPr>
            <a:r>
              <a:rPr sz="1300" b="1">
                <a:solidFill>
                  <a:srgbClr val="12141A"/>
                </a:solidFill>
                <a:latin typeface="Segoe UI"/>
                <a:ea typeface="Segoe UI"/>
              </a:rPr>
              <a:t>2 languages</a:t>
            </a:r>
          </a:p>
          <a:p>
            <a:pPr algn="l"/>
            <a:r>
              <a:rPr sz="1100">
                <a:solidFill>
                  <a:srgbClr val="00A85A"/>
                </a:solidFill>
                <a:latin typeface="Segoe UI"/>
                <a:ea typeface="Segoe UI"/>
              </a:rPr>
              <a:t>لغتان + RTL</a:t>
            </a:r>
          </a:p>
        </p:txBody>
      </p:sp>
      <p:sp>
        <p:nvSpPr>
          <p:cNvPr id="15" name="TextBox 15">
            <a:extLst>
              <a:ext uri="{FF2B5EF4-FFF2-40B4-BE49-F238E27FC236}">
                <a16:creationId xmlns:a16="http://schemas.microsoft.com/office/drawing/2014/main" id="{30E4B88C-6C00-4EC0-8D3E-F885C5629911}"/>
              </a:ext>
            </a:extLst>
          </p:cNvPr>
          <p:cNvSpPr txBox="1"/>
          <p:nvPr/>
        </p:nvSpPr>
        <p:spPr>
          <a:xfrm>
            <a:off x="6743700" y="5391150"/>
            <a:ext cx="1504950" cy="419100"/>
          </a:xfrm>
        </p:spPr>
        <p:txBody>
          <a:bodyPr wrap="square" rtlCol="0" lIns="0" tIns="0" rIns="0" bIns="0" anchor="t"/>
          <a:lstStyle/>
          <a:p>
            <a:pPr algn="l">
              <a:spcAft>
                <a:spcPts val="200"/>
              </a:spcAft>
            </a:pPr>
            <a:r>
              <a:rPr sz="1300" b="1">
                <a:solidFill>
                  <a:srgbClr val="12141A"/>
                </a:solidFill>
                <a:latin typeface="Segoe UI"/>
                <a:ea typeface="Segoe UI"/>
              </a:rPr>
              <a:t>3 appearances</a:t>
            </a:r>
          </a:p>
          <a:p>
            <a:pPr algn="l"/>
            <a:r>
              <a:rPr sz="1100">
                <a:solidFill>
                  <a:srgbClr val="00A85A"/>
                </a:solidFill>
                <a:latin typeface="Segoe UI"/>
                <a:ea typeface="Segoe UI"/>
              </a:rPr>
              <a:t>ثلاثة مظاهر</a:t>
            </a:r>
          </a:p>
        </p:txBody>
      </p:sp>
      <p:pic>
        <p:nvPicPr>
          <p:cNvPr id="16" name="Picture 16">
            <a:extLst>
              <a:ext uri="{FF2B5EF4-FFF2-40B4-BE49-F238E27FC236}">
                <a16:creationId xmlns:a16="http://schemas.microsoft.com/office/drawing/2014/main" id="{2FEE924F-0389-4ABE-AC20-0A25830703FD}"/>
              </a:ext>
            </a:extLst>
          </p:cNvPr>
          <p:cNvPicPr/>
          <p:nvPr/>
        </p:nvPicPr>
        <p:blipFill>
          <a:blip r:embed="rId2"/>
          <a:stretch>
            <a:fillRect/>
          </a:stretch>
        </p:blipFill>
        <p:spPr>
          <a:xfrm>
            <a:off x="9334500" y="1619250"/>
            <a:ext cx="2095500" cy="4667250"/>
          </a:xfrm>
          <a:prstGeom prst="rect">
            <a:avLst/>
          </a:prstGeom>
        </p:spPr>
      </p:pic>
      <p:sp>
        <p:nvSpPr>
          <p:cNvPr id="17" name="TextBox 17">
            <a:extLst>
              <a:ext uri="{FF2B5EF4-FFF2-40B4-BE49-F238E27FC236}">
                <a16:creationId xmlns:a16="http://schemas.microsoft.com/office/drawing/2014/main" id="{A7B469C2-A98E-48DE-8F98-C13E8E0B4D44}"/>
              </a:ext>
            </a:extLst>
          </p:cNvPr>
          <p:cNvSpPr txBox="1"/>
          <p:nvPr/>
        </p:nvSpPr>
        <p:spPr>
          <a:xfrm>
            <a:off x="762000" y="6515100"/>
            <a:ext cx="3810000" cy="209550"/>
          </a:xfrm>
        </p:spPr>
        <p:txBody>
          <a:bodyPr wrap="square" rtlCol="0" lIns="0" tIns="0" rIns="0" bIns="0" anchor="t"/>
          <a:lstStyle/>
          <a:p>
            <a:pPr algn="l"/>
            <a:r>
              <a:rPr sz="1000">
                <a:solidFill>
                  <a:srgbClr val="9AA5B1"/>
                </a:solidFill>
                <a:latin typeface="Segoe UI"/>
                <a:ea typeface="Segoe UI"/>
              </a:rPr>
              <a:t>StreetBite · Capstone report · 02</a:t>
            </a:r>
          </a:p>
        </p:txBody>
      </p:sp>
      <p:sp>
        <p:nvSpPr>
          <p:cNvPr id="18" name="TextBox 18">
            <a:extLst>
              <a:ext uri="{FF2B5EF4-FFF2-40B4-BE49-F238E27FC236}">
                <a16:creationId xmlns:a16="http://schemas.microsoft.com/office/drawing/2014/main" id="{69E7287B-3FD5-417D-A3C1-235118847D09}"/>
              </a:ext>
            </a:extLst>
          </p:cNvPr>
          <p:cNvSpPr txBox="1"/>
          <p:nvPr/>
        </p:nvSpPr>
        <p:spPr>
          <a:xfrm>
            <a:off x="6667500" y="6515100"/>
            <a:ext cx="4000500" cy="209550"/>
          </a:xfrm>
        </p:spPr>
        <p:txBody>
          <a:bodyPr wrap="square" rtlCol="0" lIns="0" tIns="0" rIns="0" bIns="0" anchor="t"/>
          <a:lstStyle/>
          <a:p>
            <a:pPr algn="r"/>
            <a:r>
              <a:rPr sz="1000">
                <a:solidFill>
                  <a:srgbClr val="9AA5B1"/>
                </a:solidFill>
                <a:latin typeface="Segoe UI"/>
                <a:ea typeface="Segoe UI"/>
              </a:rPr>
              <a:t>لقطة حقيقية من الجهاز · الإصدار 1.0.0+3</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6F8FA"/>
        </a:solidFill>
        <a:effectLst/>
      </p:bgPr>
    </p:bg>
    <p:spTree>
      <p:nvGrpSpPr>
        <p:cNvPr id="1" name=""/>
        <p:cNvGrpSpPr/>
        <p:nvPr/>
      </p:nvGrpSpPr>
      <p:grpSpPr>
        <a:xfrm>
          <a:off x="0" y="0"/>
          <a:ext cx="0" cy="0"/>
          <a:chOff x="0" y="0"/>
          <a:chExt cx="0" cy="0"/>
        </a:xfrm>
      </p:grpSpPr>
      <p:sp>
        <p:nvSpPr>
          <p:cNvPr id="3" name="TextBox 3">
            <a:extLst>
              <a:ext uri="{FF2B5EF4-FFF2-40B4-BE49-F238E27FC236}">
                <a16:creationId xmlns:a16="http://schemas.microsoft.com/office/drawing/2014/main" id="{05C95407-B0E3-4AF6-9E32-6FB3171322BF}"/>
              </a:ext>
            </a:extLst>
          </p:cNvPr>
          <p:cNvSpPr txBox="1"/>
          <p:nvPr/>
        </p:nvSpPr>
        <p:spPr>
          <a:xfrm>
            <a:off x="762000" y="533400"/>
            <a:ext cx="5715000" cy="209550"/>
          </a:xfrm>
        </p:spPr>
        <p:txBody>
          <a:bodyPr wrap="square" rtlCol="0" lIns="0" tIns="0" rIns="0" bIns="0" anchor="t"/>
          <a:lstStyle/>
          <a:p>
            <a:pPr algn="l"/>
            <a:r>
              <a:rPr sz="1100" b="1">
                <a:solidFill>
                  <a:srgbClr val="00C16A"/>
                </a:solidFill>
                <a:latin typeface="Segoe UI"/>
                <a:ea typeface="Segoe UI"/>
              </a:rPr>
              <a:t>02  ·  SCOPE</a:t>
            </a:r>
          </a:p>
        </p:txBody>
      </p:sp>
      <p:sp>
        <p:nvSpPr>
          <p:cNvPr id="4" name="TextBox 4">
            <a:extLst>
              <a:ext uri="{FF2B5EF4-FFF2-40B4-BE49-F238E27FC236}">
                <a16:creationId xmlns:a16="http://schemas.microsoft.com/office/drawing/2014/main" id="{F2FC39EF-4477-41B8-984E-A35A6BE92112}"/>
              </a:ext>
            </a:extLst>
          </p:cNvPr>
          <p:cNvSpPr txBox="1"/>
          <p:nvPr/>
        </p:nvSpPr>
        <p:spPr>
          <a:xfrm>
            <a:off x="762000" y="781050"/>
            <a:ext cx="5905500" cy="533400"/>
          </a:xfrm>
        </p:spPr>
        <p:txBody>
          <a:bodyPr wrap="square" rtlCol="0" lIns="0" tIns="0" rIns="0" bIns="0" anchor="t"/>
          <a:lstStyle/>
          <a:p>
            <a:pPr algn="l"/>
            <a:r>
              <a:rPr sz="3000" b="1">
                <a:solidFill>
                  <a:srgbClr val="12141A"/>
                </a:solidFill>
                <a:latin typeface="Segoe UI"/>
                <a:ea typeface="Segoe UI"/>
              </a:rPr>
              <a:t>Functional requirements</a:t>
            </a:r>
          </a:p>
        </p:txBody>
      </p:sp>
      <p:sp>
        <p:nvSpPr>
          <p:cNvPr id="5" name="TextBox 5">
            <a:extLst>
              <a:ext uri="{FF2B5EF4-FFF2-40B4-BE49-F238E27FC236}">
                <a16:creationId xmlns:a16="http://schemas.microsoft.com/office/drawing/2014/main" id="{76FC2846-F16E-4002-A016-0985FC0FAD74}"/>
              </a:ext>
            </a:extLst>
          </p:cNvPr>
          <p:cNvSpPr txBox="1"/>
          <p:nvPr/>
        </p:nvSpPr>
        <p:spPr>
          <a:xfrm>
            <a:off x="6667500" y="857250"/>
            <a:ext cx="4000500" cy="731520"/>
          </a:xfrm>
        </p:spPr>
        <p:txBody>
          <a:bodyPr wrap="square" rtlCol="0" lIns="0" tIns="0" rIns="0" bIns="0" anchor="t"/>
          <a:lstStyle/>
          <a:p>
            <a:pPr algn="r"/>
            <a:r>
              <a:rPr sz="2400" b="1">
                <a:solidFill>
                  <a:srgbClr val="5A6675"/>
                </a:solidFill>
                <a:latin typeface="Segoe UI"/>
                <a:ea typeface="Segoe UI"/>
              </a:rPr>
              <a:t>المتطلبات الوظيفية السبعة</a:t>
            </a:r>
          </a:p>
        </p:txBody>
      </p:sp>
      <p:sp>
        <p:nvSpPr>
          <p:cNvPr id="6" name="Shape 6">
            <a:extLst>
              <a:ext uri="{FF2B5EF4-FFF2-40B4-BE49-F238E27FC236}">
                <a16:creationId xmlns:a16="http://schemas.microsoft.com/office/drawing/2014/main" id="{7CCFD706-7FEA-4FAF-9C91-097FB0EDEDE9}"/>
              </a:ext>
            </a:extLst>
          </p:cNvPr>
          <p:cNvSpPr/>
          <p:nvPr/>
        </p:nvSpPr>
        <p:spPr>
          <a:xfrm>
            <a:off x="762000" y="1619250"/>
            <a:ext cx="2524125" cy="2238375"/>
          </a:xfrm>
          <a:prstGeom prst="roundRect">
            <a:avLst/>
          </a:prstGeom>
          <a:solidFill>
            <a:srgbClr val="FFFFFF"/>
          </a:solidFill>
          <a:ln w="12700">
            <a:solidFill>
              <a:srgbClr val="E4E9F0"/>
            </a:solidFill>
          </a:ln>
        </p:spPr>
        <p:txBody>
          <a:bodyPr wrap="square" rtlCol="0"/>
          <a:lstStyle/>
          <a:p>
            <a:r>
              <a:rPr/>
              <a:t/>
            </a:r>
          </a:p>
        </p:txBody>
      </p:sp>
      <p:sp>
        <p:nvSpPr>
          <p:cNvPr id="7" name="Shape 7">
            <a:extLst>
              <a:ext uri="{FF2B5EF4-FFF2-40B4-BE49-F238E27FC236}">
                <a16:creationId xmlns:a16="http://schemas.microsoft.com/office/drawing/2014/main" id="{96E8C194-15F0-4980-9A20-0A52A073BB57}"/>
              </a:ext>
            </a:extLst>
          </p:cNvPr>
          <p:cNvSpPr/>
          <p:nvPr/>
        </p:nvSpPr>
        <p:spPr>
          <a:xfrm>
            <a:off x="3476625" y="1619250"/>
            <a:ext cx="2524125" cy="2238375"/>
          </a:xfrm>
          <a:prstGeom prst="roundRect">
            <a:avLst/>
          </a:prstGeom>
          <a:solidFill>
            <a:srgbClr val="FFFFFF"/>
          </a:solidFill>
          <a:ln w="12700">
            <a:solidFill>
              <a:srgbClr val="E4E9F0"/>
            </a:solidFill>
          </a:ln>
        </p:spPr>
        <p:txBody>
          <a:bodyPr wrap="square" rtlCol="0"/>
          <a:lstStyle/>
          <a:p>
            <a:r>
              <a:rPr/>
              <a:t/>
            </a:r>
          </a:p>
        </p:txBody>
      </p:sp>
      <p:sp>
        <p:nvSpPr>
          <p:cNvPr id="8" name="Shape 8">
            <a:extLst>
              <a:ext uri="{FF2B5EF4-FFF2-40B4-BE49-F238E27FC236}">
                <a16:creationId xmlns:a16="http://schemas.microsoft.com/office/drawing/2014/main" id="{3B4C27C9-9C48-408F-9541-F0A30AF8D8C9}"/>
              </a:ext>
            </a:extLst>
          </p:cNvPr>
          <p:cNvSpPr/>
          <p:nvPr/>
        </p:nvSpPr>
        <p:spPr>
          <a:xfrm>
            <a:off x="6191250" y="1619250"/>
            <a:ext cx="2524125" cy="2238375"/>
          </a:xfrm>
          <a:prstGeom prst="roundRect">
            <a:avLst/>
          </a:prstGeom>
          <a:solidFill>
            <a:srgbClr val="FFFFFF"/>
          </a:solidFill>
          <a:ln w="12700">
            <a:solidFill>
              <a:srgbClr val="E4E9F0"/>
            </a:solidFill>
          </a:ln>
        </p:spPr>
        <p:txBody>
          <a:bodyPr wrap="square" rtlCol="0"/>
          <a:lstStyle/>
          <a:p>
            <a:r>
              <a:rPr/>
              <a:t/>
            </a:r>
          </a:p>
        </p:txBody>
      </p:sp>
      <p:sp>
        <p:nvSpPr>
          <p:cNvPr id="9" name="Shape 9">
            <a:extLst>
              <a:ext uri="{FF2B5EF4-FFF2-40B4-BE49-F238E27FC236}">
                <a16:creationId xmlns:a16="http://schemas.microsoft.com/office/drawing/2014/main" id="{80447D01-4A9B-4F53-B5CC-5A6CE3993FF0}"/>
              </a:ext>
            </a:extLst>
          </p:cNvPr>
          <p:cNvSpPr/>
          <p:nvPr/>
        </p:nvSpPr>
        <p:spPr>
          <a:xfrm>
            <a:off x="8905875" y="1619250"/>
            <a:ext cx="2524125" cy="2238375"/>
          </a:xfrm>
          <a:prstGeom prst="roundRect">
            <a:avLst/>
          </a:prstGeom>
          <a:solidFill>
            <a:srgbClr val="FFFFFF"/>
          </a:solidFill>
          <a:ln w="12700">
            <a:solidFill>
              <a:srgbClr val="E4E9F0"/>
            </a:solidFill>
          </a:ln>
        </p:spPr>
        <p:txBody>
          <a:bodyPr wrap="square" rtlCol="0"/>
          <a:lstStyle/>
          <a:p>
            <a:r>
              <a:rPr/>
              <a:t/>
            </a:r>
          </a:p>
        </p:txBody>
      </p:sp>
      <p:sp>
        <p:nvSpPr>
          <p:cNvPr id="10" name="Shape 10">
            <a:extLst>
              <a:ext uri="{FF2B5EF4-FFF2-40B4-BE49-F238E27FC236}">
                <a16:creationId xmlns:a16="http://schemas.microsoft.com/office/drawing/2014/main" id="{137AA0D9-D021-43DA-85F1-33DD857F0751}"/>
              </a:ext>
            </a:extLst>
          </p:cNvPr>
          <p:cNvSpPr/>
          <p:nvPr/>
        </p:nvSpPr>
        <p:spPr>
          <a:xfrm>
            <a:off x="762000" y="4048125"/>
            <a:ext cx="2524125" cy="2238375"/>
          </a:xfrm>
          <a:prstGeom prst="roundRect">
            <a:avLst/>
          </a:prstGeom>
          <a:solidFill>
            <a:srgbClr val="FFFFFF"/>
          </a:solidFill>
          <a:ln w="12700">
            <a:solidFill>
              <a:srgbClr val="E4E9F0"/>
            </a:solidFill>
          </a:ln>
        </p:spPr>
        <p:txBody>
          <a:bodyPr wrap="square" rtlCol="0"/>
          <a:lstStyle/>
          <a:p>
            <a:r>
              <a:rPr/>
              <a:t/>
            </a:r>
          </a:p>
        </p:txBody>
      </p:sp>
      <p:sp>
        <p:nvSpPr>
          <p:cNvPr id="11" name="Shape 11">
            <a:extLst>
              <a:ext uri="{FF2B5EF4-FFF2-40B4-BE49-F238E27FC236}">
                <a16:creationId xmlns:a16="http://schemas.microsoft.com/office/drawing/2014/main" id="{F32CBEAC-281F-4CC2-B740-B6E0B9764CC1}"/>
              </a:ext>
            </a:extLst>
          </p:cNvPr>
          <p:cNvSpPr/>
          <p:nvPr/>
        </p:nvSpPr>
        <p:spPr>
          <a:xfrm>
            <a:off x="3476625" y="4048125"/>
            <a:ext cx="2524125" cy="2238375"/>
          </a:xfrm>
          <a:prstGeom prst="roundRect">
            <a:avLst/>
          </a:prstGeom>
          <a:solidFill>
            <a:srgbClr val="FFFFFF"/>
          </a:solidFill>
          <a:ln w="12700">
            <a:solidFill>
              <a:srgbClr val="E4E9F0"/>
            </a:solidFill>
          </a:ln>
        </p:spPr>
        <p:txBody>
          <a:bodyPr wrap="square" rtlCol="0"/>
          <a:lstStyle/>
          <a:p>
            <a:r>
              <a:rPr/>
              <a:t/>
            </a:r>
          </a:p>
        </p:txBody>
      </p:sp>
      <p:sp>
        <p:nvSpPr>
          <p:cNvPr id="12" name="Shape 12">
            <a:extLst>
              <a:ext uri="{FF2B5EF4-FFF2-40B4-BE49-F238E27FC236}">
                <a16:creationId xmlns:a16="http://schemas.microsoft.com/office/drawing/2014/main" id="{C183606E-DFEF-46BB-9934-BC1C11DA8151}"/>
              </a:ext>
            </a:extLst>
          </p:cNvPr>
          <p:cNvSpPr/>
          <p:nvPr/>
        </p:nvSpPr>
        <p:spPr>
          <a:xfrm>
            <a:off x="6191250" y="4048125"/>
            <a:ext cx="2524125" cy="2238375"/>
          </a:xfrm>
          <a:prstGeom prst="roundRect">
            <a:avLst/>
          </a:prstGeom>
          <a:solidFill>
            <a:srgbClr val="FFFFFF"/>
          </a:solidFill>
          <a:ln w="12700">
            <a:solidFill>
              <a:srgbClr val="E4E9F0"/>
            </a:solidFill>
          </a:ln>
        </p:spPr>
        <p:txBody>
          <a:bodyPr wrap="square" rtlCol="0"/>
          <a:lstStyle/>
          <a:p>
            <a:r>
              <a:rPr/>
              <a:t/>
            </a:r>
          </a:p>
        </p:txBody>
      </p:sp>
      <p:sp>
        <p:nvSpPr>
          <p:cNvPr id="13" name="Shape 13">
            <a:extLst>
              <a:ext uri="{FF2B5EF4-FFF2-40B4-BE49-F238E27FC236}">
                <a16:creationId xmlns:a16="http://schemas.microsoft.com/office/drawing/2014/main" id="{106BA62A-EFCD-483E-BD73-86EEC646E380}"/>
              </a:ext>
            </a:extLst>
          </p:cNvPr>
          <p:cNvSpPr/>
          <p:nvPr/>
        </p:nvSpPr>
        <p:spPr>
          <a:xfrm>
            <a:off x="8905875" y="4048125"/>
            <a:ext cx="2524125" cy="2238375"/>
          </a:xfrm>
          <a:prstGeom prst="roundRect">
            <a:avLst/>
          </a:prstGeom>
          <a:solidFill>
            <a:srgbClr val="E6F8F0"/>
          </a:solidFill>
          <a:ln w="12700">
            <a:solidFill>
              <a:srgbClr val="CDEBDD"/>
            </a:solidFill>
          </a:ln>
        </p:spPr>
        <p:txBody>
          <a:bodyPr wrap="square" rtlCol="0"/>
          <a:lstStyle/>
          <a:p>
            <a:r>
              <a:rPr/>
              <a:t/>
            </a:r>
          </a:p>
        </p:txBody>
      </p:sp>
      <p:sp>
        <p:nvSpPr>
          <p:cNvPr id="14" name="TextBox 14">
            <a:extLst>
              <a:ext uri="{FF2B5EF4-FFF2-40B4-BE49-F238E27FC236}">
                <a16:creationId xmlns:a16="http://schemas.microsoft.com/office/drawing/2014/main" id="{422DA048-88B9-4126-AFFD-598D9621BC1D}"/>
              </a:ext>
            </a:extLst>
          </p:cNvPr>
          <p:cNvSpPr txBox="1"/>
          <p:nvPr/>
        </p:nvSpPr>
        <p:spPr>
          <a:xfrm>
            <a:off x="933450" y="1809750"/>
            <a:ext cx="2181225" cy="1428750"/>
          </a:xfrm>
        </p:spPr>
        <p:txBody>
          <a:bodyPr wrap="square" rtlCol="0" lIns="0" tIns="0" rIns="0" bIns="0" anchor="t"/>
          <a:lstStyle/>
          <a:p>
            <a:pPr algn="l">
              <a:lnSpc>
                <a:spcPct val="125000"/>
              </a:lnSpc>
              <a:spcAft>
                <a:spcPts val="800"/>
              </a:spcAft>
            </a:pPr>
            <a:r>
              <a:rPr sz="1200" b="1">
                <a:solidFill>
                  <a:srgbClr val="00C16A"/>
                </a:solidFill>
                <a:latin typeface="Segoe UI"/>
                <a:ea typeface="Segoe UI"/>
              </a:rPr>
              <a:t>FR-1  </a:t>
            </a:r>
            <a:r>
              <a:rPr sz="1400" b="1">
                <a:solidFill>
                  <a:srgbClr val="12141A"/>
                </a:solidFill>
                <a:latin typeface="Segoe UI"/>
                <a:ea typeface="Segoe UI"/>
              </a:rPr>
              <a:t>Onboarding, Login and Sign Up</a:t>
            </a:r>
          </a:p>
          <a:p>
            <a:pPr algn="l">
              <a:lnSpc>
                <a:spcPct val="125000"/>
              </a:lnSpc>
            </a:pPr>
            <a:r>
              <a:rPr sz="1250">
                <a:solidFill>
                  <a:srgbClr val="5A6675"/>
                </a:solidFill>
                <a:latin typeface="Segoe UI"/>
                <a:ea typeface="Segoe UI"/>
              </a:rPr>
              <a:t>التسجيل والدخول وإنشاء الحساب مع Firebase Auth</a:t>
            </a:r>
          </a:p>
        </p:txBody>
      </p:sp>
      <p:sp>
        <p:nvSpPr>
          <p:cNvPr id="15" name="TextBox 15">
            <a:extLst>
              <a:ext uri="{FF2B5EF4-FFF2-40B4-BE49-F238E27FC236}">
                <a16:creationId xmlns:a16="http://schemas.microsoft.com/office/drawing/2014/main" id="{53882DF8-F28E-4996-8AF0-82F23DC8012D}"/>
              </a:ext>
            </a:extLst>
          </p:cNvPr>
          <p:cNvSpPr txBox="1"/>
          <p:nvPr/>
        </p:nvSpPr>
        <p:spPr>
          <a:xfrm>
            <a:off x="933450" y="3352800"/>
            <a:ext cx="2181225" cy="419100"/>
          </a:xfrm>
        </p:spPr>
        <p:txBody>
          <a:bodyPr wrap="square" rtlCol="0" lIns="0" tIns="0" rIns="0" bIns="0" anchor="t"/>
          <a:lstStyle/>
          <a:p>
            <a:pPr algn="l">
              <a:lnSpc>
                <a:spcPct val="120000"/>
              </a:lnSpc>
            </a:pPr>
            <a:r>
              <a:rPr sz="1150">
                <a:solidFill>
                  <a:srgbClr val="7A8796"/>
                </a:solidFill>
                <a:latin typeface="Segoe UI"/>
                <a:ea typeface="Segoe UI"/>
              </a:rPr>
              <a:t>Firebase Auth with a local fallback · 13 cases</a:t>
            </a:r>
          </a:p>
        </p:txBody>
      </p:sp>
      <p:sp>
        <p:nvSpPr>
          <p:cNvPr id="16" name="TextBox 16">
            <a:extLst>
              <a:ext uri="{FF2B5EF4-FFF2-40B4-BE49-F238E27FC236}">
                <a16:creationId xmlns:a16="http://schemas.microsoft.com/office/drawing/2014/main" id="{E788811A-576A-484E-9289-BC4A1810F306}"/>
              </a:ext>
            </a:extLst>
          </p:cNvPr>
          <p:cNvSpPr txBox="1"/>
          <p:nvPr/>
        </p:nvSpPr>
        <p:spPr>
          <a:xfrm>
            <a:off x="3648075" y="1809750"/>
            <a:ext cx="2181225" cy="1428750"/>
          </a:xfrm>
        </p:spPr>
        <p:txBody>
          <a:bodyPr wrap="square" rtlCol="0" lIns="0" tIns="0" rIns="0" bIns="0" anchor="t"/>
          <a:lstStyle/>
          <a:p>
            <a:pPr algn="l">
              <a:lnSpc>
                <a:spcPct val="125000"/>
              </a:lnSpc>
              <a:spcAft>
                <a:spcPts val="800"/>
              </a:spcAft>
            </a:pPr>
            <a:r>
              <a:rPr sz="1400" b="1">
                <a:solidFill>
                  <a:srgbClr val="12141A"/>
                </a:solidFill>
                <a:latin typeface="Segoe UI"/>
                <a:ea typeface="Segoe UI"/>
              </a:rPr>
              <a:t>FR-2  Home feed, Hot</a:t>
            </a:r>
            <a:r>
              <a:rPr sz="1250" b="1">
                <a:solidFill>
                  <a:srgbClr val="5A6675"/>
                </a:solidFill>
                <a:latin typeface="Segoe UI"/>
                <a:ea typeface="Segoe UI"/>
              </a:rPr>
              <a:t>Offers, theme toggle</a:t>
            </a:r>
          </a:p>
          <a:p>
            <a:pPr algn="l">
              <a:lnSpc>
                <a:spcPct val="125000"/>
              </a:lnSpc>
            </a:pPr>
            <a:r>
              <a:rPr sz="1250">
                <a:solidFill>
                  <a:srgbClr val="5A6675"/>
                </a:solidFill>
                <a:latin typeface="Segoe UI"/>
                <a:ea typeface="Segoe UI"/>
              </a:rPr>
              <a:t>القائمة الرئيسية والعروض وتبديل المظهر</a:t>
            </a:r>
          </a:p>
        </p:txBody>
      </p:sp>
      <p:sp>
        <p:nvSpPr>
          <p:cNvPr id="17" name="TextBox 17">
            <a:extLst>
              <a:ext uri="{FF2B5EF4-FFF2-40B4-BE49-F238E27FC236}">
                <a16:creationId xmlns:a16="http://schemas.microsoft.com/office/drawing/2014/main" id="{7B0E3968-5729-43AA-8FCA-B144034042D3}"/>
              </a:ext>
            </a:extLst>
          </p:cNvPr>
          <p:cNvSpPr txBox="1"/>
          <p:nvPr/>
        </p:nvSpPr>
        <p:spPr>
          <a:xfrm>
            <a:off x="3648075" y="3352800"/>
            <a:ext cx="2181225" cy="419100"/>
          </a:xfrm>
        </p:spPr>
        <p:txBody>
          <a:bodyPr wrap="square" rtlCol="0" lIns="0" tIns="0" rIns="0" bIns="0" anchor="t"/>
          <a:lstStyle/>
          <a:p>
            <a:pPr algn="l">
              <a:lnSpc>
                <a:spcPct val="120000"/>
              </a:lnSpc>
            </a:pPr>
            <a:r>
              <a:rPr sz="1150">
                <a:solidFill>
                  <a:srgbClr val="7A8796"/>
                </a:solidFill>
                <a:latin typeface="Segoe UI"/>
                <a:ea typeface="Segoe UI"/>
              </a:rPr>
              <a:t>TheMealDB through Dio, cached locally · 8 cases</a:t>
            </a:r>
          </a:p>
        </p:txBody>
      </p:sp>
      <p:sp>
        <p:nvSpPr>
          <p:cNvPr id="18" name="TextBox 18">
            <a:extLst>
              <a:ext uri="{FF2B5EF4-FFF2-40B4-BE49-F238E27FC236}">
                <a16:creationId xmlns:a16="http://schemas.microsoft.com/office/drawing/2014/main" id="{00F143D2-0AAD-49CE-A955-2DDC78B10AE3}"/>
              </a:ext>
            </a:extLst>
          </p:cNvPr>
          <p:cNvSpPr txBox="1"/>
          <p:nvPr/>
        </p:nvSpPr>
        <p:spPr>
          <a:xfrm>
            <a:off x="6362700" y="1809750"/>
            <a:ext cx="2181225" cy="1428750"/>
          </a:xfrm>
        </p:spPr>
        <p:txBody>
          <a:bodyPr wrap="square" rtlCol="0" lIns="0" tIns="0" rIns="0" bIns="0" anchor="t"/>
          <a:lstStyle/>
          <a:p>
            <a:pPr algn="l">
              <a:lnSpc>
                <a:spcPct val="125000"/>
              </a:lnSpc>
              <a:spcAft>
                <a:spcPts val="800"/>
              </a:spcAft>
            </a:pPr>
            <a:r>
              <a:rPr sz="1200" b="1">
                <a:solidFill>
                  <a:srgbClr val="00C16A"/>
                </a:solidFill>
                <a:latin typeface="Segoe UI"/>
                <a:ea typeface="Segoe UI"/>
              </a:rPr>
              <a:t>FR-3  </a:t>
            </a:r>
            <a:r>
              <a:rPr sz="1400" b="1">
                <a:solidFill>
                  <a:srgbClr val="12141A"/>
                </a:solidFill>
                <a:latin typeface="Segoe UI"/>
                <a:ea typeface="Segoe UI"/>
              </a:rPr>
              <a:t>Meal details with cart and favourites</a:t>
            </a:r>
          </a:p>
          <a:p>
            <a:pPr algn="l">
              <a:lnSpc>
                <a:spcPct val="125000"/>
              </a:lnSpc>
            </a:pPr>
            <a:r>
              <a:rPr sz="1250">
                <a:solidFill>
                  <a:srgbClr val="5A6675"/>
                </a:solidFill>
                <a:latin typeface="Segoe UI"/>
                <a:ea typeface="Segoe UI"/>
              </a:rPr>
              <a:t>تفاصيل الطبق مع السلّة والمفضّلات</a:t>
            </a:r>
          </a:p>
        </p:txBody>
      </p:sp>
      <p:sp>
        <p:nvSpPr>
          <p:cNvPr id="19" name="TextBox 19">
            <a:extLst>
              <a:ext uri="{FF2B5EF4-FFF2-40B4-BE49-F238E27FC236}">
                <a16:creationId xmlns:a16="http://schemas.microsoft.com/office/drawing/2014/main" id="{8084D070-97AB-4D96-9AB0-CCA56A49653B}"/>
              </a:ext>
            </a:extLst>
          </p:cNvPr>
          <p:cNvSpPr txBox="1"/>
          <p:nvPr/>
        </p:nvSpPr>
        <p:spPr>
          <a:xfrm>
            <a:off x="6362700" y="3352800"/>
            <a:ext cx="2181225" cy="419100"/>
          </a:xfrm>
        </p:spPr>
        <p:txBody>
          <a:bodyPr wrap="square" rtlCol="0" lIns="0" tIns="0" rIns="0" bIns="0" anchor="t"/>
          <a:lstStyle/>
          <a:p>
            <a:pPr algn="l">
              <a:lnSpc>
                <a:spcPct val="120000"/>
              </a:lnSpc>
            </a:pPr>
            <a:r>
              <a:rPr sz="1150">
                <a:solidFill>
                  <a:srgbClr val="7A8796"/>
                </a:solidFill>
                <a:latin typeface="Segoe UI"/>
                <a:ea typeface="Segoe UI"/>
              </a:rPr>
              <a:t>BlocConsumer: live badge + SnackBar · 4 cases</a:t>
            </a:r>
          </a:p>
        </p:txBody>
      </p:sp>
      <p:sp>
        <p:nvSpPr>
          <p:cNvPr id="20" name="TextBox 20">
            <a:extLst>
              <a:ext uri="{FF2B5EF4-FFF2-40B4-BE49-F238E27FC236}">
                <a16:creationId xmlns:a16="http://schemas.microsoft.com/office/drawing/2014/main" id="{D6AB72C6-36A1-46A3-BA65-E3FD3C0C37C2}"/>
              </a:ext>
            </a:extLst>
          </p:cNvPr>
          <p:cNvSpPr txBox="1"/>
          <p:nvPr/>
        </p:nvSpPr>
        <p:spPr>
          <a:xfrm>
            <a:off x="9077325" y="1809750"/>
            <a:ext cx="2181225" cy="1428750"/>
          </a:xfrm>
        </p:spPr>
        <p:txBody>
          <a:bodyPr wrap="square" rtlCol="0" lIns="0" tIns="0" rIns="0" bIns="0" anchor="t"/>
          <a:lstStyle/>
          <a:p>
            <a:pPr algn="l">
              <a:lnSpc>
                <a:spcPct val="125000"/>
              </a:lnSpc>
              <a:spcAft>
                <a:spcPts val="800"/>
              </a:spcAft>
            </a:pPr>
            <a:r>
              <a:rPr sz="1200" b="1">
                <a:solidFill>
                  <a:srgbClr val="00C16A"/>
                </a:solidFill>
                <a:latin typeface="Segoe UI"/>
                <a:ea typeface="Segoe UI"/>
              </a:rPr>
              <a:t>FR-4  </a:t>
            </a:r>
            <a:r>
              <a:rPr sz="1400" b="1">
                <a:solidFill>
                  <a:srgbClr val="12141A"/>
                </a:solidFill>
                <a:latin typeface="Segoe UI"/>
                <a:ea typeface="Segoe UI"/>
              </a:rPr>
              <a:t>Cart, totals, payment, checkout</a:t>
            </a:r>
          </a:p>
          <a:p>
            <a:pPr algn="l">
              <a:lnSpc>
                <a:spcPct val="125000"/>
              </a:lnSpc>
            </a:pPr>
            <a:r>
              <a:rPr sz="1250">
                <a:solidFill>
                  <a:srgbClr val="5A6675"/>
                </a:solidFill>
                <a:latin typeface="Segoe UI"/>
                <a:ea typeface="Segoe UI"/>
              </a:rPr>
              <a:t>السلّة والإجمالي وأنماط الدفع وإتمام الطلب</a:t>
            </a:r>
          </a:p>
        </p:txBody>
      </p:sp>
      <p:sp>
        <p:nvSpPr>
          <p:cNvPr id="21" name="TextBox 21">
            <a:extLst>
              <a:ext uri="{FF2B5EF4-FFF2-40B4-BE49-F238E27FC236}">
                <a16:creationId xmlns:a16="http://schemas.microsoft.com/office/drawing/2014/main" id="{38D0BED9-E395-49AD-A3EA-5F6FFDC37E93}"/>
              </a:ext>
            </a:extLst>
          </p:cNvPr>
          <p:cNvSpPr txBox="1"/>
          <p:nvPr/>
        </p:nvSpPr>
        <p:spPr>
          <a:xfrm>
            <a:off x="9077325" y="3352800"/>
            <a:ext cx="2181225" cy="419100"/>
          </a:xfrm>
        </p:spPr>
        <p:txBody>
          <a:bodyPr wrap="square" rtlCol="0" lIns="0" tIns="0" rIns="0" bIns="0" anchor="t"/>
          <a:lstStyle/>
          <a:p>
            <a:pPr algn="l">
              <a:lnSpc>
                <a:spcPct val="120000"/>
              </a:lnSpc>
            </a:pPr>
            <a:r>
              <a:rPr sz="1150">
                <a:solidFill>
                  <a:srgbClr val="7A8796"/>
                </a:solidFill>
                <a:latin typeface="Segoe UI"/>
                <a:ea typeface="Segoe UI"/>
              </a:rPr>
              <a:t>Cash and card behind one interface · 8 cases</a:t>
            </a:r>
          </a:p>
        </p:txBody>
      </p:sp>
      <p:sp>
        <p:nvSpPr>
          <p:cNvPr id="22" name="TextBox 22">
            <a:extLst>
              <a:ext uri="{FF2B5EF4-FFF2-40B4-BE49-F238E27FC236}">
                <a16:creationId xmlns:a16="http://schemas.microsoft.com/office/drawing/2014/main" id="{B549D37A-F29D-48DD-A4AA-DD3214AA053E}"/>
              </a:ext>
            </a:extLst>
          </p:cNvPr>
          <p:cNvSpPr txBox="1"/>
          <p:nvPr/>
        </p:nvSpPr>
        <p:spPr>
          <a:xfrm>
            <a:off x="933450" y="4238625"/>
            <a:ext cx="2181225" cy="1428750"/>
          </a:xfrm>
        </p:spPr>
        <p:txBody>
          <a:bodyPr wrap="square" rtlCol="0" lIns="0" tIns="0" rIns="0" bIns="0" anchor="t"/>
          <a:lstStyle/>
          <a:p>
            <a:pPr algn="l">
              <a:lnSpc>
                <a:spcPct val="125000"/>
              </a:lnSpc>
              <a:spcAft>
                <a:spcPts val="800"/>
              </a:spcAft>
            </a:pPr>
            <a:r>
              <a:rPr sz="1200" b="1">
                <a:solidFill>
                  <a:srgbClr val="00C16A"/>
                </a:solidFill>
                <a:latin typeface="Segoe UI"/>
                <a:ea typeface="Segoe UI"/>
              </a:rPr>
              <a:t>FR-5  </a:t>
            </a:r>
            <a:r>
              <a:rPr sz="1400" b="1">
                <a:solidFill>
                  <a:srgbClr val="12141A"/>
                </a:solidFill>
                <a:latin typeface="Segoe UI"/>
                <a:ea typeface="Segoe UI"/>
              </a:rPr>
              <a:t>Vendor map with five markers</a:t>
            </a:r>
          </a:p>
          <a:p>
            <a:pPr algn="l">
              <a:lnSpc>
                <a:spcPct val="125000"/>
              </a:lnSpc>
            </a:pPr>
            <a:r>
              <a:rPr sz="1250">
                <a:solidFill>
                  <a:srgbClr val="5A6675"/>
                </a:solidFill>
                <a:latin typeface="Segoe UI"/>
                <a:ea typeface="Segoe UI"/>
              </a:rPr>
              <a:t>خريطة البائعين بخمس علامات ونافذة معلومات</a:t>
            </a:r>
          </a:p>
        </p:txBody>
      </p:sp>
      <p:sp>
        <p:nvSpPr>
          <p:cNvPr id="23" name="TextBox 23">
            <a:extLst>
              <a:ext uri="{FF2B5EF4-FFF2-40B4-BE49-F238E27FC236}">
                <a16:creationId xmlns:a16="http://schemas.microsoft.com/office/drawing/2014/main" id="{D99395E5-1DEA-4DF6-8D87-AA4A89872736}"/>
              </a:ext>
            </a:extLst>
          </p:cNvPr>
          <p:cNvSpPr txBox="1"/>
          <p:nvPr/>
        </p:nvSpPr>
        <p:spPr>
          <a:xfrm>
            <a:off x="933450" y="5781675"/>
            <a:ext cx="2181225" cy="419100"/>
          </a:xfrm>
        </p:spPr>
        <p:txBody>
          <a:bodyPr wrap="square" rtlCol="0" lIns="0" tIns="0" rIns="0" bIns="0" anchor="t"/>
          <a:lstStyle/>
          <a:p>
            <a:pPr algn="l">
              <a:lnSpc>
                <a:spcPct val="120000"/>
              </a:lnSpc>
            </a:pPr>
            <a:r>
              <a:rPr sz="1150">
                <a:solidFill>
                  <a:srgbClr val="7A8796"/>
                </a:solidFill>
                <a:latin typeface="Segoe UI"/>
                <a:ea typeface="Segoe UI"/>
              </a:rPr>
              <a:t>Cairo, Dubai, London, New York, Tokyo · 4 cases</a:t>
            </a:r>
          </a:p>
        </p:txBody>
      </p:sp>
      <p:sp>
        <p:nvSpPr>
          <p:cNvPr id="24" name="TextBox 24">
            <a:extLst>
              <a:ext uri="{FF2B5EF4-FFF2-40B4-BE49-F238E27FC236}">
                <a16:creationId xmlns:a16="http://schemas.microsoft.com/office/drawing/2014/main" id="{8298CF1D-EBF3-4D58-8B17-25A3EE95A918}"/>
              </a:ext>
            </a:extLst>
          </p:cNvPr>
          <p:cNvSpPr txBox="1"/>
          <p:nvPr/>
        </p:nvSpPr>
        <p:spPr>
          <a:xfrm>
            <a:off x="3648075" y="4238625"/>
            <a:ext cx="2181225" cy="1428750"/>
          </a:xfrm>
        </p:spPr>
        <p:txBody>
          <a:bodyPr wrap="square" rtlCol="0" lIns="0" tIns="0" rIns="0" bIns="0" anchor="t"/>
          <a:lstStyle/>
          <a:p>
            <a:pPr algn="l">
              <a:lnSpc>
                <a:spcPct val="125000"/>
              </a:lnSpc>
              <a:spcAft>
                <a:spcPts val="800"/>
              </a:spcAft>
            </a:pPr>
            <a:r>
              <a:rPr sz="1400" b="1">
                <a:solidFill>
                  <a:srgbClr val="12141A"/>
                </a:solidFill>
                <a:latin typeface="Segoe UI"/>
                <a:ea typeface="Segoe UI"/>
              </a:rPr>
              <a:t>FR-6  Profile behind</a:t>
            </a:r>
            <a:r>
              <a:rPr sz="1250" b="1">
                <a:solidFill>
                  <a:srgbClr val="5A6675"/>
                </a:solidFill>
                <a:latin typeface="Segoe UI"/>
                <a:ea typeface="Segoe UI"/>
              </a:rPr>
              <a:t>biometrics</a:t>
            </a:r>
          </a:p>
          <a:p>
            <a:pPr algn="l">
              <a:lnSpc>
                <a:spcPct val="125000"/>
              </a:lnSpc>
            </a:pPr>
            <a:r>
              <a:rPr sz="1250">
                <a:solidFill>
                  <a:srgbClr val="5A6675"/>
                </a:solidFill>
                <a:latin typeface="Segoe UI"/>
                <a:ea typeface="Segoe UI"/>
              </a:rPr>
              <a:t>الملف الشخصي خلف بوابة بصمة الجهاز</a:t>
            </a:r>
          </a:p>
        </p:txBody>
      </p:sp>
      <p:sp>
        <p:nvSpPr>
          <p:cNvPr id="25" name="TextBox 25">
            <a:extLst>
              <a:ext uri="{FF2B5EF4-FFF2-40B4-BE49-F238E27FC236}">
                <a16:creationId xmlns:a16="http://schemas.microsoft.com/office/drawing/2014/main" id="{D81F9121-9796-431A-A96D-ACADE344E4F3}"/>
              </a:ext>
            </a:extLst>
          </p:cNvPr>
          <p:cNvSpPr txBox="1"/>
          <p:nvPr/>
        </p:nvSpPr>
        <p:spPr>
          <a:xfrm>
            <a:off x="3648075" y="5781675"/>
            <a:ext cx="2181225" cy="419100"/>
          </a:xfrm>
        </p:spPr>
        <p:txBody>
          <a:bodyPr wrap="square" rtlCol="0" lIns="0" tIns="0" rIns="0" bIns="0" anchor="t"/>
          <a:lstStyle/>
          <a:p>
            <a:pPr algn="l">
              <a:lnSpc>
                <a:spcPct val="120000"/>
              </a:lnSpc>
            </a:pPr>
            <a:r>
              <a:rPr sz="1150">
                <a:solidFill>
                  <a:srgbClr val="7A8796"/>
                </a:solidFill>
                <a:latin typeface="Segoe UI"/>
                <a:ea typeface="Segoe UI"/>
              </a:rPr>
              <a:t>local_auth · device_info_plus · image_picker · 7 cases</a:t>
            </a:r>
          </a:p>
        </p:txBody>
      </p:sp>
      <p:sp>
        <p:nvSpPr>
          <p:cNvPr id="26" name="TextBox 26">
            <a:extLst>
              <a:ext uri="{FF2B5EF4-FFF2-40B4-BE49-F238E27FC236}">
                <a16:creationId xmlns:a16="http://schemas.microsoft.com/office/drawing/2014/main" id="{FE4AFACE-D91A-4987-9E4D-A68683D53FC5}"/>
              </a:ext>
            </a:extLst>
          </p:cNvPr>
          <p:cNvSpPr txBox="1"/>
          <p:nvPr/>
        </p:nvSpPr>
        <p:spPr>
          <a:xfrm>
            <a:off x="6362700" y="4238625"/>
            <a:ext cx="2181225" cy="1428750"/>
          </a:xfrm>
        </p:spPr>
        <p:txBody>
          <a:bodyPr wrap="square" rtlCol="0" lIns="0" tIns="0" rIns="0" bIns="0" anchor="t"/>
          <a:lstStyle/>
          <a:p>
            <a:pPr algn="l">
              <a:lnSpc>
                <a:spcPct val="125000"/>
              </a:lnSpc>
              <a:spcAft>
                <a:spcPts val="800"/>
              </a:spcAft>
            </a:pPr>
            <a:r>
              <a:rPr sz="1400" b="1">
                <a:solidFill>
                  <a:srgbClr val="12141A"/>
                </a:solidFill>
                <a:latin typeface="Segoe UI"/>
                <a:ea typeface="Segoe UI"/>
              </a:rPr>
              <a:t>FR-7  Full English and</a:t>
            </a:r>
            <a:r>
              <a:rPr sz="1250" b="1">
                <a:solidFill>
                  <a:srgbClr val="5A6675"/>
                </a:solidFill>
                <a:latin typeface="Segoe UI"/>
                <a:ea typeface="Segoe UI"/>
              </a:rPr>
              <a:t>Arabic, live</a:t>
            </a:r>
          </a:p>
          <a:p>
            <a:pPr algn="l">
              <a:lnSpc>
                <a:spcPct val="125000"/>
              </a:lnSpc>
            </a:pPr>
            <a:r>
              <a:rPr sz="1250">
                <a:solidFill>
                  <a:srgbClr val="5A6675"/>
                </a:solidFill>
                <a:latin typeface="Segoe UI"/>
                <a:ea typeface="Segoe UI"/>
              </a:rPr>
              <a:t>توطين كامل وتبديل فوري للاتجاه</a:t>
            </a:r>
          </a:p>
        </p:txBody>
      </p:sp>
      <p:sp>
        <p:nvSpPr>
          <p:cNvPr id="27" name="TextBox 27">
            <a:extLst>
              <a:ext uri="{FF2B5EF4-FFF2-40B4-BE49-F238E27FC236}">
                <a16:creationId xmlns:a16="http://schemas.microsoft.com/office/drawing/2014/main" id="{807EAE6F-1D23-49DA-BA73-7C129D82FCA5}"/>
              </a:ext>
            </a:extLst>
          </p:cNvPr>
          <p:cNvSpPr txBox="1"/>
          <p:nvPr/>
        </p:nvSpPr>
        <p:spPr>
          <a:xfrm>
            <a:off x="6362700" y="5781675"/>
            <a:ext cx="2181225" cy="419100"/>
          </a:xfrm>
        </p:spPr>
        <p:txBody>
          <a:bodyPr wrap="square" rtlCol="0" lIns="0" tIns="0" rIns="0" bIns="0" anchor="t"/>
          <a:lstStyle/>
          <a:p>
            <a:pPr algn="l">
              <a:lnSpc>
                <a:spcPct val="120000"/>
              </a:lnSpc>
            </a:pPr>
            <a:r>
              <a:rPr sz="1150">
                <a:solidFill>
                  <a:srgbClr val="7A8796"/>
                </a:solidFill>
                <a:latin typeface="Segoe UI"/>
                <a:ea typeface="Segoe UI"/>
              </a:rPr>
              <a:t>Two ARB files, zero hard-coded strings · 2 cases</a:t>
            </a:r>
          </a:p>
        </p:txBody>
      </p:sp>
      <p:sp>
        <p:nvSpPr>
          <p:cNvPr id="28" name="TextBox 28">
            <a:extLst>
              <a:ext uri="{FF2B5EF4-FFF2-40B4-BE49-F238E27FC236}">
                <a16:creationId xmlns:a16="http://schemas.microsoft.com/office/drawing/2014/main" id="{E1A5485D-E990-4C6D-BCB9-F37F0CBE36FA}"/>
              </a:ext>
            </a:extLst>
          </p:cNvPr>
          <p:cNvSpPr txBox="1"/>
          <p:nvPr/>
        </p:nvSpPr>
        <p:spPr>
          <a:xfrm>
            <a:off x="9077325" y="4238625"/>
            <a:ext cx="2181225" cy="685800"/>
          </a:xfrm>
        </p:spPr>
        <p:txBody>
          <a:bodyPr wrap="square" rtlCol="0" lIns="0" tIns="0" rIns="0" bIns="0" anchor="t"/>
          <a:lstStyle/>
          <a:p>
            <a:pPr algn="l">
              <a:lnSpc>
                <a:spcPct val="125000"/>
              </a:lnSpc>
              <a:spcAft>
                <a:spcPts val="800"/>
              </a:spcAft>
            </a:pPr>
            <a:r>
              <a:rPr sz="1400" b="1">
                <a:solidFill>
                  <a:srgbClr val="00A85A"/>
                </a:solidFill>
                <a:latin typeface="Segoe UI"/>
                <a:ea typeface="Segoe UI"/>
              </a:rPr>
              <a:t>Traced, not assumed</a:t>
            </a:r>
          </a:p>
          <a:p>
            <a:pPr algn="l">
              <a:lnSpc>
                <a:spcPct val="125000"/>
              </a:lnSpc>
            </a:pPr>
            <a:r>
              <a:rPr sz="1250">
                <a:solidFill>
                  <a:srgbClr val="3F6B57"/>
                </a:solidFill>
                <a:latin typeface="Segoe UI"/>
                <a:ea typeface="Segoe UI"/>
              </a:rPr>
              <a:t>بالافتراض لا بالتتبّع</a:t>
            </a:r>
          </a:p>
        </p:txBody>
      </p:sp>
      <p:sp>
        <p:nvSpPr>
          <p:cNvPr id="29" name="TextBox 29">
            <a:extLst>
              <a:ext uri="{FF2B5EF4-FFF2-40B4-BE49-F238E27FC236}">
                <a16:creationId xmlns:a16="http://schemas.microsoft.com/office/drawing/2014/main" id="{86AD2AC7-F4C5-431E-B5F9-CAE086514BB9}"/>
              </a:ext>
            </a:extLst>
          </p:cNvPr>
          <p:cNvSpPr txBox="1"/>
          <p:nvPr/>
        </p:nvSpPr>
        <p:spPr>
          <a:xfrm>
            <a:off x="9077325" y="5000625"/>
            <a:ext cx="2181225" cy="781050"/>
          </a:xfrm>
        </p:spPr>
        <p:txBody>
          <a:bodyPr wrap="square" rtlCol="0" lIns="0" tIns="0" rIns="0" bIns="0" anchor="t"/>
          <a:lstStyle/>
          <a:p>
            <a:pPr algn="l">
              <a:lnSpc>
                <a:spcPct val="125000"/>
              </a:lnSpc>
            </a:pPr>
            <a:r>
              <a:rPr sz="1150">
                <a:solidFill>
                  <a:srgbClr val="3F6B57"/>
                </a:solidFill>
                <a:latin typeface="Segoe UI"/>
                <a:ea typeface="Segoe UI"/>
              </a:rPr>
              <a:t>10 requirements map to 51 cases</a:t>
            </a:r>
          </a:p>
          <a:p>
            <a:pPr algn="l">
              <a:lnSpc>
                <a:spcPct val="125000"/>
              </a:lnSpc>
            </a:pPr>
            <a:r>
              <a:rPr sz="1150">
                <a:solidFill>
                  <a:srgbClr val="3F6B57"/>
                </a:solidFill>
                <a:latin typeface="Segoe UI"/>
                <a:ea typeface="Segoe UI"/>
              </a:rPr>
              <a:t>in TestPlan_and_TestCases.xlsx.</a:t>
            </a:r>
          </a:p>
        </p:txBody>
      </p:sp>
      <p:sp>
        <p:nvSpPr>
          <p:cNvPr id="30" name="TextBox 30">
            <a:extLst>
              <a:ext uri="{FF2B5EF4-FFF2-40B4-BE49-F238E27FC236}">
                <a16:creationId xmlns:a16="http://schemas.microsoft.com/office/drawing/2014/main" id="{90008D19-3376-401B-BECD-2C0A551FB952}"/>
              </a:ext>
            </a:extLst>
          </p:cNvPr>
          <p:cNvSpPr txBox="1"/>
          <p:nvPr/>
        </p:nvSpPr>
        <p:spPr>
          <a:xfrm>
            <a:off x="762000" y="6515100"/>
            <a:ext cx="3810000" cy="209550"/>
          </a:xfrm>
        </p:spPr>
        <p:txBody>
          <a:bodyPr wrap="square" rtlCol="0" lIns="0" tIns="0" rIns="0" bIns="0" anchor="t"/>
          <a:lstStyle/>
          <a:p>
            <a:pPr algn="l"/>
            <a:r>
              <a:rPr sz="1000">
                <a:solidFill>
                  <a:srgbClr val="9AA5B1"/>
                </a:solidFill>
                <a:latin typeface="Segoe UI"/>
                <a:ea typeface="Segoe UI"/>
              </a:rPr>
              <a:t>StreetBite · Capstone report · 03</a:t>
            </a:r>
          </a:p>
        </p:txBody>
      </p:sp>
      <p:sp>
        <p:nvSpPr>
          <p:cNvPr id="31" name="TextBox 31">
            <a:extLst>
              <a:ext uri="{FF2B5EF4-FFF2-40B4-BE49-F238E27FC236}">
                <a16:creationId xmlns:a16="http://schemas.microsoft.com/office/drawing/2014/main" id="{CC180C21-E4AE-48DB-9DD6-5CB541F9F4CF}"/>
              </a:ext>
            </a:extLst>
          </p:cNvPr>
          <p:cNvSpPr txBox="1"/>
          <p:nvPr/>
        </p:nvSpPr>
        <p:spPr>
          <a:xfrm>
            <a:off x="6667500" y="6515100"/>
            <a:ext cx="4000500" cy="209550"/>
          </a:xfrm>
        </p:spPr>
        <p:txBody>
          <a:bodyPr wrap="square" rtlCol="0" lIns="0" tIns="0" rIns="0" bIns="0" anchor="t"/>
          <a:lstStyle/>
          <a:p>
            <a:pPr algn="r"/>
            <a:r>
              <a:rPr sz="1000">
                <a:solidFill>
                  <a:srgbClr val="9AA5B1"/>
                </a:solidFill>
                <a:latin typeface="Segoe UI"/>
                <a:ea typeface="Segoe UI"/>
              </a:rPr>
              <a:t>FR-1 إلى FR-7 · مصفوفة التتبّع في حزمة الجودة</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6F8FA"/>
        </a:solidFill>
        <a:effectLst/>
      </p:bgPr>
    </p:bg>
    <p:spTree>
      <p:nvGrpSpPr>
        <p:cNvPr id="1" name=""/>
        <p:cNvGrpSpPr/>
        <p:nvPr/>
      </p:nvGrpSpPr>
      <p:grpSpPr>
        <a:xfrm>
          <a:off x="0" y="0"/>
          <a:ext cx="0" cy="0"/>
          <a:chOff x="0" y="0"/>
          <a:chExt cx="0" cy="0"/>
        </a:xfrm>
      </p:grpSpPr>
      <p:sp>
        <p:nvSpPr>
          <p:cNvPr id="3" name="TextBox 3">
            <a:extLst>
              <a:ext uri="{FF2B5EF4-FFF2-40B4-BE49-F238E27FC236}">
                <a16:creationId xmlns:a16="http://schemas.microsoft.com/office/drawing/2014/main" id="{B27375F5-FA7A-4C59-A428-3B29BDC343EF}"/>
              </a:ext>
            </a:extLst>
          </p:cNvPr>
          <p:cNvSpPr txBox="1"/>
          <p:nvPr/>
        </p:nvSpPr>
        <p:spPr>
          <a:xfrm>
            <a:off x="762000" y="533400"/>
            <a:ext cx="5715000" cy="209550"/>
          </a:xfrm>
        </p:spPr>
        <p:txBody>
          <a:bodyPr wrap="square" rtlCol="0" lIns="0" tIns="0" rIns="0" bIns="0" anchor="t"/>
          <a:lstStyle/>
          <a:p>
            <a:pPr algn="l"/>
            <a:r>
              <a:rPr sz="1100" b="1">
                <a:solidFill>
                  <a:srgbClr val="00C16A"/>
                </a:solidFill>
                <a:latin typeface="Segoe UI"/>
                <a:ea typeface="Segoe UI"/>
              </a:rPr>
              <a:t>03  ·  NON-FUNCTIONAL RULES</a:t>
            </a:r>
          </a:p>
        </p:txBody>
      </p:sp>
      <p:sp>
        <p:nvSpPr>
          <p:cNvPr id="4" name="TextBox 4">
            <a:extLst>
              <a:ext uri="{FF2B5EF4-FFF2-40B4-BE49-F238E27FC236}">
                <a16:creationId xmlns:a16="http://schemas.microsoft.com/office/drawing/2014/main" id="{4265A8DF-2D1C-4454-945F-C88F2C781500}"/>
              </a:ext>
            </a:extLst>
          </p:cNvPr>
          <p:cNvSpPr txBox="1"/>
          <p:nvPr/>
        </p:nvSpPr>
        <p:spPr>
          <a:xfrm>
            <a:off x="762000" y="781050"/>
            <a:ext cx="5905500" cy="533400"/>
          </a:xfrm>
        </p:spPr>
        <p:txBody>
          <a:bodyPr wrap="square" rtlCol="0" lIns="0" tIns="0" rIns="0" bIns="0" anchor="t"/>
          <a:lstStyle/>
          <a:p>
            <a:pPr algn="l"/>
            <a:r>
              <a:rPr sz="3000" b="1">
                <a:solidFill>
                  <a:srgbClr val="12141A"/>
                </a:solidFill>
                <a:latin typeface="Segoe UI"/>
                <a:ea typeface="Segoe UI"/>
              </a:rPr>
              <a:t>Rules beyond the features</a:t>
            </a:r>
          </a:p>
        </p:txBody>
      </p:sp>
      <p:sp>
        <p:nvSpPr>
          <p:cNvPr id="5" name="TextBox 5">
            <a:extLst>
              <a:ext uri="{FF2B5EF4-FFF2-40B4-BE49-F238E27FC236}">
                <a16:creationId xmlns:a16="http://schemas.microsoft.com/office/drawing/2014/main" id="{1B854B0E-0104-4464-88BF-ED3CD95B818F}"/>
              </a:ext>
            </a:extLst>
          </p:cNvPr>
          <p:cNvSpPr txBox="1"/>
          <p:nvPr/>
        </p:nvSpPr>
        <p:spPr>
          <a:xfrm>
            <a:off x="6667500" y="857250"/>
            <a:ext cx="4000500" cy="419100"/>
          </a:xfrm>
        </p:spPr>
        <p:txBody>
          <a:bodyPr wrap="square" rtlCol="0" lIns="0" tIns="0" rIns="0" bIns="0" anchor="t"/>
          <a:lstStyle/>
          <a:p>
            <a:pPr algn="r"/>
            <a:r>
              <a:rPr sz="2400" b="1">
                <a:solidFill>
                  <a:srgbClr val="5A6675"/>
                </a:solidFill>
                <a:latin typeface="Segoe UI"/>
                <a:ea typeface="Segoe UI"/>
              </a:rPr>
              <a:t>قواعد تتجاوز المزايا</a:t>
            </a:r>
          </a:p>
        </p:txBody>
      </p:sp>
      <p:sp>
        <p:nvSpPr>
          <p:cNvPr id="6" name="Shape 6">
            <a:extLst>
              <a:ext uri="{FF2B5EF4-FFF2-40B4-BE49-F238E27FC236}">
                <a16:creationId xmlns:a16="http://schemas.microsoft.com/office/drawing/2014/main" id="{EE8B4076-900B-4282-8B93-94614991464C}"/>
              </a:ext>
            </a:extLst>
          </p:cNvPr>
          <p:cNvSpPr/>
          <p:nvPr/>
        </p:nvSpPr>
        <p:spPr>
          <a:xfrm>
            <a:off x="762000" y="1619250"/>
            <a:ext cx="3238500" cy="2238375"/>
          </a:xfrm>
          <a:prstGeom prst="roundRect">
            <a:avLst/>
          </a:prstGeom>
          <a:solidFill>
            <a:srgbClr val="FFFFFF"/>
          </a:solidFill>
          <a:ln w="12700">
            <a:solidFill>
              <a:srgbClr val="E4E9F0"/>
            </a:solidFill>
          </a:ln>
        </p:spPr>
        <p:txBody>
          <a:bodyPr wrap="square" rtlCol="0"/>
          <a:lstStyle/>
          <a:p>
            <a:r>
              <a:rPr/>
              <a:t/>
            </a:r>
          </a:p>
        </p:txBody>
      </p:sp>
      <p:sp>
        <p:nvSpPr>
          <p:cNvPr id="7" name="Shape 7">
            <a:extLst>
              <a:ext uri="{FF2B5EF4-FFF2-40B4-BE49-F238E27FC236}">
                <a16:creationId xmlns:a16="http://schemas.microsoft.com/office/drawing/2014/main" id="{7DAA3801-CF50-4E80-BB57-09D4BA9CBE9B}"/>
              </a:ext>
            </a:extLst>
          </p:cNvPr>
          <p:cNvSpPr/>
          <p:nvPr/>
        </p:nvSpPr>
        <p:spPr>
          <a:xfrm>
            <a:off x="4476750" y="1619250"/>
            <a:ext cx="3238500" cy="2238375"/>
          </a:xfrm>
          <a:prstGeom prst="roundRect">
            <a:avLst/>
          </a:prstGeom>
          <a:solidFill>
            <a:srgbClr val="FFFFFF"/>
          </a:solidFill>
          <a:ln w="12700">
            <a:solidFill>
              <a:srgbClr val="E4E9F0"/>
            </a:solidFill>
          </a:ln>
        </p:spPr>
        <p:txBody>
          <a:bodyPr wrap="square" rtlCol="0"/>
          <a:lstStyle/>
          <a:p>
            <a:r>
              <a:rPr/>
              <a:t/>
            </a:r>
          </a:p>
        </p:txBody>
      </p:sp>
      <p:sp>
        <p:nvSpPr>
          <p:cNvPr id="8" name="Shape 8">
            <a:extLst>
              <a:ext uri="{FF2B5EF4-FFF2-40B4-BE49-F238E27FC236}">
                <a16:creationId xmlns:a16="http://schemas.microsoft.com/office/drawing/2014/main" id="{6A8F463F-9A02-43EF-A1C2-CF93766E5917}"/>
              </a:ext>
            </a:extLst>
          </p:cNvPr>
          <p:cNvSpPr/>
          <p:nvPr/>
        </p:nvSpPr>
        <p:spPr>
          <a:xfrm>
            <a:off x="8191500" y="1619250"/>
            <a:ext cx="3238500" cy="2238375"/>
          </a:xfrm>
          <a:prstGeom prst="roundRect">
            <a:avLst/>
          </a:prstGeom>
          <a:solidFill>
            <a:srgbClr val="FFFFFF"/>
          </a:solidFill>
          <a:ln w="12700">
            <a:solidFill>
              <a:srgbClr val="E4E9F0"/>
            </a:solidFill>
          </a:ln>
        </p:spPr>
        <p:txBody>
          <a:bodyPr wrap="square" rtlCol="0"/>
          <a:lstStyle/>
          <a:p>
            <a:r>
              <a:rPr/>
              <a:t/>
            </a:r>
          </a:p>
        </p:txBody>
      </p:sp>
      <p:sp>
        <p:nvSpPr>
          <p:cNvPr id="9" name="Shape 9">
            <a:extLst>
              <a:ext uri="{FF2B5EF4-FFF2-40B4-BE49-F238E27FC236}">
                <a16:creationId xmlns:a16="http://schemas.microsoft.com/office/drawing/2014/main" id="{EA9516D9-6832-480C-9BE8-5E83EEF4994E}"/>
              </a:ext>
            </a:extLst>
          </p:cNvPr>
          <p:cNvSpPr/>
          <p:nvPr/>
        </p:nvSpPr>
        <p:spPr>
          <a:xfrm>
            <a:off x="762000" y="4048125"/>
            <a:ext cx="3238500" cy="2238375"/>
          </a:xfrm>
          <a:prstGeom prst="roundRect">
            <a:avLst/>
          </a:prstGeom>
          <a:solidFill>
            <a:srgbClr val="FFFFFF"/>
          </a:solidFill>
          <a:ln w="12700">
            <a:solidFill>
              <a:srgbClr val="E4E9F0"/>
            </a:solidFill>
          </a:ln>
        </p:spPr>
        <p:txBody>
          <a:bodyPr wrap="square" rtlCol="0"/>
          <a:lstStyle/>
          <a:p>
            <a:r>
              <a:rPr/>
              <a:t/>
            </a:r>
          </a:p>
        </p:txBody>
      </p:sp>
      <p:sp>
        <p:nvSpPr>
          <p:cNvPr id="10" name="Shape 10">
            <a:extLst>
              <a:ext uri="{FF2B5EF4-FFF2-40B4-BE49-F238E27FC236}">
                <a16:creationId xmlns:a16="http://schemas.microsoft.com/office/drawing/2014/main" id="{1253D62B-B814-401D-8BA8-1A09CCE6796B}"/>
              </a:ext>
            </a:extLst>
          </p:cNvPr>
          <p:cNvSpPr/>
          <p:nvPr/>
        </p:nvSpPr>
        <p:spPr>
          <a:xfrm>
            <a:off x="4476750" y="4048125"/>
            <a:ext cx="3238500" cy="2238375"/>
          </a:xfrm>
          <a:prstGeom prst="roundRect">
            <a:avLst/>
          </a:prstGeom>
          <a:solidFill>
            <a:srgbClr val="FFFFFF"/>
          </a:solidFill>
          <a:ln w="12700">
            <a:solidFill>
              <a:srgbClr val="E4E9F0"/>
            </a:solidFill>
          </a:ln>
        </p:spPr>
        <p:txBody>
          <a:bodyPr wrap="square" rtlCol="0"/>
          <a:lstStyle/>
          <a:p>
            <a:r>
              <a:rPr/>
              <a:t/>
            </a:r>
          </a:p>
        </p:txBody>
      </p:sp>
      <p:sp>
        <p:nvSpPr>
          <p:cNvPr id="11" name="Shape 11">
            <a:extLst>
              <a:ext uri="{FF2B5EF4-FFF2-40B4-BE49-F238E27FC236}">
                <a16:creationId xmlns:a16="http://schemas.microsoft.com/office/drawing/2014/main" id="{A02FC887-7638-4033-9066-E76D22D7953D}"/>
              </a:ext>
            </a:extLst>
          </p:cNvPr>
          <p:cNvSpPr/>
          <p:nvPr/>
        </p:nvSpPr>
        <p:spPr>
          <a:xfrm>
            <a:off x="8191500" y="4048125"/>
            <a:ext cx="3238500" cy="2238375"/>
          </a:xfrm>
          <a:prstGeom prst="roundRect">
            <a:avLst/>
          </a:prstGeom>
          <a:solidFill>
            <a:srgbClr val="FFFFFF"/>
          </a:solidFill>
          <a:ln w="12700">
            <a:solidFill>
              <a:srgbClr val="E4E9F0"/>
            </a:solidFill>
          </a:ln>
        </p:spPr>
        <p:txBody>
          <a:bodyPr wrap="square" rtlCol="0"/>
          <a:lstStyle/>
          <a:p>
            <a:r>
              <a:rPr/>
              <a:t/>
            </a:r>
          </a:p>
        </p:txBody>
      </p:sp>
      <p:sp>
        <p:nvSpPr>
          <p:cNvPr id="12" name="TextBox 12">
            <a:extLst>
              <a:ext uri="{FF2B5EF4-FFF2-40B4-BE49-F238E27FC236}">
                <a16:creationId xmlns:a16="http://schemas.microsoft.com/office/drawing/2014/main" id="{FCD15CC1-2B1B-42AF-BE84-5DDBD7133BC5}"/>
              </a:ext>
            </a:extLst>
          </p:cNvPr>
          <p:cNvSpPr txBox="1"/>
          <p:nvPr/>
        </p:nvSpPr>
        <p:spPr>
          <a:xfrm>
            <a:off x="952500" y="1828800"/>
            <a:ext cx="2857500" cy="609600"/>
          </a:xfrm>
        </p:spPr>
        <p:txBody>
          <a:bodyPr wrap="square" rtlCol="0" lIns="0" tIns="0" rIns="0" bIns="0" anchor="t"/>
          <a:lstStyle/>
          <a:p>
            <a:pPr algn="l">
              <a:lnSpc>
                <a:spcPct val="120000"/>
              </a:lnSpc>
              <a:spcAft>
                <a:spcPts val="600"/>
              </a:spcAft>
            </a:pPr>
            <a:r>
              <a:rPr sz="1500" b="1">
                <a:solidFill>
                  <a:srgbClr val="12141A"/>
                </a:solidFill>
                <a:latin typeface="Segoe UI"/>
                <a:ea typeface="Segoe UI"/>
              </a:rPr>
              <a:t>Clean Architecture</a:t>
            </a:r>
          </a:p>
          <a:p>
            <a:pPr algn="l"/>
            <a:r>
              <a:rPr sz="1300" b="1">
                <a:solidFill>
                  <a:srgbClr val="00A85A"/>
                </a:solidFill>
                <a:latin typeface="Segoe UI"/>
                <a:ea typeface="Segoe UI"/>
              </a:rPr>
              <a:t>بنية نظيفة</a:t>
            </a:r>
          </a:p>
        </p:txBody>
      </p:sp>
      <p:sp>
        <p:nvSpPr>
          <p:cNvPr id="13" name="TextBox 13">
            <a:extLst>
              <a:ext uri="{FF2B5EF4-FFF2-40B4-BE49-F238E27FC236}">
                <a16:creationId xmlns:a16="http://schemas.microsoft.com/office/drawing/2014/main" id="{48F6A6FB-02EA-4D76-A1EE-FA1CDCF4D1A8}"/>
              </a:ext>
            </a:extLst>
          </p:cNvPr>
          <p:cNvSpPr txBox="1"/>
          <p:nvPr/>
        </p:nvSpPr>
        <p:spPr>
          <a:xfrm>
            <a:off x="952500" y="2552700"/>
            <a:ext cx="2857500" cy="1270508"/>
          </a:xfrm>
        </p:spPr>
        <p:txBody>
          <a:bodyPr wrap="square" rtlCol="0" lIns="0" tIns="0" rIns="0" bIns="0" anchor="t"/>
          <a:lstStyle/>
          <a:p>
            <a:pPr algn="l">
              <a:lnSpc>
                <a:spcPct val="130000"/>
              </a:lnSpc>
              <a:spcAft>
                <a:spcPts val="800"/>
              </a:spcAft>
            </a:pPr>
            <a:r>
              <a:rPr sz="1200">
                <a:solidFill>
                  <a:srgbClr val="5A6675"/>
                </a:solidFill>
                <a:latin typeface="Segoe UI"/>
                <a:ea typeface="Segoe UI"/>
              </a:rPr>
              <a:t>presentation → domain ← data. The domain layer imports nothing from Flutter, Dio or Firebase.</a:t>
            </a:r>
          </a:p>
          <a:p>
            <a:pPr algn="l">
              <a:lnSpc>
                <a:spcPct val="130000"/>
              </a:lnSpc>
            </a:pPr>
            <a:r>
              <a:rPr sz="1150">
                <a:solidFill>
                  <a:srgbClr val="7A8796"/>
                </a:solidFill>
                <a:latin typeface="Segoe UI"/>
                <a:ea typeface="Segoe UI"/>
              </a:rPr>
              <a:t>الطبقة المجال لا تستورد شيئًا من الواجهات أو الشبكة.</a:t>
            </a:r>
          </a:p>
        </p:txBody>
      </p:sp>
      <p:sp>
        <p:nvSpPr>
          <p:cNvPr id="14" name="TextBox 14">
            <a:extLst>
              <a:ext uri="{FF2B5EF4-FFF2-40B4-BE49-F238E27FC236}">
                <a16:creationId xmlns:a16="http://schemas.microsoft.com/office/drawing/2014/main" id="{D97693BD-38E9-4CE6-99C9-0E12DB18C569}"/>
              </a:ext>
            </a:extLst>
          </p:cNvPr>
          <p:cNvSpPr txBox="1"/>
          <p:nvPr/>
        </p:nvSpPr>
        <p:spPr>
          <a:xfrm>
            <a:off x="4667250" y="1828800"/>
            <a:ext cx="2857500" cy="609600"/>
          </a:xfrm>
        </p:spPr>
        <p:txBody>
          <a:bodyPr wrap="square" rtlCol="0" lIns="0" tIns="0" rIns="0" bIns="0" anchor="t"/>
          <a:lstStyle/>
          <a:p>
            <a:pPr algn="l">
              <a:lnSpc>
                <a:spcPct val="120000"/>
              </a:lnSpc>
              <a:spcAft>
                <a:spcPts val="600"/>
              </a:spcAft>
            </a:pPr>
            <a:r>
              <a:rPr sz="1500" b="1">
                <a:solidFill>
                  <a:srgbClr val="12141A"/>
                </a:solidFill>
                <a:latin typeface="Segoe UI"/>
                <a:ea typeface="Segoe UI"/>
              </a:rPr>
              <a:t>One class, one file</a:t>
            </a:r>
          </a:p>
          <a:p>
            <a:pPr algn="l"/>
            <a:r>
              <a:rPr sz="1300" b="1">
                <a:solidFill>
                  <a:srgbClr val="00A85A"/>
                </a:solidFill>
                <a:latin typeface="Segoe UI"/>
                <a:ea typeface="Segoe UI"/>
              </a:rPr>
              <a:t>صنف واحد في ملف</a:t>
            </a:r>
          </a:p>
        </p:txBody>
      </p:sp>
      <p:sp>
        <p:nvSpPr>
          <p:cNvPr id="15" name="TextBox 15">
            <a:extLst>
              <a:ext uri="{FF2B5EF4-FFF2-40B4-BE49-F238E27FC236}">
                <a16:creationId xmlns:a16="http://schemas.microsoft.com/office/drawing/2014/main" id="{C88196FD-F27A-4C51-B9CF-F3EDF8180D6D}"/>
              </a:ext>
            </a:extLst>
          </p:cNvPr>
          <p:cNvSpPr txBox="1"/>
          <p:nvPr/>
        </p:nvSpPr>
        <p:spPr>
          <a:xfrm>
            <a:off x="4667250" y="2552700"/>
            <a:ext cx="2857500" cy="1270508"/>
          </a:xfrm>
        </p:spPr>
        <p:txBody>
          <a:bodyPr wrap="square" rtlCol="0" lIns="0" tIns="0" rIns="0" bIns="0" anchor="t"/>
          <a:lstStyle/>
          <a:p>
            <a:pPr algn="l">
              <a:lnSpc>
                <a:spcPct val="130000"/>
              </a:lnSpc>
              <a:spcAft>
                <a:spcPts val="800"/>
              </a:spcAft>
            </a:pPr>
            <a:r>
              <a:rPr sz="1200">
                <a:solidFill>
                  <a:srgbClr val="5A6675"/>
                </a:solidFill>
                <a:latin typeface="Segoe UI"/>
                <a:ea typeface="Segoe UI"/>
              </a:rPr>
              <a:t>Every screen, Bloc, use case, repository, model, service and reusable widget — 130+ Dart files.</a:t>
            </a:r>
          </a:p>
          <a:p>
            <a:pPr algn="l">
              <a:lnSpc>
                <a:spcPct val="130000"/>
              </a:lnSpc>
            </a:pPr>
            <a:r>
              <a:rPr sz="1150">
                <a:solidFill>
                  <a:srgbClr val="7A8796"/>
                </a:solidFill>
                <a:latin typeface="Segoe UI"/>
                <a:ea typeface="Segoe UI"/>
              </a:rPr>
              <a:t>كل شاشة ومُحوِّل ومستودع في ملف مستقل.</a:t>
            </a:r>
          </a:p>
        </p:txBody>
      </p:sp>
      <p:sp>
        <p:nvSpPr>
          <p:cNvPr id="16" name="TextBox 16">
            <a:extLst>
              <a:ext uri="{FF2B5EF4-FFF2-40B4-BE49-F238E27FC236}">
                <a16:creationId xmlns:a16="http://schemas.microsoft.com/office/drawing/2014/main" id="{E131AB4A-33DC-4A66-814E-6D9D203A907E}"/>
              </a:ext>
            </a:extLst>
          </p:cNvPr>
          <p:cNvSpPr txBox="1"/>
          <p:nvPr/>
        </p:nvSpPr>
        <p:spPr>
          <a:xfrm>
            <a:off x="8382000" y="1828800"/>
            <a:ext cx="2857500" cy="609600"/>
          </a:xfrm>
        </p:spPr>
        <p:txBody>
          <a:bodyPr wrap="square" rtlCol="0" lIns="0" tIns="0" rIns="0" bIns="0" anchor="t"/>
          <a:lstStyle/>
          <a:p>
            <a:pPr algn="l">
              <a:lnSpc>
                <a:spcPct val="120000"/>
              </a:lnSpc>
              <a:spcAft>
                <a:spcPts val="600"/>
              </a:spcAft>
            </a:pPr>
            <a:r>
              <a:rPr sz="1500" b="1">
                <a:solidFill>
                  <a:srgbClr val="12141A"/>
                </a:solidFill>
                <a:latin typeface="Segoe UI"/>
                <a:ea typeface="Segoe UI"/>
              </a:rPr>
              <a:t>No unhandled exceptions</a:t>
            </a:r>
          </a:p>
          <a:p>
            <a:pPr algn="l"/>
            <a:r>
              <a:rPr sz="1300" b="1">
                <a:solidFill>
                  <a:srgbClr val="00A85A"/>
                </a:solidFill>
                <a:latin typeface="Segoe UI"/>
                <a:ea typeface="Segoe UI"/>
              </a:rPr>
              <a:t>بلا استثناءات مهملة</a:t>
            </a:r>
          </a:p>
        </p:txBody>
      </p:sp>
      <p:sp>
        <p:nvSpPr>
          <p:cNvPr id="17" name="TextBox 17">
            <a:extLst>
              <a:ext uri="{FF2B5EF4-FFF2-40B4-BE49-F238E27FC236}">
                <a16:creationId xmlns:a16="http://schemas.microsoft.com/office/drawing/2014/main" id="{EFF872C3-207B-41B8-88F1-03C7ADC23E1F}"/>
              </a:ext>
            </a:extLst>
          </p:cNvPr>
          <p:cNvSpPr txBox="1"/>
          <p:nvPr/>
        </p:nvSpPr>
        <p:spPr>
          <a:xfrm>
            <a:off x="8382000" y="2552700"/>
            <a:ext cx="2857500" cy="1270508"/>
          </a:xfrm>
        </p:spPr>
        <p:txBody>
          <a:bodyPr wrap="square" rtlCol="0" lIns="0" tIns="0" rIns="0" bIns="0" anchor="t"/>
          <a:lstStyle/>
          <a:p>
            <a:pPr algn="l">
              <a:lnSpc>
                <a:spcPct val="130000"/>
              </a:lnSpc>
              <a:spcAft>
                <a:spcPts val="800"/>
              </a:spcAft>
            </a:pPr>
            <a:r>
              <a:rPr sz="1200">
                <a:solidFill>
                  <a:srgbClr val="5A6675"/>
                </a:solidFill>
                <a:latin typeface="Segoe UI"/>
                <a:ea typeface="Segoe UI"/>
              </a:rPr>
              <a:t>A sealed Either&lt;Failure, T&gt; forces the caller to handle the failure branch at compile time.</a:t>
            </a:r>
          </a:p>
          <a:p>
            <a:pPr algn="l">
              <a:lnSpc>
                <a:spcPct val="130000"/>
              </a:lnSpc>
            </a:pPr>
            <a:r>
              <a:rPr sz="1150">
                <a:solidFill>
                  <a:srgbClr val="7A8796"/>
                </a:solidFill>
                <a:latin typeface="Segoe UI"/>
                <a:ea typeface="Segoe UI"/>
              </a:rPr>
              <a:t>Either المغلقة تُجبر المُستدعي على معالجة الفشل.</a:t>
            </a:r>
          </a:p>
        </p:txBody>
      </p:sp>
      <p:sp>
        <p:nvSpPr>
          <p:cNvPr id="18" name="TextBox 18">
            <a:extLst>
              <a:ext uri="{FF2B5EF4-FFF2-40B4-BE49-F238E27FC236}">
                <a16:creationId xmlns:a16="http://schemas.microsoft.com/office/drawing/2014/main" id="{43473987-52D7-482C-9C56-8FBF8F384D0D}"/>
              </a:ext>
            </a:extLst>
          </p:cNvPr>
          <p:cNvSpPr txBox="1"/>
          <p:nvPr/>
        </p:nvSpPr>
        <p:spPr>
          <a:xfrm>
            <a:off x="952500" y="4257675"/>
            <a:ext cx="2857500" cy="609600"/>
          </a:xfrm>
        </p:spPr>
        <p:txBody>
          <a:bodyPr wrap="square" rtlCol="0" lIns="0" tIns="0" rIns="0" bIns="0" anchor="t"/>
          <a:lstStyle/>
          <a:p>
            <a:pPr algn="l">
              <a:lnSpc>
                <a:spcPct val="120000"/>
              </a:lnSpc>
              <a:spcAft>
                <a:spcPts val="600"/>
              </a:spcAft>
            </a:pPr>
            <a:r>
              <a:rPr sz="1500" b="1">
                <a:solidFill>
                  <a:srgbClr val="12141A"/>
                </a:solidFill>
                <a:latin typeface="Segoe UI"/>
                <a:ea typeface="Segoe UI"/>
              </a:rPr>
              <a:t>Zero hard-coded strings</a:t>
            </a:r>
          </a:p>
          <a:p>
            <a:pPr algn="l"/>
            <a:r>
              <a:rPr sz="1300" b="1">
                <a:solidFill>
                  <a:srgbClr val="00A85A"/>
                </a:solidFill>
                <a:latin typeface="Segoe UI"/>
                <a:ea typeface="Segoe UI"/>
              </a:rPr>
              <a:t>بلا نصوص ثابتة</a:t>
            </a:r>
          </a:p>
        </p:txBody>
      </p:sp>
      <p:sp>
        <p:nvSpPr>
          <p:cNvPr id="19" name="TextBox 19">
            <a:extLst>
              <a:ext uri="{FF2B5EF4-FFF2-40B4-BE49-F238E27FC236}">
                <a16:creationId xmlns:a16="http://schemas.microsoft.com/office/drawing/2014/main" id="{AD59CC5A-D246-4228-A589-08338338EC60}"/>
              </a:ext>
            </a:extLst>
          </p:cNvPr>
          <p:cNvSpPr txBox="1"/>
          <p:nvPr/>
        </p:nvSpPr>
        <p:spPr>
          <a:xfrm>
            <a:off x="952500" y="4981575"/>
            <a:ext cx="2857500" cy="1143000"/>
          </a:xfrm>
        </p:spPr>
        <p:txBody>
          <a:bodyPr wrap="square" rtlCol="0" lIns="0" tIns="0" rIns="0" bIns="0" anchor="t"/>
          <a:lstStyle/>
          <a:p>
            <a:pPr algn="l">
              <a:lnSpc>
                <a:spcPct val="130000"/>
              </a:lnSpc>
              <a:spcAft>
                <a:spcPts val="800"/>
              </a:spcAft>
            </a:pPr>
            <a:r>
              <a:rPr sz="1200">
                <a:solidFill>
                  <a:srgbClr val="5A6675"/>
                </a:solidFill>
                <a:latin typeface="Segoe UI"/>
                <a:ea typeface="Segoe UI"/>
              </a:rPr>
              <a:t>app_en.arb and app_ar.arb are the only source of copy; trKey() is an exhaustive switch.</a:t>
            </a:r>
          </a:p>
          <a:p>
            <a:pPr algn="l">
              <a:lnSpc>
                <a:spcPct val="130000"/>
              </a:lnSpc>
            </a:pPr>
            <a:r>
              <a:rPr sz="1150">
                <a:solidFill>
                  <a:srgbClr val="7A8796"/>
                </a:solidFill>
                <a:latin typeface="Segoe UI"/>
                <a:ea typeface="Segoe UI"/>
              </a:rPr>
              <a:t>ملفا ARB هما المصدر الوحيد للنصوص.</a:t>
            </a:r>
          </a:p>
        </p:txBody>
      </p:sp>
      <p:sp>
        <p:nvSpPr>
          <p:cNvPr id="20" name="TextBox 20">
            <a:extLst>
              <a:ext uri="{FF2B5EF4-FFF2-40B4-BE49-F238E27FC236}">
                <a16:creationId xmlns:a16="http://schemas.microsoft.com/office/drawing/2014/main" id="{BAB23325-4660-4767-A769-DD21CA40A9AB}"/>
              </a:ext>
            </a:extLst>
          </p:cNvPr>
          <p:cNvSpPr txBox="1"/>
          <p:nvPr/>
        </p:nvSpPr>
        <p:spPr>
          <a:xfrm>
            <a:off x="4667250" y="4257675"/>
            <a:ext cx="2857500" cy="609600"/>
          </a:xfrm>
        </p:spPr>
        <p:txBody>
          <a:bodyPr wrap="square" rtlCol="0" lIns="0" tIns="0" rIns="0" bIns="0" anchor="t"/>
          <a:lstStyle/>
          <a:p>
            <a:pPr algn="l">
              <a:lnSpc>
                <a:spcPct val="120000"/>
              </a:lnSpc>
              <a:spcAft>
                <a:spcPts val="600"/>
              </a:spcAft>
            </a:pPr>
            <a:r>
              <a:rPr sz="1500" b="1">
                <a:solidFill>
                  <a:srgbClr val="12141A"/>
                </a:solidFill>
                <a:latin typeface="Segoe UI"/>
                <a:ea typeface="Segoe UI"/>
              </a:rPr>
              <a:t>Responsive by MediaQuery</a:t>
            </a:r>
          </a:p>
          <a:p>
            <a:pPr algn="l"/>
            <a:r>
              <a:rPr sz="1300" b="1">
                <a:solidFill>
                  <a:srgbClr val="00A85A"/>
                </a:solidFill>
                <a:latin typeface="Segoe UI"/>
                <a:ea typeface="Segoe UI"/>
              </a:rPr>
              <a:t>تجاوب عبر MediaQuery</a:t>
            </a:r>
          </a:p>
        </p:txBody>
      </p:sp>
      <p:sp>
        <p:nvSpPr>
          <p:cNvPr id="21" name="TextBox 21">
            <a:extLst>
              <a:ext uri="{FF2B5EF4-FFF2-40B4-BE49-F238E27FC236}">
                <a16:creationId xmlns:a16="http://schemas.microsoft.com/office/drawing/2014/main" id="{8E2AB9FA-4881-4CA1-A5DC-D469CAB46358}"/>
              </a:ext>
            </a:extLst>
          </p:cNvPr>
          <p:cNvSpPr txBox="1"/>
          <p:nvPr/>
        </p:nvSpPr>
        <p:spPr>
          <a:xfrm>
            <a:off x="4667250" y="4981575"/>
            <a:ext cx="2857500" cy="1143000"/>
          </a:xfrm>
        </p:spPr>
        <p:txBody>
          <a:bodyPr wrap="square" rtlCol="0" lIns="0" tIns="0" rIns="0" bIns="0" anchor="t"/>
          <a:lstStyle/>
          <a:p>
            <a:pPr algn="l">
              <a:lnSpc>
                <a:spcPct val="130000"/>
              </a:lnSpc>
              <a:spcAft>
                <a:spcPts val="800"/>
              </a:spcAft>
            </a:pPr>
            <a:r>
              <a:rPr sz="1200">
                <a:solidFill>
                  <a:srgbClr val="5A6675"/>
                </a:solidFill>
                <a:latin typeface="Segoe UI"/>
                <a:ea typeface="Segoe UI"/>
              </a:rPr>
              <a:t>Verified at 360 dp and 800 dp; the floating tab bar is part of the inset maths.</a:t>
            </a:r>
          </a:p>
          <a:p>
            <a:pPr algn="l">
              <a:lnSpc>
                <a:spcPct val="130000"/>
              </a:lnSpc>
            </a:pPr>
            <a:r>
              <a:rPr sz="1150">
                <a:solidFill>
                  <a:srgbClr val="7A8796"/>
                </a:solidFill>
                <a:latin typeface="Segoe UI"/>
                <a:ea typeface="Segoe UI"/>
              </a:rPr>
              <a:t>تم التحقق على مقاسي 360 و800 dp.</a:t>
            </a:r>
          </a:p>
        </p:txBody>
      </p:sp>
      <p:sp>
        <p:nvSpPr>
          <p:cNvPr id="22" name="TextBox 22">
            <a:extLst>
              <a:ext uri="{FF2B5EF4-FFF2-40B4-BE49-F238E27FC236}">
                <a16:creationId xmlns:a16="http://schemas.microsoft.com/office/drawing/2014/main" id="{CFE58ECD-597C-40CD-8747-0F894E1601A2}"/>
              </a:ext>
            </a:extLst>
          </p:cNvPr>
          <p:cNvSpPr txBox="1"/>
          <p:nvPr/>
        </p:nvSpPr>
        <p:spPr>
          <a:xfrm>
            <a:off x="8382000" y="4257675"/>
            <a:ext cx="2857500" cy="609600"/>
          </a:xfrm>
        </p:spPr>
        <p:txBody>
          <a:bodyPr wrap="square" rtlCol="0" lIns="0" tIns="0" rIns="0" bIns="0" anchor="t"/>
          <a:lstStyle/>
          <a:p>
            <a:pPr algn="l">
              <a:lnSpc>
                <a:spcPct val="120000"/>
              </a:lnSpc>
              <a:spcAft>
                <a:spcPts val="600"/>
              </a:spcAft>
            </a:pPr>
            <a:r>
              <a:rPr sz="1500" b="1">
                <a:solidFill>
                  <a:srgbClr val="12141A"/>
                </a:solidFill>
                <a:latin typeface="Segoe UI"/>
                <a:ea typeface="Segoe UI"/>
              </a:rPr>
              <a:t>Formatted and analysed</a:t>
            </a:r>
          </a:p>
          <a:p>
            <a:pPr algn="l"/>
            <a:r>
              <a:rPr sz="1300" b="1">
                <a:solidFill>
                  <a:srgbClr val="00A85A"/>
                </a:solidFill>
                <a:latin typeface="Segoe UI"/>
                <a:ea typeface="Segoe UI"/>
              </a:rPr>
              <a:t>منسّق ومحلّل</a:t>
            </a:r>
          </a:p>
        </p:txBody>
      </p:sp>
      <p:sp>
        <p:nvSpPr>
          <p:cNvPr id="23" name="TextBox 23">
            <a:extLst>
              <a:ext uri="{FF2B5EF4-FFF2-40B4-BE49-F238E27FC236}">
                <a16:creationId xmlns:a16="http://schemas.microsoft.com/office/drawing/2014/main" id="{E8F25D90-8503-4256-A610-A0278E4AAA0D}"/>
              </a:ext>
            </a:extLst>
          </p:cNvPr>
          <p:cNvSpPr txBox="1"/>
          <p:nvPr/>
        </p:nvSpPr>
        <p:spPr>
          <a:xfrm>
            <a:off x="8382000" y="4981575"/>
            <a:ext cx="2857500" cy="1143000"/>
          </a:xfrm>
        </p:spPr>
        <p:txBody>
          <a:bodyPr wrap="square" rtlCol="0" lIns="0" tIns="0" rIns="0" bIns="0" anchor="t"/>
          <a:lstStyle/>
          <a:p>
            <a:pPr algn="l">
              <a:lnSpc>
                <a:spcPct val="130000"/>
              </a:lnSpc>
              <a:spcAft>
                <a:spcPts val="800"/>
              </a:spcAft>
            </a:pPr>
            <a:r>
              <a:rPr sz="1200">
                <a:solidFill>
                  <a:srgbClr val="5A6675"/>
                </a:solidFill>
                <a:latin typeface="Segoe UI"/>
                <a:ea typeface="Segoe UI"/>
              </a:rPr>
              <a:t>dart format . applied, flutter analyze reports no issues, unused code removed.</a:t>
            </a:r>
          </a:p>
          <a:p>
            <a:pPr algn="l">
              <a:lnSpc>
                <a:spcPct val="130000"/>
              </a:lnSpc>
            </a:pPr>
            <a:r>
              <a:rPr sz="1150">
                <a:solidFill>
                  <a:srgbClr val="7A8796"/>
                </a:solidFill>
                <a:latin typeface="Segoe UI"/>
                <a:ea typeface="Segoe UI"/>
              </a:rPr>
              <a:t>التنسيق مطبق والتحليل بلا ملاحظات.</a:t>
            </a:r>
          </a:p>
        </p:txBody>
      </p:sp>
      <p:sp>
        <p:nvSpPr>
          <p:cNvPr id="24" name="TextBox 24">
            <a:extLst>
              <a:ext uri="{FF2B5EF4-FFF2-40B4-BE49-F238E27FC236}">
                <a16:creationId xmlns:a16="http://schemas.microsoft.com/office/drawing/2014/main" id="{404A834D-DDF2-467E-B253-0C85FFC480D6}"/>
              </a:ext>
            </a:extLst>
          </p:cNvPr>
          <p:cNvSpPr txBox="1"/>
          <p:nvPr/>
        </p:nvSpPr>
        <p:spPr>
          <a:xfrm>
            <a:off x="762000" y="6515100"/>
            <a:ext cx="3810000" cy="209550"/>
          </a:xfrm>
        </p:spPr>
        <p:txBody>
          <a:bodyPr wrap="square" rtlCol="0" lIns="0" tIns="0" rIns="0" bIns="0" anchor="t"/>
          <a:lstStyle/>
          <a:p>
            <a:pPr algn="l"/>
            <a:r>
              <a:rPr sz="1000">
                <a:solidFill>
                  <a:srgbClr val="9AA5B1"/>
                </a:solidFill>
                <a:latin typeface="Segoe UI"/>
                <a:ea typeface="Segoe UI"/>
              </a:rPr>
              <a:t>StreetBite · Capstone report · 04</a:t>
            </a:r>
          </a:p>
        </p:txBody>
      </p:sp>
      <p:sp>
        <p:nvSpPr>
          <p:cNvPr id="25" name="TextBox 25">
            <a:extLst>
              <a:ext uri="{FF2B5EF4-FFF2-40B4-BE49-F238E27FC236}">
                <a16:creationId xmlns:a16="http://schemas.microsoft.com/office/drawing/2014/main" id="{BF97EB50-A583-4320-AD8D-6054BD69233E}"/>
              </a:ext>
            </a:extLst>
          </p:cNvPr>
          <p:cNvSpPr txBox="1"/>
          <p:nvPr/>
        </p:nvSpPr>
        <p:spPr>
          <a:xfrm>
            <a:off x="6667500" y="6515100"/>
            <a:ext cx="4000500" cy="209550"/>
          </a:xfrm>
        </p:spPr>
        <p:txBody>
          <a:bodyPr wrap="square" rtlCol="0" lIns="0" tIns="0" rIns="0" bIns="0" anchor="t"/>
          <a:lstStyle/>
          <a:p>
            <a:pPr algn="r"/>
            <a:r>
              <a:rPr sz="1000">
                <a:solidFill>
                  <a:srgbClr val="9AA5B1"/>
                </a:solidFill>
                <a:latin typeface="Segoe UI"/>
                <a:ea typeface="Segoe UI"/>
              </a:rPr>
              <a:t>قواعد مفروضة في الكود لا في الوصف</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6F8FA"/>
        </a:solidFill>
        <a:effectLst/>
      </p:bgPr>
    </p:bg>
    <p:spTree>
      <p:nvGrpSpPr>
        <p:cNvPr id="1" name=""/>
        <p:cNvGrpSpPr/>
        <p:nvPr/>
      </p:nvGrpSpPr>
      <p:grpSpPr>
        <a:xfrm>
          <a:off x="0" y="0"/>
          <a:ext cx="0" cy="0"/>
          <a:chOff x="0" y="0"/>
          <a:chExt cx="0" cy="0"/>
        </a:xfrm>
      </p:grpSpPr>
      <p:sp>
        <p:nvSpPr>
          <p:cNvPr id="3" name="TextBox 3">
            <a:extLst>
              <a:ext uri="{FF2B5EF4-FFF2-40B4-BE49-F238E27FC236}">
                <a16:creationId xmlns:a16="http://schemas.microsoft.com/office/drawing/2014/main" id="{24B9624C-68E4-4F76-8AD2-D250B3881174}"/>
              </a:ext>
            </a:extLst>
          </p:cNvPr>
          <p:cNvSpPr txBox="1"/>
          <p:nvPr/>
        </p:nvSpPr>
        <p:spPr>
          <a:xfrm>
            <a:off x="762000" y="533400"/>
            <a:ext cx="5715000" cy="209550"/>
          </a:xfrm>
        </p:spPr>
        <p:txBody>
          <a:bodyPr wrap="square" rtlCol="0" lIns="0" tIns="0" rIns="0" bIns="0" anchor="t"/>
          <a:lstStyle/>
          <a:p>
            <a:pPr algn="l"/>
            <a:r>
              <a:rPr sz="1100" b="1">
                <a:solidFill>
                  <a:srgbClr val="00C16A"/>
                </a:solidFill>
                <a:latin typeface="Segoe UI"/>
                <a:ea typeface="Segoe UI"/>
              </a:rPr>
              <a:t>04  ·  ARCHITECTURE</a:t>
            </a:r>
          </a:p>
        </p:txBody>
      </p:sp>
      <p:sp>
        <p:nvSpPr>
          <p:cNvPr id="4" name="TextBox 4">
            <a:extLst>
              <a:ext uri="{FF2B5EF4-FFF2-40B4-BE49-F238E27FC236}">
                <a16:creationId xmlns:a16="http://schemas.microsoft.com/office/drawing/2014/main" id="{A9D56AD0-E796-4D1E-9E21-924B6232AC6A}"/>
              </a:ext>
            </a:extLst>
          </p:cNvPr>
          <p:cNvSpPr txBox="1"/>
          <p:nvPr/>
        </p:nvSpPr>
        <p:spPr>
          <a:xfrm>
            <a:off x="762000" y="781050"/>
            <a:ext cx="5905500" cy="533400"/>
          </a:xfrm>
        </p:spPr>
        <p:txBody>
          <a:bodyPr wrap="square" rtlCol="0" lIns="0" tIns="0" rIns="0" bIns="0" anchor="t"/>
          <a:lstStyle/>
          <a:p>
            <a:pPr algn="l"/>
            <a:r>
              <a:rPr sz="3000" b="1">
                <a:solidFill>
                  <a:srgbClr val="12141A"/>
                </a:solidFill>
                <a:latin typeface="Segoe UI"/>
                <a:ea typeface="Segoe UI"/>
              </a:rPr>
              <a:t>Dependencies point inward</a:t>
            </a:r>
          </a:p>
        </p:txBody>
      </p:sp>
      <p:sp>
        <p:nvSpPr>
          <p:cNvPr id="5" name="TextBox 5">
            <a:extLst>
              <a:ext uri="{FF2B5EF4-FFF2-40B4-BE49-F238E27FC236}">
                <a16:creationId xmlns:a16="http://schemas.microsoft.com/office/drawing/2014/main" id="{2D685B4C-06F2-40BC-8E28-C164D51EE390}"/>
              </a:ext>
            </a:extLst>
          </p:cNvPr>
          <p:cNvSpPr txBox="1"/>
          <p:nvPr/>
        </p:nvSpPr>
        <p:spPr>
          <a:xfrm>
            <a:off x="6667500" y="857250"/>
            <a:ext cx="4000500" cy="731520"/>
          </a:xfrm>
        </p:spPr>
        <p:txBody>
          <a:bodyPr wrap="square" rtlCol="0" lIns="0" tIns="0" rIns="0" bIns="0" anchor="t"/>
          <a:lstStyle/>
          <a:p>
            <a:pPr algn="r"/>
            <a:r>
              <a:rPr sz="2400" b="1">
                <a:solidFill>
                  <a:srgbClr val="5A6675"/>
                </a:solidFill>
                <a:latin typeface="Segoe UI"/>
                <a:ea typeface="Segoe UI"/>
              </a:rPr>
              <a:t>التبعية تتجه للداخل فقط</a:t>
            </a:r>
          </a:p>
        </p:txBody>
      </p:sp>
      <p:sp>
        <p:nvSpPr>
          <p:cNvPr id="6" name="Shape 6">
            <a:extLst>
              <a:ext uri="{FF2B5EF4-FFF2-40B4-BE49-F238E27FC236}">
                <a16:creationId xmlns:a16="http://schemas.microsoft.com/office/drawing/2014/main" id="{7132D6EC-44D2-4637-997A-7E555BB15DA6}"/>
              </a:ext>
            </a:extLst>
          </p:cNvPr>
          <p:cNvSpPr/>
          <p:nvPr/>
        </p:nvSpPr>
        <p:spPr>
          <a:xfrm>
            <a:off x="952500" y="1809750"/>
            <a:ext cx="4381500" cy="1143000"/>
          </a:xfrm>
          <a:prstGeom prst="roundRect">
            <a:avLst/>
          </a:prstGeom>
          <a:solidFill>
            <a:srgbClr val="FFFFFF"/>
          </a:solidFill>
          <a:ln w="12700">
            <a:solidFill>
              <a:srgbClr val="E4E9F0"/>
            </a:solidFill>
          </a:ln>
        </p:spPr>
        <p:txBody>
          <a:bodyPr wrap="square" rtlCol="0"/>
          <a:lstStyle/>
          <a:p>
            <a:r>
              <a:rPr/>
              <a:t/>
            </a:r>
          </a:p>
        </p:txBody>
      </p:sp>
      <p:sp>
        <p:nvSpPr>
          <p:cNvPr id="7" name="Shape 7">
            <a:extLst>
              <a:ext uri="{FF2B5EF4-FFF2-40B4-BE49-F238E27FC236}">
                <a16:creationId xmlns:a16="http://schemas.microsoft.com/office/drawing/2014/main" id="{CCB14C10-1939-4C59-B2E4-8847314FB0F7}"/>
              </a:ext>
            </a:extLst>
          </p:cNvPr>
          <p:cNvSpPr/>
          <p:nvPr/>
        </p:nvSpPr>
        <p:spPr>
          <a:xfrm>
            <a:off x="952500" y="3238500"/>
            <a:ext cx="4381500" cy="1143000"/>
          </a:xfrm>
          <a:prstGeom prst="roundRect">
            <a:avLst/>
          </a:prstGeom>
          <a:solidFill>
            <a:srgbClr val="E6F8F0"/>
          </a:solidFill>
          <a:ln w="12700">
            <a:solidFill>
              <a:srgbClr val="CDEBDD"/>
            </a:solidFill>
          </a:ln>
        </p:spPr>
        <p:txBody>
          <a:bodyPr wrap="square" rtlCol="0"/>
          <a:lstStyle/>
          <a:p>
            <a:r>
              <a:rPr/>
              <a:t/>
            </a:r>
          </a:p>
        </p:txBody>
      </p:sp>
      <p:sp>
        <p:nvSpPr>
          <p:cNvPr id="8" name="Shape 8">
            <a:extLst>
              <a:ext uri="{FF2B5EF4-FFF2-40B4-BE49-F238E27FC236}">
                <a16:creationId xmlns:a16="http://schemas.microsoft.com/office/drawing/2014/main" id="{75A11873-9BE1-4EF3-AD86-3FB93156A4BD}"/>
              </a:ext>
            </a:extLst>
          </p:cNvPr>
          <p:cNvSpPr/>
          <p:nvPr/>
        </p:nvSpPr>
        <p:spPr>
          <a:xfrm>
            <a:off x="952500" y="4667250"/>
            <a:ext cx="4381500" cy="1143000"/>
          </a:xfrm>
          <a:prstGeom prst="roundRect">
            <a:avLst/>
          </a:prstGeom>
          <a:solidFill>
            <a:srgbClr val="FFFFFF"/>
          </a:solidFill>
          <a:ln w="12700">
            <a:solidFill>
              <a:srgbClr val="E4E9F0"/>
            </a:solidFill>
          </a:ln>
        </p:spPr>
        <p:txBody>
          <a:bodyPr wrap="square" rtlCol="0"/>
          <a:lstStyle/>
          <a:p>
            <a:r>
              <a:rPr/>
              <a:t/>
            </a:r>
          </a:p>
        </p:txBody>
      </p:sp>
      <p:sp>
        <p:nvSpPr>
          <p:cNvPr id="9" name="Shape 9">
            <a:extLst>
              <a:ext uri="{FF2B5EF4-FFF2-40B4-BE49-F238E27FC236}">
                <a16:creationId xmlns:a16="http://schemas.microsoft.com/office/drawing/2014/main" id="{05D06176-127C-4F4A-A5DC-52B6B0E19CB5}"/>
              </a:ext>
            </a:extLst>
          </p:cNvPr>
          <p:cNvSpPr/>
          <p:nvPr/>
        </p:nvSpPr>
        <p:spPr>
          <a:xfrm>
            <a:off x="952500" y="5905500"/>
            <a:ext cx="4381500" cy="400050"/>
          </a:xfrm>
          <a:prstGeom prst="roundRect">
            <a:avLst/>
          </a:prstGeom>
          <a:solidFill>
            <a:srgbClr val="F1F4F8"/>
          </a:solidFill>
          <a:ln w="12700">
            <a:solidFill>
              <a:srgbClr val="E4E9F0"/>
            </a:solidFill>
          </a:ln>
        </p:spPr>
        <p:txBody>
          <a:bodyPr wrap="square" rtlCol="0"/>
          <a:lstStyle/>
          <a:p>
            <a:r>
              <a:rPr/>
              <a:t/>
            </a:r>
          </a:p>
        </p:txBody>
      </p:sp>
      <p:sp>
        <p:nvSpPr>
          <p:cNvPr id="10" name="Shape 10">
            <a:extLst>
              <a:ext uri="{FF2B5EF4-FFF2-40B4-BE49-F238E27FC236}">
                <a16:creationId xmlns:a16="http://schemas.microsoft.com/office/drawing/2014/main" id="{EE902225-F68B-4462-A3B2-268FE62E9AB4}"/>
              </a:ext>
            </a:extLst>
          </p:cNvPr>
          <p:cNvSpPr/>
          <p:nvPr/>
        </p:nvSpPr>
        <p:spPr>
          <a:xfrm>
            <a:off x="2933700" y="2981325"/>
            <a:ext cx="419100" cy="247650"/>
          </a:xfrm>
          <a:prstGeom prst="downArrow">
            <a:avLst/>
          </a:prstGeom>
          <a:solidFill>
            <a:srgbClr val="00C16A"/>
          </a:solidFill>
        </p:spPr>
        <p:txBody>
          <a:bodyPr wrap="square" rtlCol="0"/>
          <a:lstStyle/>
          <a:p>
            <a:r>
              <a:rPr/>
              <a:t/>
            </a:r>
          </a:p>
        </p:txBody>
      </p:sp>
      <p:sp>
        <p:nvSpPr>
          <p:cNvPr id="11" name="Shape 11">
            <a:extLst>
              <a:ext uri="{FF2B5EF4-FFF2-40B4-BE49-F238E27FC236}">
                <a16:creationId xmlns:a16="http://schemas.microsoft.com/office/drawing/2014/main" id="{309499E2-63A2-40EC-9579-9893226B6063}"/>
              </a:ext>
            </a:extLst>
          </p:cNvPr>
          <p:cNvSpPr/>
          <p:nvPr/>
        </p:nvSpPr>
        <p:spPr>
          <a:xfrm>
            <a:off x="2933700" y="4410075"/>
            <a:ext cx="419100" cy="247650"/>
          </a:xfrm>
          <a:prstGeom prst="upArrow">
            <a:avLst/>
          </a:prstGeom>
          <a:solidFill>
            <a:srgbClr val="00C16A"/>
          </a:solidFill>
        </p:spPr>
        <p:txBody>
          <a:bodyPr wrap="square" rtlCol="0"/>
          <a:lstStyle/>
          <a:p>
            <a:r>
              <a:rPr/>
              <a:t/>
            </a:r>
          </a:p>
        </p:txBody>
      </p:sp>
      <p:sp>
        <p:nvSpPr>
          <p:cNvPr id="12" name="TextBox 12">
            <a:extLst>
              <a:ext uri="{FF2B5EF4-FFF2-40B4-BE49-F238E27FC236}">
                <a16:creationId xmlns:a16="http://schemas.microsoft.com/office/drawing/2014/main" id="{351668FE-935B-40C5-AF2C-89334F9E50D8}"/>
              </a:ext>
            </a:extLst>
          </p:cNvPr>
          <p:cNvSpPr txBox="1"/>
          <p:nvPr/>
        </p:nvSpPr>
        <p:spPr>
          <a:xfrm>
            <a:off x="1143000" y="1943100"/>
            <a:ext cx="4000500" cy="857250"/>
          </a:xfrm>
        </p:spPr>
        <p:txBody>
          <a:bodyPr wrap="square" rtlCol="0" lIns="0" tIns="0" rIns="0" bIns="0" anchor="t"/>
          <a:lstStyle/>
          <a:p>
            <a:pPr algn="l">
              <a:spcAft>
                <a:spcPts val="400"/>
              </a:spcAft>
            </a:pPr>
            <a:r>
              <a:rPr sz="1600" b="1">
                <a:solidFill>
                  <a:srgbClr val="12141A"/>
                </a:solidFill>
                <a:latin typeface="Segoe UI"/>
                <a:ea typeface="Segoe UI"/>
              </a:rPr>
              <a:t>Presentation</a:t>
            </a:r>
          </a:p>
          <a:p>
            <a:pPr algn="l">
              <a:spcAft>
                <a:spcPts val="600"/>
              </a:spcAft>
            </a:pPr>
            <a:r>
              <a:rPr sz="1300" b="1">
                <a:solidFill>
                  <a:srgbClr val="00A85A"/>
                </a:solidFill>
                <a:latin typeface="Segoe UI"/>
                <a:ea typeface="Segoe UI"/>
              </a:rPr>
              <a:t>طبقة العرض</a:t>
            </a:r>
          </a:p>
          <a:p>
            <a:pPr algn="l"/>
            <a:r>
              <a:rPr sz="1150">
                <a:solidFill>
                  <a:srgbClr val="5A6675"/>
                </a:solidFill>
                <a:latin typeface="Segoe UI"/>
                <a:ea typeface="Segoe UI"/>
              </a:rPr>
              <a:t>screens · blocs · widgets · extensions · router</a:t>
            </a:r>
          </a:p>
        </p:txBody>
      </p:sp>
      <p:sp>
        <p:nvSpPr>
          <p:cNvPr id="13" name="TextBox 13">
            <a:extLst>
              <a:ext uri="{FF2B5EF4-FFF2-40B4-BE49-F238E27FC236}">
                <a16:creationId xmlns:a16="http://schemas.microsoft.com/office/drawing/2014/main" id="{FF13B837-064D-4C9B-9600-8321B155A540}"/>
              </a:ext>
            </a:extLst>
          </p:cNvPr>
          <p:cNvSpPr txBox="1"/>
          <p:nvPr/>
        </p:nvSpPr>
        <p:spPr>
          <a:xfrm>
            <a:off x="1143000" y="3371850"/>
            <a:ext cx="4000500" cy="857250"/>
          </a:xfrm>
        </p:spPr>
        <p:txBody>
          <a:bodyPr wrap="square" rtlCol="0" lIns="0" tIns="0" rIns="0" bIns="0" anchor="t"/>
          <a:lstStyle/>
          <a:p>
            <a:pPr algn="l">
              <a:spcAft>
                <a:spcPts val="400"/>
              </a:spcAft>
            </a:pPr>
            <a:r>
              <a:rPr sz="1600" b="1">
                <a:solidFill>
                  <a:srgbClr val="12141A"/>
                </a:solidFill>
                <a:latin typeface="Segoe UI"/>
                <a:ea typeface="Segoe UI"/>
              </a:rPr>
              <a:t>Domain  ·  pure Dart</a:t>
            </a:r>
          </a:p>
          <a:p>
            <a:pPr algn="l">
              <a:spcAft>
                <a:spcPts val="600"/>
              </a:spcAft>
            </a:pPr>
            <a:r>
              <a:rPr sz="1300" b="1">
                <a:solidFill>
                  <a:srgbClr val="00A85A"/>
                </a:solidFill>
                <a:latin typeface="Segoe UI"/>
                <a:ea typeface="Segoe UI"/>
              </a:rPr>
              <a:t>طبقة المجال</a:t>
            </a:r>
          </a:p>
          <a:p>
            <a:pPr algn="l"/>
            <a:r>
              <a:rPr sz="1150">
                <a:solidFill>
                  <a:srgbClr val="3F6B57"/>
                </a:solidFill>
                <a:latin typeface="Segoe UI"/>
                <a:ea typeface="Segoe UI"/>
              </a:rPr>
              <a:t>entities · repository interfaces · use cases</a:t>
            </a:r>
          </a:p>
        </p:txBody>
      </p:sp>
      <p:sp>
        <p:nvSpPr>
          <p:cNvPr id="14" name="TextBox 14">
            <a:extLst>
              <a:ext uri="{FF2B5EF4-FFF2-40B4-BE49-F238E27FC236}">
                <a16:creationId xmlns:a16="http://schemas.microsoft.com/office/drawing/2014/main" id="{34858305-74B2-4D05-9A74-299732E5147E}"/>
              </a:ext>
            </a:extLst>
          </p:cNvPr>
          <p:cNvSpPr txBox="1"/>
          <p:nvPr/>
        </p:nvSpPr>
        <p:spPr>
          <a:xfrm>
            <a:off x="1143000" y="4800600"/>
            <a:ext cx="4000500" cy="857250"/>
          </a:xfrm>
        </p:spPr>
        <p:txBody>
          <a:bodyPr wrap="square" rtlCol="0" lIns="0" tIns="0" rIns="0" bIns="0" anchor="t"/>
          <a:lstStyle/>
          <a:p>
            <a:pPr algn="l">
              <a:spcAft>
                <a:spcPts val="400"/>
              </a:spcAft>
            </a:pPr>
            <a:r>
              <a:rPr sz="1600" b="1">
                <a:solidFill>
                  <a:srgbClr val="12141A"/>
                </a:solidFill>
                <a:latin typeface="Segoe UI"/>
                <a:ea typeface="Segoe UI"/>
              </a:rPr>
              <a:t>Data</a:t>
            </a:r>
          </a:p>
          <a:p>
            <a:pPr algn="l">
              <a:spcAft>
                <a:spcPts val="600"/>
              </a:spcAft>
            </a:pPr>
            <a:r>
              <a:rPr sz="1300" b="1">
                <a:solidFill>
                  <a:srgbClr val="00A85A"/>
                </a:solidFill>
                <a:latin typeface="Segoe UI"/>
                <a:ea typeface="Segoe UI"/>
              </a:rPr>
              <a:t>طبقة البيانات</a:t>
            </a:r>
          </a:p>
          <a:p>
            <a:pPr algn="l"/>
            <a:r>
              <a:rPr sz="1150">
                <a:solidFill>
                  <a:srgbClr val="5A6675"/>
                </a:solidFill>
                <a:latin typeface="Segoe UI"/>
                <a:ea typeface="Segoe UI"/>
              </a:rPr>
              <a:t>models · datasources · repositories · services</a:t>
            </a:r>
          </a:p>
        </p:txBody>
      </p:sp>
      <p:sp>
        <p:nvSpPr>
          <p:cNvPr id="15" name="TextBox 15">
            <a:extLst>
              <a:ext uri="{FF2B5EF4-FFF2-40B4-BE49-F238E27FC236}">
                <a16:creationId xmlns:a16="http://schemas.microsoft.com/office/drawing/2014/main" id="{2E836FA8-C382-4B3B-A47C-5E0C6337C826}"/>
              </a:ext>
            </a:extLst>
          </p:cNvPr>
          <p:cNvSpPr txBox="1"/>
          <p:nvPr/>
        </p:nvSpPr>
        <p:spPr>
          <a:xfrm>
            <a:off x="1143000" y="5981700"/>
            <a:ext cx="4000500" cy="285750"/>
          </a:xfrm>
        </p:spPr>
        <p:txBody>
          <a:bodyPr wrap="square" rtlCol="0" lIns="0" tIns="0" rIns="0" bIns="0" anchor="t"/>
          <a:lstStyle/>
          <a:p>
            <a:pPr algn="l"/>
            <a:r>
              <a:rPr sz="1150">
                <a:solidFill>
                  <a:srgbClr val="5A6675"/>
                </a:solidFill>
                <a:latin typeface="Segoe UI"/>
                <a:ea typeface="Segoe UI"/>
              </a:rPr>
              <a:t>Core  —  constants · error · network · theme · usecase · utils</a:t>
            </a:r>
          </a:p>
        </p:txBody>
      </p:sp>
      <p:sp>
        <p:nvSpPr>
          <p:cNvPr id="16" name="TextBox 16">
            <a:extLst>
              <a:ext uri="{FF2B5EF4-FFF2-40B4-BE49-F238E27FC236}">
                <a16:creationId xmlns:a16="http://schemas.microsoft.com/office/drawing/2014/main" id="{850E36D0-0823-43B5-A229-FD67C1A6AB52}"/>
              </a:ext>
            </a:extLst>
          </p:cNvPr>
          <p:cNvSpPr txBox="1"/>
          <p:nvPr/>
        </p:nvSpPr>
        <p:spPr>
          <a:xfrm>
            <a:off x="5905500" y="1809750"/>
            <a:ext cx="5334000" cy="304800"/>
          </a:xfrm>
        </p:spPr>
        <p:txBody>
          <a:bodyPr wrap="square" rtlCol="0" lIns="0" tIns="0" rIns="0" bIns="0" anchor="t"/>
          <a:lstStyle/>
          <a:p>
            <a:pPr algn="l"/>
            <a:r>
              <a:rPr sz="1600" b="1">
                <a:solidFill>
                  <a:srgbClr val="12141A"/>
                </a:solidFill>
                <a:latin typeface="Segoe UI"/>
                <a:ea typeface="Segoe UI"/>
              </a:rPr>
              <a:t>The rule, and what it buys</a:t>
            </a:r>
          </a:p>
        </p:txBody>
      </p:sp>
      <p:sp>
        <p:nvSpPr>
          <p:cNvPr id="17" name="TextBox 17">
            <a:extLst>
              <a:ext uri="{FF2B5EF4-FFF2-40B4-BE49-F238E27FC236}">
                <a16:creationId xmlns:a16="http://schemas.microsoft.com/office/drawing/2014/main" id="{5ADA3D12-46E2-419E-8775-EBD157C44A94}"/>
              </a:ext>
            </a:extLst>
          </p:cNvPr>
          <p:cNvSpPr txBox="1"/>
          <p:nvPr/>
        </p:nvSpPr>
        <p:spPr>
          <a:xfrm>
            <a:off x="5905500" y="2133600"/>
            <a:ext cx="5334000" cy="266700"/>
          </a:xfrm>
        </p:spPr>
        <p:txBody>
          <a:bodyPr wrap="square" rtlCol="0" lIns="0" tIns="0" rIns="0" bIns="0" anchor="t"/>
          <a:lstStyle/>
          <a:p>
            <a:pPr algn="r"/>
            <a:r>
              <a:rPr sz="1300" b="1">
                <a:solidFill>
                  <a:srgbClr val="00A85A"/>
                </a:solidFill>
                <a:latin typeface="Segoe UI"/>
                <a:ea typeface="Segoe UI"/>
              </a:rPr>
              <a:t>القاعدة وما تجلبه</a:t>
            </a:r>
          </a:p>
        </p:txBody>
      </p:sp>
      <p:sp>
        <p:nvSpPr>
          <p:cNvPr id="18" name="TextBox 18">
            <a:extLst>
              <a:ext uri="{FF2B5EF4-FFF2-40B4-BE49-F238E27FC236}">
                <a16:creationId xmlns:a16="http://schemas.microsoft.com/office/drawing/2014/main" id="{CA1AD3AB-EB35-44B2-89BE-80810189E26A}"/>
              </a:ext>
            </a:extLst>
          </p:cNvPr>
          <p:cNvSpPr txBox="1"/>
          <p:nvPr/>
        </p:nvSpPr>
        <p:spPr>
          <a:xfrm>
            <a:off x="5905500" y="2495550"/>
            <a:ext cx="5334000" cy="914400"/>
          </a:xfrm>
        </p:spPr>
        <p:txBody>
          <a:bodyPr wrap="square" rtlCol="0" lIns="0" tIns="0" rIns="0" bIns="0" anchor="t"/>
          <a:lstStyle/>
          <a:p>
            <a:pPr algn="l">
              <a:lnSpc>
                <a:spcPct val="132000"/>
              </a:lnSpc>
            </a:pPr>
            <a:r>
              <a:rPr sz="1300">
                <a:solidFill>
                  <a:srgbClr val="5A6675"/>
                </a:solidFill>
                <a:latin typeface="Segoe UI"/>
                <a:ea typeface="Segoe UI"/>
              </a:rPr>
              <a:t>The domain layer has no Flutter, Dio or Firebase import anywhere. That is why every use case is a plain Dart object, and why the whole business layer unit-tests in milliseconds with no widget tree at all.</a:t>
            </a:r>
          </a:p>
        </p:txBody>
      </p:sp>
      <p:sp>
        <p:nvSpPr>
          <p:cNvPr id="19" name="TextBox 19">
            <a:extLst>
              <a:ext uri="{FF2B5EF4-FFF2-40B4-BE49-F238E27FC236}">
                <a16:creationId xmlns:a16="http://schemas.microsoft.com/office/drawing/2014/main" id="{921B06F4-4233-4BC0-843C-5086475A2D22}"/>
              </a:ext>
            </a:extLst>
          </p:cNvPr>
          <p:cNvSpPr txBox="1"/>
          <p:nvPr/>
        </p:nvSpPr>
        <p:spPr>
          <a:xfrm>
            <a:off x="5905500" y="3467100"/>
            <a:ext cx="5334000" cy="800100"/>
          </a:xfrm>
        </p:spPr>
        <p:txBody>
          <a:bodyPr wrap="square" rtlCol="0" lIns="0" tIns="0" rIns="0" bIns="0" anchor="t"/>
          <a:lstStyle/>
          <a:p>
            <a:pPr algn="l">
              <a:lnSpc>
                <a:spcPct val="132000"/>
              </a:lnSpc>
            </a:pPr>
            <a:r>
              <a:rPr sz="1250">
                <a:solidFill>
                  <a:srgbClr val="7A8796"/>
                </a:solidFill>
                <a:latin typeface="Segoe UI"/>
                <a:ea typeface="Segoe UI"/>
              </a:rPr>
              <a:t>طبقة المجال لا تستورد شيئًا من Flutter أو Dio أو Firebase، ولهذا كل حالة استخدام هي كائن Dart عادي وتُختبر في أجزاء من الثانية دون شجرة واجهات.</a:t>
            </a:r>
          </a:p>
        </p:txBody>
      </p:sp>
      <p:sp>
        <p:nvSpPr>
          <p:cNvPr id="20" name="Shape 20">
            <a:extLst>
              <a:ext uri="{FF2B5EF4-FFF2-40B4-BE49-F238E27FC236}">
                <a16:creationId xmlns:a16="http://schemas.microsoft.com/office/drawing/2014/main" id="{53AA6A0C-6E84-44B3-9273-FDF063FCF0A4}"/>
              </a:ext>
            </a:extLst>
          </p:cNvPr>
          <p:cNvSpPr/>
          <p:nvPr/>
        </p:nvSpPr>
        <p:spPr>
          <a:xfrm>
            <a:off x="5905500" y="4381500"/>
            <a:ext cx="5334000" cy="1524000"/>
          </a:xfrm>
          <a:prstGeom prst="roundRect">
            <a:avLst/>
          </a:prstGeom>
          <a:solidFill>
            <a:srgbClr val="FFFFFF"/>
          </a:solidFill>
          <a:ln w="12700">
            <a:solidFill>
              <a:srgbClr val="E4E9F0"/>
            </a:solidFill>
          </a:ln>
        </p:spPr>
        <p:txBody>
          <a:bodyPr wrap="square" rtlCol="0"/>
          <a:lstStyle/>
          <a:p>
            <a:r>
              <a:rPr/>
              <a:t/>
            </a:r>
          </a:p>
        </p:txBody>
      </p:sp>
      <p:sp>
        <p:nvSpPr>
          <p:cNvPr id="21" name="TextBox 21">
            <a:extLst>
              <a:ext uri="{FF2B5EF4-FFF2-40B4-BE49-F238E27FC236}">
                <a16:creationId xmlns:a16="http://schemas.microsoft.com/office/drawing/2014/main" id="{2A8B41FA-1804-46A4-9695-94E20526151F}"/>
              </a:ext>
            </a:extLst>
          </p:cNvPr>
          <p:cNvSpPr txBox="1"/>
          <p:nvPr/>
        </p:nvSpPr>
        <p:spPr>
          <a:xfrm>
            <a:off x="6134100" y="4591050"/>
            <a:ext cx="4876800" cy="609600"/>
          </a:xfrm>
        </p:spPr>
        <p:txBody>
          <a:bodyPr wrap="square" rtlCol="0" lIns="0" tIns="0" rIns="0" bIns="0" anchor="t"/>
          <a:lstStyle/>
          <a:p>
            <a:pPr algn="l">
              <a:lnSpc>
                <a:spcPct val="132000"/>
              </a:lnSpc>
            </a:pPr>
            <a:r>
              <a:rPr sz="1250" b="1">
                <a:solidFill>
                  <a:srgbClr val="12141A"/>
                </a:solidFill>
                <a:latin typeface="Segoe UI"/>
                <a:ea typeface="Segoe UI"/>
              </a:rPr>
              <a:t>A use case is the only entry point the presentation layer has into the domain: Blocs and Cubits never talk to a repository directly.</a:t>
            </a:r>
          </a:p>
        </p:txBody>
      </p:sp>
      <p:sp>
        <p:nvSpPr>
          <p:cNvPr id="22" name="TextBox 22">
            <a:extLst>
              <a:ext uri="{FF2B5EF4-FFF2-40B4-BE49-F238E27FC236}">
                <a16:creationId xmlns:a16="http://schemas.microsoft.com/office/drawing/2014/main" id="{6F278785-2270-49E0-8F56-C0BF58188848}"/>
              </a:ext>
            </a:extLst>
          </p:cNvPr>
          <p:cNvSpPr txBox="1"/>
          <p:nvPr/>
        </p:nvSpPr>
        <p:spPr>
          <a:xfrm>
            <a:off x="6134100" y="5257800"/>
            <a:ext cx="4876800" cy="533400"/>
          </a:xfrm>
        </p:spPr>
        <p:txBody>
          <a:bodyPr wrap="square" rtlCol="0" lIns="0" tIns="0" rIns="0" bIns="0" anchor="t"/>
          <a:lstStyle/>
          <a:p>
            <a:pPr algn="l">
              <a:lnSpc>
                <a:spcPct val="132000"/>
              </a:lnSpc>
            </a:pPr>
            <a:r>
              <a:rPr sz="1200">
                <a:solidFill>
                  <a:srgbClr val="7A8796"/>
                </a:solidFill>
                <a:latin typeface="Segoe UI"/>
                <a:ea typeface="Segoe UI"/>
              </a:rPr>
              <a:t>حالة الاستخدام هي المدخل الوحيد من العرض إلى المجال، ولا تخاطب الـ Bloc أو الـ Cubit المستودع مباشرة.</a:t>
            </a:r>
          </a:p>
        </p:txBody>
      </p:sp>
      <p:sp>
        <p:nvSpPr>
          <p:cNvPr id="23" name="TextBox 23">
            <a:extLst>
              <a:ext uri="{FF2B5EF4-FFF2-40B4-BE49-F238E27FC236}">
                <a16:creationId xmlns:a16="http://schemas.microsoft.com/office/drawing/2014/main" id="{F3A15FBE-1F3B-4291-9445-E3544B0216CD}"/>
              </a:ext>
            </a:extLst>
          </p:cNvPr>
          <p:cNvSpPr txBox="1"/>
          <p:nvPr/>
        </p:nvSpPr>
        <p:spPr>
          <a:xfrm>
            <a:off x="762000" y="6515100"/>
            <a:ext cx="3810000" cy="209550"/>
          </a:xfrm>
        </p:spPr>
        <p:txBody>
          <a:bodyPr wrap="square" rtlCol="0" lIns="0" tIns="0" rIns="0" bIns="0" anchor="t"/>
          <a:lstStyle/>
          <a:p>
            <a:pPr algn="l"/>
            <a:r>
              <a:rPr sz="1000">
                <a:solidFill>
                  <a:srgbClr val="9AA5B1"/>
                </a:solidFill>
                <a:latin typeface="Segoe UI"/>
                <a:ea typeface="Segoe UI"/>
              </a:rPr>
              <a:t>StreetBite · Capstone report · 05</a:t>
            </a:r>
          </a:p>
        </p:txBody>
      </p:sp>
      <p:sp>
        <p:nvSpPr>
          <p:cNvPr id="24" name="TextBox 24">
            <a:extLst>
              <a:ext uri="{FF2B5EF4-FFF2-40B4-BE49-F238E27FC236}">
                <a16:creationId xmlns:a16="http://schemas.microsoft.com/office/drawing/2014/main" id="{CD892A99-7B40-4384-8904-F81F0AFFE422}"/>
              </a:ext>
            </a:extLst>
          </p:cNvPr>
          <p:cNvSpPr txBox="1"/>
          <p:nvPr/>
        </p:nvSpPr>
        <p:spPr>
          <a:xfrm>
            <a:off x="6667500" y="6515100"/>
            <a:ext cx="4000500" cy="209550"/>
          </a:xfrm>
        </p:spPr>
        <p:txBody>
          <a:bodyPr wrap="square" rtlCol="0" lIns="0" tIns="0" rIns="0" bIns="0" anchor="t"/>
          <a:lstStyle/>
          <a:p>
            <a:pPr algn="r"/>
            <a:r>
              <a:rPr sz="1000">
                <a:solidFill>
                  <a:srgbClr val="9AA5B1"/>
                </a:solidFill>
                <a:latin typeface="Segoe UI"/>
                <a:ea typeface="Segoe UI"/>
              </a:rPr>
              <a:t>presentation → domain ← data</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6F8FA"/>
        </a:solidFill>
        <a:effectLst/>
      </p:bgPr>
    </p:bg>
    <p:spTree>
      <p:nvGrpSpPr>
        <p:cNvPr id="1" name=""/>
        <p:cNvGrpSpPr/>
        <p:nvPr/>
      </p:nvGrpSpPr>
      <p:grpSpPr>
        <a:xfrm>
          <a:off x="0" y="0"/>
          <a:ext cx="0" cy="0"/>
          <a:chOff x="0" y="0"/>
          <a:chExt cx="0" cy="0"/>
        </a:xfrm>
      </p:grpSpPr>
      <p:sp>
        <p:nvSpPr>
          <p:cNvPr id="3" name="TextBox 3">
            <a:extLst>
              <a:ext uri="{FF2B5EF4-FFF2-40B4-BE49-F238E27FC236}">
                <a16:creationId xmlns:a16="http://schemas.microsoft.com/office/drawing/2014/main" id="{5056182C-0C4B-4AFD-8633-EBCA3C8D7DFF}"/>
              </a:ext>
            </a:extLst>
          </p:cNvPr>
          <p:cNvSpPr txBox="1"/>
          <p:nvPr/>
        </p:nvSpPr>
        <p:spPr>
          <a:xfrm>
            <a:off x="762000" y="533400"/>
            <a:ext cx="5715000" cy="209550"/>
          </a:xfrm>
        </p:spPr>
        <p:txBody>
          <a:bodyPr wrap="square" rtlCol="0" lIns="0" tIns="0" rIns="0" bIns="0" anchor="t"/>
          <a:lstStyle/>
          <a:p>
            <a:pPr algn="l"/>
            <a:r>
              <a:rPr sz="1100" b="1">
                <a:solidFill>
                  <a:srgbClr val="00C16A"/>
                </a:solidFill>
                <a:latin typeface="Segoe UI"/>
                <a:ea typeface="Segoe UI"/>
              </a:rPr>
              <a:t>05  ·  ERROR HANDLING</a:t>
            </a:r>
          </a:p>
        </p:txBody>
      </p:sp>
      <p:sp>
        <p:nvSpPr>
          <p:cNvPr id="4" name="TextBox 4">
            <a:extLst>
              <a:ext uri="{FF2B5EF4-FFF2-40B4-BE49-F238E27FC236}">
                <a16:creationId xmlns:a16="http://schemas.microsoft.com/office/drawing/2014/main" id="{66F3E49F-94D6-449D-AD71-5242874BC5DC}"/>
              </a:ext>
            </a:extLst>
          </p:cNvPr>
          <p:cNvSpPr txBox="1"/>
          <p:nvPr/>
        </p:nvSpPr>
        <p:spPr>
          <a:xfrm>
            <a:off x="762000" y="781050"/>
            <a:ext cx="5905500" cy="533400"/>
          </a:xfrm>
        </p:spPr>
        <p:txBody>
          <a:bodyPr wrap="square" rtlCol="0" lIns="0" tIns="0" rIns="0" bIns="0" anchor="t"/>
          <a:lstStyle/>
          <a:p>
            <a:pPr algn="l"/>
            <a:r>
              <a:rPr sz="3000" b="1">
                <a:solidFill>
                  <a:srgbClr val="12141A"/>
                </a:solidFill>
                <a:latin typeface="Segoe UI"/>
                <a:ea typeface="Segoe UI"/>
              </a:rPr>
              <a:t>No unhandled exceptions</a:t>
            </a:r>
          </a:p>
        </p:txBody>
      </p:sp>
      <p:sp>
        <p:nvSpPr>
          <p:cNvPr id="5" name="TextBox 5">
            <a:extLst>
              <a:ext uri="{FF2B5EF4-FFF2-40B4-BE49-F238E27FC236}">
                <a16:creationId xmlns:a16="http://schemas.microsoft.com/office/drawing/2014/main" id="{BED69DC4-1129-4772-8FB2-977427B4625E}"/>
              </a:ext>
            </a:extLst>
          </p:cNvPr>
          <p:cNvSpPr txBox="1"/>
          <p:nvPr/>
        </p:nvSpPr>
        <p:spPr>
          <a:xfrm>
            <a:off x="6667500" y="857250"/>
            <a:ext cx="4000500" cy="419100"/>
          </a:xfrm>
        </p:spPr>
        <p:txBody>
          <a:bodyPr wrap="square" rtlCol="0" lIns="0" tIns="0" rIns="0" bIns="0" anchor="t"/>
          <a:lstStyle/>
          <a:p>
            <a:pPr algn="r"/>
            <a:r>
              <a:rPr sz="2400" b="1">
                <a:solidFill>
                  <a:srgbClr val="5A6675"/>
                </a:solidFill>
                <a:latin typeface="Segoe UI"/>
                <a:ea typeface="Segoe UI"/>
              </a:rPr>
              <a:t>لا استثناءات بلا معالجة</a:t>
            </a:r>
          </a:p>
        </p:txBody>
      </p:sp>
      <p:sp>
        <p:nvSpPr>
          <p:cNvPr id="6" name="Shape 6">
            <a:extLst>
              <a:ext uri="{FF2B5EF4-FFF2-40B4-BE49-F238E27FC236}">
                <a16:creationId xmlns:a16="http://schemas.microsoft.com/office/drawing/2014/main" id="{E6E4AE1C-711D-4E01-A01B-4B1F14578E7E}"/>
              </a:ext>
            </a:extLst>
          </p:cNvPr>
          <p:cNvSpPr/>
          <p:nvPr/>
        </p:nvSpPr>
        <p:spPr>
          <a:xfrm>
            <a:off x="762000" y="1905000"/>
            <a:ext cx="2381250" cy="2667000"/>
          </a:xfrm>
          <a:prstGeom prst="roundRect">
            <a:avLst/>
          </a:prstGeom>
          <a:solidFill>
            <a:srgbClr val="FFFFFF"/>
          </a:solidFill>
          <a:ln w="12700">
            <a:solidFill>
              <a:srgbClr val="E4E9F0"/>
            </a:solidFill>
          </a:ln>
        </p:spPr>
        <p:txBody>
          <a:bodyPr wrap="square" rtlCol="0"/>
          <a:lstStyle/>
          <a:p>
            <a:r>
              <a:rPr/>
              <a:t/>
            </a:r>
          </a:p>
        </p:txBody>
      </p:sp>
      <p:sp>
        <p:nvSpPr>
          <p:cNvPr id="7" name="Shape 7">
            <a:extLst>
              <a:ext uri="{FF2B5EF4-FFF2-40B4-BE49-F238E27FC236}">
                <a16:creationId xmlns:a16="http://schemas.microsoft.com/office/drawing/2014/main" id="{2A96CDB2-3B55-4E83-9515-825F112BA7EE}"/>
              </a:ext>
            </a:extLst>
          </p:cNvPr>
          <p:cNvSpPr/>
          <p:nvPr/>
        </p:nvSpPr>
        <p:spPr>
          <a:xfrm>
            <a:off x="3524250" y="1905000"/>
            <a:ext cx="2381250" cy="2667000"/>
          </a:xfrm>
          <a:prstGeom prst="roundRect">
            <a:avLst/>
          </a:prstGeom>
          <a:solidFill>
            <a:srgbClr val="FFFFFF"/>
          </a:solidFill>
          <a:ln w="12700">
            <a:solidFill>
              <a:srgbClr val="E4E9F0"/>
            </a:solidFill>
          </a:ln>
        </p:spPr>
        <p:txBody>
          <a:bodyPr wrap="square" rtlCol="0"/>
          <a:lstStyle/>
          <a:p>
            <a:r>
              <a:rPr/>
              <a:t/>
            </a:r>
          </a:p>
        </p:txBody>
      </p:sp>
      <p:sp>
        <p:nvSpPr>
          <p:cNvPr id="8" name="Shape 8">
            <a:extLst>
              <a:ext uri="{FF2B5EF4-FFF2-40B4-BE49-F238E27FC236}">
                <a16:creationId xmlns:a16="http://schemas.microsoft.com/office/drawing/2014/main" id="{2ABFE9B9-2972-4265-9571-6D1742E104E4}"/>
              </a:ext>
            </a:extLst>
          </p:cNvPr>
          <p:cNvSpPr/>
          <p:nvPr/>
        </p:nvSpPr>
        <p:spPr>
          <a:xfrm>
            <a:off x="6286500" y="1905000"/>
            <a:ext cx="2381250" cy="2667000"/>
          </a:xfrm>
          <a:prstGeom prst="roundRect">
            <a:avLst/>
          </a:prstGeom>
          <a:solidFill>
            <a:srgbClr val="FFFFFF"/>
          </a:solidFill>
          <a:ln w="12700">
            <a:solidFill>
              <a:srgbClr val="E4E9F0"/>
            </a:solidFill>
          </a:ln>
        </p:spPr>
        <p:txBody>
          <a:bodyPr wrap="square" rtlCol="0"/>
          <a:lstStyle/>
          <a:p>
            <a:r>
              <a:rPr/>
              <a:t/>
            </a:r>
          </a:p>
        </p:txBody>
      </p:sp>
      <p:sp>
        <p:nvSpPr>
          <p:cNvPr id="9" name="Shape 9">
            <a:extLst>
              <a:ext uri="{FF2B5EF4-FFF2-40B4-BE49-F238E27FC236}">
                <a16:creationId xmlns:a16="http://schemas.microsoft.com/office/drawing/2014/main" id="{76A791C1-1E39-4053-AF2F-6AFA51C7A003}"/>
              </a:ext>
            </a:extLst>
          </p:cNvPr>
          <p:cNvSpPr/>
          <p:nvPr/>
        </p:nvSpPr>
        <p:spPr>
          <a:xfrm>
            <a:off x="9048750" y="1905000"/>
            <a:ext cx="2381250" cy="2667000"/>
          </a:xfrm>
          <a:prstGeom prst="roundRect">
            <a:avLst/>
          </a:prstGeom>
          <a:solidFill>
            <a:srgbClr val="FFFFFF"/>
          </a:solidFill>
          <a:ln w="12700">
            <a:solidFill>
              <a:srgbClr val="E4E9F0"/>
            </a:solidFill>
          </a:ln>
        </p:spPr>
        <p:txBody>
          <a:bodyPr wrap="square" rtlCol="0"/>
          <a:lstStyle/>
          <a:p>
            <a:r>
              <a:rPr/>
              <a:t/>
            </a:r>
          </a:p>
        </p:txBody>
      </p:sp>
      <p:sp>
        <p:nvSpPr>
          <p:cNvPr id="10" name="Shape 10">
            <a:extLst>
              <a:ext uri="{FF2B5EF4-FFF2-40B4-BE49-F238E27FC236}">
                <a16:creationId xmlns:a16="http://schemas.microsoft.com/office/drawing/2014/main" id="{42B5A2CF-C665-43B8-AC8F-A68F32A5EB68}"/>
              </a:ext>
            </a:extLst>
          </p:cNvPr>
          <p:cNvSpPr/>
          <p:nvPr/>
        </p:nvSpPr>
        <p:spPr>
          <a:xfrm>
            <a:off x="3143250" y="3124200"/>
            <a:ext cx="361950" cy="228600"/>
          </a:xfrm>
          <a:prstGeom prst="rightArrow">
            <a:avLst/>
          </a:prstGeom>
          <a:solidFill>
            <a:srgbClr val="00C16A"/>
          </a:solidFill>
        </p:spPr>
        <p:txBody>
          <a:bodyPr wrap="square" rtlCol="0"/>
          <a:lstStyle/>
          <a:p>
            <a:r>
              <a:rPr/>
              <a:t/>
            </a:r>
          </a:p>
        </p:txBody>
      </p:sp>
      <p:sp>
        <p:nvSpPr>
          <p:cNvPr id="11" name="Shape 11">
            <a:extLst>
              <a:ext uri="{FF2B5EF4-FFF2-40B4-BE49-F238E27FC236}">
                <a16:creationId xmlns:a16="http://schemas.microsoft.com/office/drawing/2014/main" id="{28910DEC-93B9-44F0-B0B9-A9EBE012A9AF}"/>
              </a:ext>
            </a:extLst>
          </p:cNvPr>
          <p:cNvSpPr/>
          <p:nvPr/>
        </p:nvSpPr>
        <p:spPr>
          <a:xfrm>
            <a:off x="5905500" y="3124200"/>
            <a:ext cx="361950" cy="228600"/>
          </a:xfrm>
          <a:prstGeom prst="rightArrow">
            <a:avLst/>
          </a:prstGeom>
          <a:solidFill>
            <a:srgbClr val="00C16A"/>
          </a:solidFill>
        </p:spPr>
        <p:txBody>
          <a:bodyPr wrap="square" rtlCol="0"/>
          <a:lstStyle/>
          <a:p>
            <a:r>
              <a:rPr/>
              <a:t/>
            </a:r>
          </a:p>
        </p:txBody>
      </p:sp>
      <p:sp>
        <p:nvSpPr>
          <p:cNvPr id="12" name="Shape 12">
            <a:extLst>
              <a:ext uri="{FF2B5EF4-FFF2-40B4-BE49-F238E27FC236}">
                <a16:creationId xmlns:a16="http://schemas.microsoft.com/office/drawing/2014/main" id="{F9A77130-601E-4E9E-9FFA-AA22DB370E21}"/>
              </a:ext>
            </a:extLst>
          </p:cNvPr>
          <p:cNvSpPr/>
          <p:nvPr/>
        </p:nvSpPr>
        <p:spPr>
          <a:xfrm>
            <a:off x="8667750" y="3124200"/>
            <a:ext cx="361950" cy="228600"/>
          </a:xfrm>
          <a:prstGeom prst="rightArrow">
            <a:avLst/>
          </a:prstGeom>
          <a:solidFill>
            <a:srgbClr val="00C16A"/>
          </a:solidFill>
        </p:spPr>
        <p:txBody>
          <a:bodyPr wrap="square" rtlCol="0"/>
          <a:lstStyle/>
          <a:p>
            <a:r>
              <a:rPr/>
              <a:t/>
            </a:r>
          </a:p>
        </p:txBody>
      </p:sp>
      <p:sp>
        <p:nvSpPr>
          <p:cNvPr id="13" name="TextBox 13">
            <a:extLst>
              <a:ext uri="{FF2B5EF4-FFF2-40B4-BE49-F238E27FC236}">
                <a16:creationId xmlns:a16="http://schemas.microsoft.com/office/drawing/2014/main" id="{771539EA-B8D8-491A-9944-8FF12D84EEF4}"/>
              </a:ext>
            </a:extLst>
          </p:cNvPr>
          <p:cNvSpPr txBox="1"/>
          <p:nvPr/>
        </p:nvSpPr>
        <p:spPr>
          <a:xfrm>
            <a:off x="952500" y="2114550"/>
            <a:ext cx="2000250" cy="1047750"/>
          </a:xfrm>
        </p:spPr>
        <p:txBody>
          <a:bodyPr wrap="square" rtlCol="0" lIns="0" tIns="0" rIns="0" bIns="0" anchor="t"/>
          <a:lstStyle/>
          <a:p>
            <a:pPr algn="l">
              <a:spcAft>
                <a:spcPts val="800"/>
              </a:spcAft>
            </a:pPr>
            <a:r>
              <a:rPr sz="1050" b="1">
                <a:solidFill>
                  <a:srgbClr val="00C16A"/>
                </a:solidFill>
                <a:latin typeface="Segoe UI"/>
                <a:ea typeface="Segoe UI"/>
              </a:rPr>
              <a:t>STEP 1</a:t>
            </a:r>
          </a:p>
          <a:p>
            <a:pPr algn="l">
              <a:spcAft>
                <a:spcPts val="800"/>
              </a:spcAft>
            </a:pPr>
            <a:r>
              <a:rPr sz="1500" b="1">
                <a:solidFill>
                  <a:srgbClr val="12141A"/>
                </a:solidFill>
                <a:latin typeface="Consolas"/>
                <a:ea typeface="Consolas"/>
              </a:rPr>
              <a:t>DioException</a:t>
            </a:r>
          </a:p>
          <a:p>
            <a:pPr algn="l"/>
            <a:r>
              <a:rPr sz="1250" b="1">
                <a:solidFill>
                  <a:srgbClr val="00A85A"/>
                </a:solidFill>
                <a:latin typeface="Segoe UI"/>
                <a:ea typeface="Segoe UI"/>
              </a:rPr>
              <a:t>خطأ الشبكة الخام</a:t>
            </a:r>
          </a:p>
        </p:txBody>
      </p:sp>
      <p:sp>
        <p:nvSpPr>
          <p:cNvPr id="14" name="TextBox 14">
            <a:extLst>
              <a:ext uri="{FF2B5EF4-FFF2-40B4-BE49-F238E27FC236}">
                <a16:creationId xmlns:a16="http://schemas.microsoft.com/office/drawing/2014/main" id="{D67353EA-1FE5-4702-92C5-CF0AB8AAD627}"/>
              </a:ext>
            </a:extLst>
          </p:cNvPr>
          <p:cNvSpPr txBox="1"/>
          <p:nvPr/>
        </p:nvSpPr>
        <p:spPr>
          <a:xfrm>
            <a:off x="952500" y="3200400"/>
            <a:ext cx="2000250" cy="1270508"/>
          </a:xfrm>
        </p:spPr>
        <p:txBody>
          <a:bodyPr wrap="square" rtlCol="0" lIns="0" tIns="0" rIns="0" bIns="0" anchor="t"/>
          <a:lstStyle/>
          <a:p>
            <a:pPr algn="l">
              <a:lnSpc>
                <a:spcPct val="130000"/>
              </a:lnSpc>
              <a:spcAft>
                <a:spcPts val="800"/>
              </a:spcAft>
            </a:pPr>
            <a:r>
              <a:rPr sz="1200">
                <a:solidFill>
                  <a:srgbClr val="5A6675"/>
                </a:solidFill>
                <a:latin typeface="Segoe UI"/>
                <a:ea typeface="Segoe UI"/>
              </a:rPr>
              <a:t>Every network failure is caught inside DioClient. Nothing throws past it.</a:t>
            </a:r>
          </a:p>
          <a:p>
            <a:pPr algn="l">
              <a:lnSpc>
                <a:spcPct val="130000"/>
              </a:lnSpc>
            </a:pPr>
            <a:r>
              <a:rPr sz="1150">
                <a:solidFill>
                  <a:srgbClr val="7A8796"/>
                </a:solidFill>
                <a:latin typeface="Segoe UI"/>
                <a:ea typeface="Segoe UI"/>
              </a:rPr>
              <a:t>كل خطأ شبكة يُلتقط داخل DioClient ولا يتجاوزه.</a:t>
            </a:r>
          </a:p>
        </p:txBody>
      </p:sp>
      <p:sp>
        <p:nvSpPr>
          <p:cNvPr id="15" name="TextBox 15">
            <a:extLst>
              <a:ext uri="{FF2B5EF4-FFF2-40B4-BE49-F238E27FC236}">
                <a16:creationId xmlns:a16="http://schemas.microsoft.com/office/drawing/2014/main" id="{746E36F2-7185-48E1-A312-6C85048B930E}"/>
              </a:ext>
            </a:extLst>
          </p:cNvPr>
          <p:cNvSpPr txBox="1"/>
          <p:nvPr/>
        </p:nvSpPr>
        <p:spPr>
          <a:xfrm>
            <a:off x="3714750" y="2114550"/>
            <a:ext cx="2000250" cy="1047750"/>
          </a:xfrm>
        </p:spPr>
        <p:txBody>
          <a:bodyPr wrap="square" rtlCol="0" lIns="0" tIns="0" rIns="0" bIns="0" anchor="t"/>
          <a:lstStyle/>
          <a:p>
            <a:pPr algn="l">
              <a:spcAft>
                <a:spcPts val="800"/>
              </a:spcAft>
            </a:pPr>
            <a:r>
              <a:rPr sz="1050" b="1">
                <a:solidFill>
                  <a:srgbClr val="00C16A"/>
                </a:solidFill>
                <a:latin typeface="Segoe UI"/>
                <a:ea typeface="Segoe UI"/>
              </a:rPr>
              <a:t>STEP 2</a:t>
            </a:r>
          </a:p>
          <a:p>
            <a:pPr algn="l">
              <a:spcAft>
                <a:spcPts val="800"/>
              </a:spcAft>
            </a:pPr>
            <a:r>
              <a:rPr sz="1500" b="1">
                <a:solidFill>
                  <a:srgbClr val="12141A"/>
                </a:solidFill>
                <a:latin typeface="Consolas"/>
                <a:ea typeface="Consolas"/>
              </a:rPr>
              <a:t>NetworkException</a:t>
            </a:r>
          </a:p>
          <a:p>
            <a:pPr algn="l"/>
            <a:r>
              <a:rPr sz="1250" b="1">
                <a:solidFill>
                  <a:srgbClr val="00A85A"/>
                </a:solidFill>
                <a:latin typeface="Segoe UI"/>
                <a:ea typeface="Segoe UI"/>
              </a:rPr>
              <a:t>استثناء نوعي</a:t>
            </a:r>
          </a:p>
        </p:txBody>
      </p:sp>
      <p:sp>
        <p:nvSpPr>
          <p:cNvPr id="16" name="TextBox 16">
            <a:extLst>
              <a:ext uri="{FF2B5EF4-FFF2-40B4-BE49-F238E27FC236}">
                <a16:creationId xmlns:a16="http://schemas.microsoft.com/office/drawing/2014/main" id="{8DA9C36E-939E-4780-90CD-9CBFF814C226}"/>
              </a:ext>
            </a:extLst>
          </p:cNvPr>
          <p:cNvSpPr txBox="1"/>
          <p:nvPr/>
        </p:nvSpPr>
        <p:spPr>
          <a:xfrm>
            <a:off x="3714750" y="3200400"/>
            <a:ext cx="2000250" cy="1270508"/>
          </a:xfrm>
        </p:spPr>
        <p:txBody>
          <a:bodyPr wrap="square" rtlCol="0" lIns="0" tIns="0" rIns="0" bIns="0" anchor="t"/>
          <a:lstStyle/>
          <a:p>
            <a:pPr algn="l">
              <a:lnSpc>
                <a:spcPct val="130000"/>
              </a:lnSpc>
              <a:spcAft>
                <a:spcPts val="800"/>
              </a:spcAft>
            </a:pPr>
            <a:r>
              <a:rPr sz="1200">
                <a:solidFill>
                  <a:srgbClr val="5A6675"/>
                </a:solidFill>
                <a:latin typeface="Segoe UI"/>
                <a:ea typeface="Segoe UI"/>
              </a:rPr>
              <a:t>Rebuilt as a typed exception the data layer can reason about.</a:t>
            </a:r>
          </a:p>
          <a:p>
            <a:pPr algn="l">
              <a:lnSpc>
                <a:spcPct val="130000"/>
              </a:lnSpc>
            </a:pPr>
            <a:r>
              <a:rPr sz="1150">
                <a:solidFill>
                  <a:srgbClr val="7A8796"/>
                </a:solidFill>
                <a:latin typeface="Segoe UI"/>
                <a:ea typeface="Segoe UI"/>
              </a:rPr>
              <a:t>يُعاد بناؤه كاستثناء نوعي تفهمه طبقة البيانات.</a:t>
            </a:r>
          </a:p>
        </p:txBody>
      </p:sp>
      <p:sp>
        <p:nvSpPr>
          <p:cNvPr id="17" name="TextBox 17">
            <a:extLst>
              <a:ext uri="{FF2B5EF4-FFF2-40B4-BE49-F238E27FC236}">
                <a16:creationId xmlns:a16="http://schemas.microsoft.com/office/drawing/2014/main" id="{C1B3E0EB-CDA7-4003-87D9-0AA837F21890}"/>
              </a:ext>
            </a:extLst>
          </p:cNvPr>
          <p:cNvSpPr txBox="1"/>
          <p:nvPr/>
        </p:nvSpPr>
        <p:spPr>
          <a:xfrm>
            <a:off x="6477000" y="2114550"/>
            <a:ext cx="2000250" cy="1047750"/>
          </a:xfrm>
        </p:spPr>
        <p:txBody>
          <a:bodyPr wrap="square" rtlCol="0" lIns="0" tIns="0" rIns="0" bIns="0" anchor="t"/>
          <a:lstStyle/>
          <a:p>
            <a:pPr algn="l">
              <a:spcAft>
                <a:spcPts val="800"/>
              </a:spcAft>
            </a:pPr>
            <a:r>
              <a:rPr sz="1050" b="1">
                <a:solidFill>
                  <a:srgbClr val="00C16A"/>
                </a:solidFill>
                <a:latin typeface="Segoe UI"/>
                <a:ea typeface="Segoe UI"/>
              </a:rPr>
              <a:t>STEP 3</a:t>
            </a:r>
          </a:p>
          <a:p>
            <a:pPr algn="l">
              <a:spcAft>
                <a:spcPts val="800"/>
              </a:spcAft>
            </a:pPr>
            <a:r>
              <a:rPr sz="1500" b="1">
                <a:solidFill>
                  <a:srgbClr val="12141A"/>
                </a:solidFill>
                <a:latin typeface="Consolas"/>
                <a:ea typeface="Consolas"/>
              </a:rPr>
              <a:t>Failure + key</a:t>
            </a:r>
          </a:p>
          <a:p>
            <a:pPr algn="l"/>
            <a:r>
              <a:rPr sz="1250" b="1">
                <a:solidFill>
                  <a:srgbClr val="00A85A"/>
                </a:solidFill>
                <a:latin typeface="Segoe UI"/>
                <a:ea typeface="Segoe UI"/>
              </a:rPr>
              <a:t>فشل بمفتاح ترجمة</a:t>
            </a:r>
          </a:p>
        </p:txBody>
      </p:sp>
      <p:sp>
        <p:nvSpPr>
          <p:cNvPr id="18" name="TextBox 18">
            <a:extLst>
              <a:ext uri="{FF2B5EF4-FFF2-40B4-BE49-F238E27FC236}">
                <a16:creationId xmlns:a16="http://schemas.microsoft.com/office/drawing/2014/main" id="{D2BEFC36-58CC-45E1-9A21-AEB183D2A9BA}"/>
              </a:ext>
            </a:extLst>
          </p:cNvPr>
          <p:cNvSpPr txBox="1"/>
          <p:nvPr/>
        </p:nvSpPr>
        <p:spPr>
          <a:xfrm>
            <a:off x="6477000" y="3200400"/>
            <a:ext cx="2000250" cy="1508252"/>
          </a:xfrm>
        </p:spPr>
        <p:txBody>
          <a:bodyPr wrap="square" rtlCol="0" lIns="0" tIns="0" rIns="0" bIns="0" anchor="t"/>
          <a:lstStyle/>
          <a:p>
            <a:pPr algn="l">
              <a:lnSpc>
                <a:spcPct val="130000"/>
              </a:lnSpc>
              <a:spcAft>
                <a:spcPts val="800"/>
              </a:spcAft>
            </a:pPr>
            <a:r>
              <a:rPr sz="1200">
                <a:solidFill>
                  <a:srgbClr val="5A6675"/>
                </a:solidFill>
                <a:latin typeface="Segoe UI"/>
                <a:ea typeface="Segoe UI"/>
              </a:rPr>
              <a:t>Repositories return Either&lt;Failure, T&gt;. The Failure carries an ARB key, never a sentence.</a:t>
            </a:r>
          </a:p>
          <a:p>
            <a:pPr algn="l">
              <a:lnSpc>
                <a:spcPct val="130000"/>
              </a:lnSpc>
            </a:pPr>
            <a:r>
              <a:rPr sz="1150">
                <a:solidFill>
                  <a:srgbClr val="7A8796"/>
                </a:solidFill>
                <a:latin typeface="Segoe UI"/>
                <a:ea typeface="Segoe UI"/>
              </a:rPr>
              <a:t>المستودعات تُعيد فشلًا يحمل مفتاحًا لا جملة.</a:t>
            </a:r>
          </a:p>
        </p:txBody>
      </p:sp>
      <p:sp>
        <p:nvSpPr>
          <p:cNvPr id="19" name="TextBox 19">
            <a:extLst>
              <a:ext uri="{FF2B5EF4-FFF2-40B4-BE49-F238E27FC236}">
                <a16:creationId xmlns:a16="http://schemas.microsoft.com/office/drawing/2014/main" id="{0E2BC865-6011-4567-9953-F4BBD0004330}"/>
              </a:ext>
            </a:extLst>
          </p:cNvPr>
          <p:cNvSpPr txBox="1"/>
          <p:nvPr/>
        </p:nvSpPr>
        <p:spPr>
          <a:xfrm>
            <a:off x="9239250" y="2114550"/>
            <a:ext cx="2000250" cy="1047750"/>
          </a:xfrm>
        </p:spPr>
        <p:txBody>
          <a:bodyPr wrap="square" rtlCol="0" lIns="0" tIns="0" rIns="0" bIns="0" anchor="t"/>
          <a:lstStyle/>
          <a:p>
            <a:pPr algn="l">
              <a:spcAft>
                <a:spcPts val="800"/>
              </a:spcAft>
            </a:pPr>
            <a:r>
              <a:rPr sz="1050" b="1">
                <a:solidFill>
                  <a:srgbClr val="00C16A"/>
                </a:solidFill>
                <a:latin typeface="Segoe UI"/>
                <a:ea typeface="Segoe UI"/>
              </a:rPr>
              <a:t>STEP 4</a:t>
            </a:r>
          </a:p>
          <a:p>
            <a:pPr algn="l">
              <a:spcAft>
                <a:spcPts val="800"/>
              </a:spcAft>
            </a:pPr>
            <a:r>
              <a:rPr sz="1500" b="1">
                <a:solidFill>
                  <a:srgbClr val="12141A"/>
                </a:solidFill>
                <a:latin typeface="Consolas"/>
                <a:ea typeface="Consolas"/>
              </a:rPr>
              <a:t>context.trKey()</a:t>
            </a:r>
          </a:p>
          <a:p>
            <a:pPr algn="l"/>
            <a:r>
              <a:rPr sz="1250" b="1">
                <a:solidFill>
                  <a:srgbClr val="00A85A"/>
                </a:solidFill>
                <a:latin typeface="Segoe UI"/>
                <a:ea typeface="Segoe UI"/>
              </a:rPr>
              <a:t>الجملة بلغة المستخدم</a:t>
            </a:r>
          </a:p>
        </p:txBody>
      </p:sp>
      <p:sp>
        <p:nvSpPr>
          <p:cNvPr id="20" name="TextBox 20">
            <a:extLst>
              <a:ext uri="{FF2B5EF4-FFF2-40B4-BE49-F238E27FC236}">
                <a16:creationId xmlns:a16="http://schemas.microsoft.com/office/drawing/2014/main" id="{24D771CE-CD3E-4B7D-A011-F5B5986A8553}"/>
              </a:ext>
            </a:extLst>
          </p:cNvPr>
          <p:cNvSpPr txBox="1"/>
          <p:nvPr/>
        </p:nvSpPr>
        <p:spPr>
          <a:xfrm>
            <a:off x="9239250" y="3200400"/>
            <a:ext cx="2000250" cy="1508252"/>
          </a:xfrm>
        </p:spPr>
        <p:txBody>
          <a:bodyPr wrap="square" rtlCol="0" lIns="0" tIns="0" rIns="0" bIns="0" anchor="t"/>
          <a:lstStyle/>
          <a:p>
            <a:pPr algn="l">
              <a:lnSpc>
                <a:spcPct val="130000"/>
              </a:lnSpc>
              <a:spcAft>
                <a:spcPts val="800"/>
              </a:spcAft>
            </a:pPr>
            <a:r>
              <a:rPr sz="1200">
                <a:solidFill>
                  <a:srgbClr val="5A6675"/>
                </a:solidFill>
                <a:latin typeface="Segoe UI"/>
                <a:ea typeface="Segoe UI"/>
              </a:rPr>
              <a:t>The UI resolves the key into the active locale at paint time, so a retry reads back in Arabic or English.</a:t>
            </a:r>
          </a:p>
          <a:p>
            <a:pPr algn="l">
              <a:lnSpc>
                <a:spcPct val="130000"/>
              </a:lnSpc>
            </a:pPr>
            <a:r>
              <a:rPr sz="1150">
                <a:solidFill>
                  <a:srgbClr val="7A8796"/>
                </a:solidFill>
                <a:latin typeface="Segoe UI"/>
                <a:ea typeface="Segoe UI"/>
              </a:rPr>
              <a:t>الواجهة تحلّ المفتاح إلى اللغة الفعّالة عند الرسم.</a:t>
            </a:r>
          </a:p>
        </p:txBody>
      </p:sp>
      <p:sp>
        <p:nvSpPr>
          <p:cNvPr id="21" name="Shape 21">
            <a:extLst>
              <a:ext uri="{FF2B5EF4-FFF2-40B4-BE49-F238E27FC236}">
                <a16:creationId xmlns:a16="http://schemas.microsoft.com/office/drawing/2014/main" id="{D8A63A7D-F028-4F78-9AFF-3E61150E1BDD}"/>
              </a:ext>
            </a:extLst>
          </p:cNvPr>
          <p:cNvSpPr/>
          <p:nvPr/>
        </p:nvSpPr>
        <p:spPr>
          <a:xfrm>
            <a:off x="762000" y="5048250"/>
            <a:ext cx="10668000" cy="1047750"/>
          </a:xfrm>
          <a:prstGeom prst="roundRect">
            <a:avLst/>
          </a:prstGeom>
          <a:solidFill>
            <a:srgbClr val="080D18"/>
          </a:solidFill>
        </p:spPr>
        <p:txBody>
          <a:bodyPr wrap="square" rtlCol="0"/>
          <a:lstStyle/>
          <a:p>
            <a:r>
              <a:rPr/>
              <a:t/>
            </a:r>
          </a:p>
        </p:txBody>
      </p:sp>
      <p:sp>
        <p:nvSpPr>
          <p:cNvPr id="22" name="TextBox 22">
            <a:extLst>
              <a:ext uri="{FF2B5EF4-FFF2-40B4-BE49-F238E27FC236}">
                <a16:creationId xmlns:a16="http://schemas.microsoft.com/office/drawing/2014/main" id="{544A36F7-4283-44AD-B89C-E56B25531555}"/>
              </a:ext>
            </a:extLst>
          </p:cNvPr>
          <p:cNvSpPr txBox="1"/>
          <p:nvPr/>
        </p:nvSpPr>
        <p:spPr>
          <a:xfrm>
            <a:off x="990600" y="5238750"/>
            <a:ext cx="10210800" cy="396240"/>
          </a:xfrm>
        </p:spPr>
        <p:txBody>
          <a:bodyPr wrap="square" rtlCol="0" lIns="0" tIns="0" rIns="0" bIns="0" anchor="t"/>
          <a:lstStyle/>
          <a:p>
            <a:pPr algn="l"/>
            <a:r>
              <a:rPr sz="1300">
                <a:solidFill>
                  <a:srgbClr val="FFFFFF"/>
                </a:solidFill>
                <a:latin typeface="Segoe UI"/>
                <a:ea typeface="Segoe UI"/>
              </a:rPr>
              <a:t>Because the result is a sealed Either&lt;Failure, T&gt;, the compiler forces every call site to handle the failure branch. The guarantee is structural, not aspirational.</a:t>
            </a:r>
          </a:p>
        </p:txBody>
      </p:sp>
      <p:sp>
        <p:nvSpPr>
          <p:cNvPr id="23" name="TextBox 23">
            <a:extLst>
              <a:ext uri="{FF2B5EF4-FFF2-40B4-BE49-F238E27FC236}">
                <a16:creationId xmlns:a16="http://schemas.microsoft.com/office/drawing/2014/main" id="{0C8CEE15-B6E3-45C9-94EA-5D676F3BF7BF}"/>
              </a:ext>
            </a:extLst>
          </p:cNvPr>
          <p:cNvSpPr txBox="1"/>
          <p:nvPr/>
        </p:nvSpPr>
        <p:spPr>
          <a:xfrm>
            <a:off x="990600" y="5638800"/>
            <a:ext cx="10210800" cy="285750"/>
          </a:xfrm>
        </p:spPr>
        <p:txBody>
          <a:bodyPr wrap="square" rtlCol="0" lIns="0" tIns="0" rIns="0" bIns="0" anchor="t"/>
          <a:lstStyle/>
          <a:p>
            <a:pPr algn="l"/>
            <a:r>
              <a:rPr sz="1200">
                <a:solidFill>
                  <a:srgbClr val="9DAABF"/>
                </a:solidFill>
                <a:latin typeface="Segoe UI"/>
                <a:ea typeface="Segoe UI"/>
              </a:rPr>
              <a:t>لأن النتيجة Either مغلقة، يُجبر المُترجِم كل موضع على معالجة الفشل — الضمان بنيوي وليس مجرد قصد.</a:t>
            </a:r>
          </a:p>
        </p:txBody>
      </p:sp>
      <p:sp>
        <p:nvSpPr>
          <p:cNvPr id="24" name="TextBox 24">
            <a:extLst>
              <a:ext uri="{FF2B5EF4-FFF2-40B4-BE49-F238E27FC236}">
                <a16:creationId xmlns:a16="http://schemas.microsoft.com/office/drawing/2014/main" id="{E0AFBC72-500C-433B-ACF6-D03DE097008B}"/>
              </a:ext>
            </a:extLst>
          </p:cNvPr>
          <p:cNvSpPr txBox="1"/>
          <p:nvPr/>
        </p:nvSpPr>
        <p:spPr>
          <a:xfrm>
            <a:off x="762000" y="6515100"/>
            <a:ext cx="3810000" cy="209550"/>
          </a:xfrm>
        </p:spPr>
        <p:txBody>
          <a:bodyPr wrap="square" rtlCol="0" lIns="0" tIns="0" rIns="0" bIns="0" anchor="t"/>
          <a:lstStyle/>
          <a:p>
            <a:pPr algn="l"/>
            <a:r>
              <a:rPr sz="1000">
                <a:solidFill>
                  <a:srgbClr val="9AA5B1"/>
                </a:solidFill>
                <a:latin typeface="Segoe UI"/>
                <a:ea typeface="Segoe UI"/>
              </a:rPr>
              <a:t>StreetBite · Capstone report · 06</a:t>
            </a:r>
          </a:p>
        </p:txBody>
      </p:sp>
      <p:sp>
        <p:nvSpPr>
          <p:cNvPr id="25" name="TextBox 25">
            <a:extLst>
              <a:ext uri="{FF2B5EF4-FFF2-40B4-BE49-F238E27FC236}">
                <a16:creationId xmlns:a16="http://schemas.microsoft.com/office/drawing/2014/main" id="{719D29C6-EBC0-4821-8422-E97F662D6CE4}"/>
              </a:ext>
            </a:extLst>
          </p:cNvPr>
          <p:cNvSpPr txBox="1"/>
          <p:nvPr/>
        </p:nvSpPr>
        <p:spPr>
          <a:xfrm>
            <a:off x="6667500" y="6515100"/>
            <a:ext cx="4000500" cy="209550"/>
          </a:xfrm>
        </p:spPr>
        <p:txBody>
          <a:bodyPr wrap="square" rtlCol="0" lIns="0" tIns="0" rIns="0" bIns="0" anchor="t"/>
          <a:lstStyle/>
          <a:p>
            <a:pPr algn="r"/>
            <a:r>
              <a:rPr sz="1000">
                <a:solidFill>
                  <a:srgbClr val="9AA5B1"/>
                </a:solidFill>
                <a:latin typeface="Segoe UI"/>
                <a:ea typeface="Segoe UI"/>
              </a:rPr>
              <a:t>DioClient · Failure · trKey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6F8FA"/>
        </a:solidFill>
        <a:effectLst/>
      </p:bgPr>
    </p:bg>
    <p:spTree>
      <p:nvGrpSpPr>
        <p:cNvPr id="1" name=""/>
        <p:cNvGrpSpPr/>
        <p:nvPr/>
      </p:nvGrpSpPr>
      <p:grpSpPr>
        <a:xfrm>
          <a:off x="0" y="0"/>
          <a:ext cx="0" cy="0"/>
          <a:chOff x="0" y="0"/>
          <a:chExt cx="0" cy="0"/>
        </a:xfrm>
      </p:grpSpPr>
      <p:sp>
        <p:nvSpPr>
          <p:cNvPr id="3" name="TextBox 3">
            <a:extLst>
              <a:ext uri="{FF2B5EF4-FFF2-40B4-BE49-F238E27FC236}">
                <a16:creationId xmlns:a16="http://schemas.microsoft.com/office/drawing/2014/main" id="{7C5540CE-176C-437C-852C-DA89F823AD52}"/>
              </a:ext>
            </a:extLst>
          </p:cNvPr>
          <p:cNvSpPr txBox="1"/>
          <p:nvPr/>
        </p:nvSpPr>
        <p:spPr>
          <a:xfrm>
            <a:off x="762000" y="533400"/>
            <a:ext cx="5715000" cy="209550"/>
          </a:xfrm>
        </p:spPr>
        <p:txBody>
          <a:bodyPr wrap="square" rtlCol="0" lIns="0" tIns="0" rIns="0" bIns="0" anchor="t"/>
          <a:lstStyle/>
          <a:p>
            <a:pPr algn="l"/>
            <a:r>
              <a:rPr sz="1100" b="1">
                <a:solidFill>
                  <a:srgbClr val="00C16A"/>
                </a:solidFill>
                <a:latin typeface="Segoe UI"/>
                <a:ea typeface="Segoe UI"/>
              </a:rPr>
              <a:t>06  ·  DESIGN PATTERNS</a:t>
            </a:r>
          </a:p>
        </p:txBody>
      </p:sp>
      <p:sp>
        <p:nvSpPr>
          <p:cNvPr id="4" name="TextBox 4">
            <a:extLst>
              <a:ext uri="{FF2B5EF4-FFF2-40B4-BE49-F238E27FC236}">
                <a16:creationId xmlns:a16="http://schemas.microsoft.com/office/drawing/2014/main" id="{F14705A1-B1DE-41CD-87AF-7DFB56B4FA9F}"/>
              </a:ext>
            </a:extLst>
          </p:cNvPr>
          <p:cNvSpPr txBox="1"/>
          <p:nvPr/>
        </p:nvSpPr>
        <p:spPr>
          <a:xfrm>
            <a:off x="762000" y="781050"/>
            <a:ext cx="6286500" cy="533400"/>
          </a:xfrm>
        </p:spPr>
        <p:txBody>
          <a:bodyPr wrap="square" rtlCol="0" lIns="0" tIns="0" rIns="0" bIns="0" anchor="t"/>
          <a:lstStyle/>
          <a:p>
            <a:pPr algn="l"/>
            <a:r>
              <a:rPr sz="3000" b="1">
                <a:solidFill>
                  <a:srgbClr val="12141A"/>
                </a:solidFill>
                <a:latin typeface="Segoe UI"/>
                <a:ea typeface="Segoe UI"/>
              </a:rPr>
              <a:t>Patterns, and where they live</a:t>
            </a:r>
          </a:p>
        </p:txBody>
      </p:sp>
      <p:sp>
        <p:nvSpPr>
          <p:cNvPr id="5" name="TextBox 5">
            <a:extLst>
              <a:ext uri="{FF2B5EF4-FFF2-40B4-BE49-F238E27FC236}">
                <a16:creationId xmlns:a16="http://schemas.microsoft.com/office/drawing/2014/main" id="{0224802E-9F0B-40F5-B07F-70326E0C2C37}"/>
              </a:ext>
            </a:extLst>
          </p:cNvPr>
          <p:cNvSpPr txBox="1"/>
          <p:nvPr/>
        </p:nvSpPr>
        <p:spPr>
          <a:xfrm>
            <a:off x="7429500" y="857250"/>
            <a:ext cx="4000500" cy="731520"/>
          </a:xfrm>
        </p:spPr>
        <p:txBody>
          <a:bodyPr wrap="square" rtlCol="0" lIns="0" tIns="0" rIns="0" bIns="0" anchor="t"/>
          <a:lstStyle/>
          <a:p>
            <a:pPr algn="r"/>
            <a:r>
              <a:rPr sz="2400" b="1">
                <a:solidFill>
                  <a:srgbClr val="5A6675"/>
                </a:solidFill>
                <a:latin typeface="Segoe UI"/>
                <a:ea typeface="Segoe UI"/>
              </a:rPr>
              <a:t>الأنماط ومواضعها في الكود</a:t>
            </a:r>
          </a:p>
        </p:txBody>
      </p:sp>
      <p:sp>
        <p:nvSpPr>
          <p:cNvPr id="6" name="Shape 6">
            <a:extLst>
              <a:ext uri="{FF2B5EF4-FFF2-40B4-BE49-F238E27FC236}">
                <a16:creationId xmlns:a16="http://schemas.microsoft.com/office/drawing/2014/main" id="{F6909FBB-8F8F-4983-BA61-E2ACAB46C620}"/>
              </a:ext>
            </a:extLst>
          </p:cNvPr>
          <p:cNvSpPr/>
          <p:nvPr/>
        </p:nvSpPr>
        <p:spPr>
          <a:xfrm>
            <a:off x="762000" y="1714500"/>
            <a:ext cx="10668000" cy="495300"/>
          </a:xfrm>
          <a:prstGeom prst="roundRect">
            <a:avLst/>
          </a:prstGeom>
          <a:solidFill>
            <a:srgbClr val="FFFFFF"/>
          </a:solidFill>
          <a:ln w="12700">
            <a:solidFill>
              <a:srgbClr val="E4E9F0"/>
            </a:solidFill>
          </a:ln>
        </p:spPr>
        <p:txBody>
          <a:bodyPr wrap="square" rtlCol="0"/>
          <a:lstStyle/>
          <a:p>
            <a:r>
              <a:rPr/>
              <a:t/>
            </a:r>
          </a:p>
        </p:txBody>
      </p:sp>
      <p:sp>
        <p:nvSpPr>
          <p:cNvPr id="7" name="Shape 7">
            <a:extLst>
              <a:ext uri="{FF2B5EF4-FFF2-40B4-BE49-F238E27FC236}">
                <a16:creationId xmlns:a16="http://schemas.microsoft.com/office/drawing/2014/main" id="{CA60B3C9-7093-452E-B476-614A3202B40E}"/>
              </a:ext>
            </a:extLst>
          </p:cNvPr>
          <p:cNvSpPr/>
          <p:nvPr/>
        </p:nvSpPr>
        <p:spPr>
          <a:xfrm>
            <a:off x="762000" y="2266950"/>
            <a:ext cx="10668000" cy="495300"/>
          </a:xfrm>
          <a:prstGeom prst="roundRect">
            <a:avLst/>
          </a:prstGeom>
          <a:solidFill>
            <a:srgbClr val="FFFFFF"/>
          </a:solidFill>
          <a:ln w="12700">
            <a:solidFill>
              <a:srgbClr val="E4E9F0"/>
            </a:solidFill>
          </a:ln>
        </p:spPr>
        <p:txBody>
          <a:bodyPr wrap="square" rtlCol="0"/>
          <a:lstStyle/>
          <a:p>
            <a:r>
              <a:rPr/>
              <a:t/>
            </a:r>
          </a:p>
        </p:txBody>
      </p:sp>
      <p:sp>
        <p:nvSpPr>
          <p:cNvPr id="8" name="Shape 8">
            <a:extLst>
              <a:ext uri="{FF2B5EF4-FFF2-40B4-BE49-F238E27FC236}">
                <a16:creationId xmlns:a16="http://schemas.microsoft.com/office/drawing/2014/main" id="{9F6FEE6B-1BA8-4969-890F-4CD1E29C7D4D}"/>
              </a:ext>
            </a:extLst>
          </p:cNvPr>
          <p:cNvSpPr/>
          <p:nvPr/>
        </p:nvSpPr>
        <p:spPr>
          <a:xfrm>
            <a:off x="762000" y="2819400"/>
            <a:ext cx="10668000" cy="495300"/>
          </a:xfrm>
          <a:prstGeom prst="roundRect">
            <a:avLst/>
          </a:prstGeom>
          <a:solidFill>
            <a:srgbClr val="FFFFFF"/>
          </a:solidFill>
          <a:ln w="12700">
            <a:solidFill>
              <a:srgbClr val="E4E9F0"/>
            </a:solidFill>
          </a:ln>
        </p:spPr>
        <p:txBody>
          <a:bodyPr wrap="square" rtlCol="0"/>
          <a:lstStyle/>
          <a:p>
            <a:r>
              <a:rPr/>
              <a:t/>
            </a:r>
          </a:p>
        </p:txBody>
      </p:sp>
      <p:sp>
        <p:nvSpPr>
          <p:cNvPr id="9" name="Shape 9">
            <a:extLst>
              <a:ext uri="{FF2B5EF4-FFF2-40B4-BE49-F238E27FC236}">
                <a16:creationId xmlns:a16="http://schemas.microsoft.com/office/drawing/2014/main" id="{CA6C1E02-1005-4679-A452-8345AED9507A}"/>
              </a:ext>
            </a:extLst>
          </p:cNvPr>
          <p:cNvSpPr/>
          <p:nvPr/>
        </p:nvSpPr>
        <p:spPr>
          <a:xfrm>
            <a:off x="762000" y="3371850"/>
            <a:ext cx="10668000" cy="495300"/>
          </a:xfrm>
          <a:prstGeom prst="roundRect">
            <a:avLst/>
          </a:prstGeom>
          <a:solidFill>
            <a:srgbClr val="FFFFFF"/>
          </a:solidFill>
          <a:ln w="12700">
            <a:solidFill>
              <a:srgbClr val="E4E9F0"/>
            </a:solidFill>
          </a:ln>
        </p:spPr>
        <p:txBody>
          <a:bodyPr wrap="square" rtlCol="0"/>
          <a:lstStyle/>
          <a:p>
            <a:r>
              <a:rPr/>
              <a:t/>
            </a:r>
          </a:p>
        </p:txBody>
      </p:sp>
      <p:sp>
        <p:nvSpPr>
          <p:cNvPr id="10" name="Shape 10">
            <a:extLst>
              <a:ext uri="{FF2B5EF4-FFF2-40B4-BE49-F238E27FC236}">
                <a16:creationId xmlns:a16="http://schemas.microsoft.com/office/drawing/2014/main" id="{5678A320-291D-44F5-B19C-3D9E5EEB74BE}"/>
              </a:ext>
            </a:extLst>
          </p:cNvPr>
          <p:cNvSpPr/>
          <p:nvPr/>
        </p:nvSpPr>
        <p:spPr>
          <a:xfrm>
            <a:off x="762000" y="3924300"/>
            <a:ext cx="10668000" cy="495300"/>
          </a:xfrm>
          <a:prstGeom prst="roundRect">
            <a:avLst/>
          </a:prstGeom>
          <a:solidFill>
            <a:srgbClr val="FFFFFF"/>
          </a:solidFill>
          <a:ln w="12700">
            <a:solidFill>
              <a:srgbClr val="E4E9F0"/>
            </a:solidFill>
          </a:ln>
        </p:spPr>
        <p:txBody>
          <a:bodyPr wrap="square" rtlCol="0"/>
          <a:lstStyle/>
          <a:p>
            <a:r>
              <a:rPr/>
              <a:t/>
            </a:r>
          </a:p>
        </p:txBody>
      </p:sp>
      <p:sp>
        <p:nvSpPr>
          <p:cNvPr id="11" name="Shape 11">
            <a:extLst>
              <a:ext uri="{FF2B5EF4-FFF2-40B4-BE49-F238E27FC236}">
                <a16:creationId xmlns:a16="http://schemas.microsoft.com/office/drawing/2014/main" id="{4C9C4705-70A2-4EDB-AC19-3D3CCFBA11A1}"/>
              </a:ext>
            </a:extLst>
          </p:cNvPr>
          <p:cNvSpPr/>
          <p:nvPr/>
        </p:nvSpPr>
        <p:spPr>
          <a:xfrm>
            <a:off x="762000" y="4476750"/>
            <a:ext cx="10668000" cy="495300"/>
          </a:xfrm>
          <a:prstGeom prst="roundRect">
            <a:avLst/>
          </a:prstGeom>
          <a:solidFill>
            <a:srgbClr val="FFFFFF"/>
          </a:solidFill>
          <a:ln w="12700">
            <a:solidFill>
              <a:srgbClr val="E4E9F0"/>
            </a:solidFill>
          </a:ln>
        </p:spPr>
        <p:txBody>
          <a:bodyPr wrap="square" rtlCol="0"/>
          <a:lstStyle/>
          <a:p>
            <a:r>
              <a:rPr/>
              <a:t/>
            </a:r>
          </a:p>
        </p:txBody>
      </p:sp>
      <p:sp>
        <p:nvSpPr>
          <p:cNvPr id="12" name="Shape 12">
            <a:extLst>
              <a:ext uri="{FF2B5EF4-FFF2-40B4-BE49-F238E27FC236}">
                <a16:creationId xmlns:a16="http://schemas.microsoft.com/office/drawing/2014/main" id="{0BF8B349-61FC-4981-8A31-D9D9B7AC51FB}"/>
              </a:ext>
            </a:extLst>
          </p:cNvPr>
          <p:cNvSpPr/>
          <p:nvPr/>
        </p:nvSpPr>
        <p:spPr>
          <a:xfrm>
            <a:off x="762000" y="5029200"/>
            <a:ext cx="10668000" cy="495300"/>
          </a:xfrm>
          <a:prstGeom prst="roundRect">
            <a:avLst/>
          </a:prstGeom>
          <a:solidFill>
            <a:srgbClr val="FFFFFF"/>
          </a:solidFill>
          <a:ln w="12700">
            <a:solidFill>
              <a:srgbClr val="E4E9F0"/>
            </a:solidFill>
          </a:ln>
        </p:spPr>
        <p:txBody>
          <a:bodyPr wrap="square" rtlCol="0"/>
          <a:lstStyle/>
          <a:p>
            <a:r>
              <a:rPr/>
              <a:t/>
            </a:r>
          </a:p>
        </p:txBody>
      </p:sp>
      <p:sp>
        <p:nvSpPr>
          <p:cNvPr id="13" name="Shape 13">
            <a:extLst>
              <a:ext uri="{FF2B5EF4-FFF2-40B4-BE49-F238E27FC236}">
                <a16:creationId xmlns:a16="http://schemas.microsoft.com/office/drawing/2014/main" id="{5DC24C92-2DD7-4202-9DE4-3612FAF5A071}"/>
              </a:ext>
            </a:extLst>
          </p:cNvPr>
          <p:cNvSpPr/>
          <p:nvPr/>
        </p:nvSpPr>
        <p:spPr>
          <a:xfrm>
            <a:off x="762000" y="5581650"/>
            <a:ext cx="10668000" cy="495300"/>
          </a:xfrm>
          <a:prstGeom prst="roundRect">
            <a:avLst/>
          </a:prstGeom>
          <a:solidFill>
            <a:srgbClr val="FFFFFF"/>
          </a:solidFill>
          <a:ln w="12700">
            <a:solidFill>
              <a:srgbClr val="E4E9F0"/>
            </a:solidFill>
          </a:ln>
        </p:spPr>
        <p:txBody>
          <a:bodyPr wrap="square" rtlCol="0"/>
          <a:lstStyle/>
          <a:p>
            <a:r>
              <a:rPr/>
              <a:t/>
            </a:r>
          </a:p>
        </p:txBody>
      </p:sp>
      <p:sp>
        <p:nvSpPr>
          <p:cNvPr id="14" name="TextBox 14">
            <a:extLst>
              <a:ext uri="{FF2B5EF4-FFF2-40B4-BE49-F238E27FC236}">
                <a16:creationId xmlns:a16="http://schemas.microsoft.com/office/drawing/2014/main" id="{353BC772-224E-4307-AA19-F28CCE934207}"/>
              </a:ext>
            </a:extLst>
          </p:cNvPr>
          <p:cNvSpPr txBox="1"/>
          <p:nvPr/>
        </p:nvSpPr>
        <p:spPr>
          <a:xfrm>
            <a:off x="952500" y="1828800"/>
            <a:ext cx="2381250" cy="285750"/>
          </a:xfrm>
        </p:spPr>
        <p:txBody>
          <a:bodyPr wrap="square" rtlCol="0" lIns="0" tIns="0" rIns="0" bIns="0" anchor="t"/>
          <a:lstStyle/>
          <a:p>
            <a:pPr algn="l"/>
            <a:r>
              <a:rPr sz="1400" b="1">
                <a:solidFill>
                  <a:srgbClr val="12141A"/>
                </a:solidFill>
                <a:latin typeface="Segoe UI"/>
                <a:ea typeface="Segoe UI"/>
              </a:rPr>
              <a:t>Singleton</a:t>
            </a:r>
          </a:p>
        </p:txBody>
      </p:sp>
      <p:sp>
        <p:nvSpPr>
          <p:cNvPr id="15" name="TextBox 15">
            <a:extLst>
              <a:ext uri="{FF2B5EF4-FFF2-40B4-BE49-F238E27FC236}">
                <a16:creationId xmlns:a16="http://schemas.microsoft.com/office/drawing/2014/main" id="{B942616A-1BA0-47AA-8388-C822A8FAA248}"/>
              </a:ext>
            </a:extLst>
          </p:cNvPr>
          <p:cNvSpPr txBox="1"/>
          <p:nvPr/>
        </p:nvSpPr>
        <p:spPr>
          <a:xfrm>
            <a:off x="3429000" y="1857375"/>
            <a:ext cx="4476750" cy="247650"/>
          </a:xfrm>
        </p:spPr>
        <p:txBody>
          <a:bodyPr wrap="square" rtlCol="0" lIns="0" tIns="0" rIns="0" bIns="0" anchor="t"/>
          <a:lstStyle/>
          <a:p>
            <a:pPr algn="l"/>
            <a:r>
              <a:rPr sz="1150">
                <a:solidFill>
                  <a:srgbClr val="00A85A"/>
                </a:solidFill>
                <a:latin typeface="Consolas"/>
                <a:ea typeface="Consolas"/>
              </a:rPr>
              <a:t>data/datasources/firestore_service.dart</a:t>
            </a:r>
          </a:p>
        </p:txBody>
      </p:sp>
      <p:sp>
        <p:nvSpPr>
          <p:cNvPr id="16" name="TextBox 16">
            <a:extLst>
              <a:ext uri="{FF2B5EF4-FFF2-40B4-BE49-F238E27FC236}">
                <a16:creationId xmlns:a16="http://schemas.microsoft.com/office/drawing/2014/main" id="{BF2D1698-F2B9-408C-B59D-60CA648BFF18}"/>
              </a:ext>
            </a:extLst>
          </p:cNvPr>
          <p:cNvSpPr txBox="1"/>
          <p:nvPr/>
        </p:nvSpPr>
        <p:spPr>
          <a:xfrm>
            <a:off x="8001000" y="1828800"/>
            <a:ext cx="3238500" cy="285750"/>
          </a:xfrm>
        </p:spPr>
        <p:txBody>
          <a:bodyPr wrap="square" rtlCol="0" lIns="0" tIns="0" rIns="0" bIns="0" anchor="t"/>
          <a:lstStyle/>
          <a:p>
            <a:pPr algn="r"/>
            <a:r>
              <a:rPr sz="1200">
                <a:solidFill>
                  <a:srgbClr val="7A8796"/>
                </a:solidFill>
                <a:latin typeface="Segoe UI"/>
                <a:ea typeface="Segoe UI"/>
              </a:rPr>
              <a:t>بوابة Firestore واحدة لكل التطبيق</a:t>
            </a:r>
          </a:p>
        </p:txBody>
      </p:sp>
      <p:sp>
        <p:nvSpPr>
          <p:cNvPr id="17" name="TextBox 17">
            <a:extLst>
              <a:ext uri="{FF2B5EF4-FFF2-40B4-BE49-F238E27FC236}">
                <a16:creationId xmlns:a16="http://schemas.microsoft.com/office/drawing/2014/main" id="{DADF93F9-0ACC-4942-969A-7D952C96C43C}"/>
              </a:ext>
            </a:extLst>
          </p:cNvPr>
          <p:cNvSpPr txBox="1"/>
          <p:nvPr/>
        </p:nvSpPr>
        <p:spPr>
          <a:xfrm>
            <a:off x="952500" y="2381250"/>
            <a:ext cx="2381250" cy="285750"/>
          </a:xfrm>
        </p:spPr>
        <p:txBody>
          <a:bodyPr wrap="square" rtlCol="0" lIns="0" tIns="0" rIns="0" bIns="0" anchor="t"/>
          <a:lstStyle/>
          <a:p>
            <a:pPr algn="l"/>
            <a:r>
              <a:rPr sz="1400" b="1">
                <a:solidFill>
                  <a:srgbClr val="12141A"/>
                </a:solidFill>
                <a:latin typeface="Segoe UI"/>
                <a:ea typeface="Segoe UI"/>
              </a:rPr>
              <a:t>Builder</a:t>
            </a:r>
          </a:p>
        </p:txBody>
      </p:sp>
      <p:sp>
        <p:nvSpPr>
          <p:cNvPr id="18" name="TextBox 18">
            <a:extLst>
              <a:ext uri="{FF2B5EF4-FFF2-40B4-BE49-F238E27FC236}">
                <a16:creationId xmlns:a16="http://schemas.microsoft.com/office/drawing/2014/main" id="{311AD5B5-2F6B-4522-8F4D-8121582B449A}"/>
              </a:ext>
            </a:extLst>
          </p:cNvPr>
          <p:cNvSpPr txBox="1"/>
          <p:nvPr/>
        </p:nvSpPr>
        <p:spPr>
          <a:xfrm>
            <a:off x="3429000" y="2409825"/>
            <a:ext cx="4476750" cy="247650"/>
          </a:xfrm>
        </p:spPr>
        <p:txBody>
          <a:bodyPr wrap="square" rtlCol="0" lIns="0" tIns="0" rIns="0" bIns="0" anchor="t"/>
          <a:lstStyle/>
          <a:p>
            <a:pPr algn="l"/>
            <a:r>
              <a:rPr sz="1150">
                <a:solidFill>
                  <a:srgbClr val="00A85A"/>
                </a:solidFill>
                <a:latin typeface="Consolas"/>
                <a:ea typeface="Consolas"/>
              </a:rPr>
              <a:t>data/models/user_model.dart</a:t>
            </a:r>
          </a:p>
        </p:txBody>
      </p:sp>
      <p:sp>
        <p:nvSpPr>
          <p:cNvPr id="19" name="TextBox 19">
            <a:extLst>
              <a:ext uri="{FF2B5EF4-FFF2-40B4-BE49-F238E27FC236}">
                <a16:creationId xmlns:a16="http://schemas.microsoft.com/office/drawing/2014/main" id="{9F4334F2-831E-4367-BB35-9127AE4FBFDF}"/>
              </a:ext>
            </a:extLst>
          </p:cNvPr>
          <p:cNvSpPr txBox="1"/>
          <p:nvPr/>
        </p:nvSpPr>
        <p:spPr>
          <a:xfrm>
            <a:off x="8001000" y="2381250"/>
            <a:ext cx="3238500" cy="285750"/>
          </a:xfrm>
        </p:spPr>
        <p:txBody>
          <a:bodyPr wrap="square" rtlCol="0" lIns="0" tIns="0" rIns="0" bIns="0" anchor="t"/>
          <a:lstStyle/>
          <a:p>
            <a:pPr algn="r"/>
            <a:r>
              <a:rPr sz="1200">
                <a:solidFill>
                  <a:srgbClr val="7A8796"/>
                </a:solidFill>
                <a:latin typeface="Segoe UI"/>
                <a:ea typeface="Segoe UI"/>
              </a:rPr>
              <a:t>كل موضع يضبط الحقول التي يعرفها</a:t>
            </a:r>
          </a:p>
        </p:txBody>
      </p:sp>
      <p:sp>
        <p:nvSpPr>
          <p:cNvPr id="20" name="TextBox 20">
            <a:extLst>
              <a:ext uri="{FF2B5EF4-FFF2-40B4-BE49-F238E27FC236}">
                <a16:creationId xmlns:a16="http://schemas.microsoft.com/office/drawing/2014/main" id="{62E0A648-1E0E-49EF-87DF-0EF49346B43F}"/>
              </a:ext>
            </a:extLst>
          </p:cNvPr>
          <p:cNvSpPr txBox="1"/>
          <p:nvPr/>
        </p:nvSpPr>
        <p:spPr>
          <a:xfrm>
            <a:off x="952500" y="2933700"/>
            <a:ext cx="2381250" cy="285750"/>
          </a:xfrm>
        </p:spPr>
        <p:txBody>
          <a:bodyPr wrap="square" rtlCol="0" lIns="0" tIns="0" rIns="0" bIns="0" anchor="t"/>
          <a:lstStyle/>
          <a:p>
            <a:pPr algn="l"/>
            <a:r>
              <a:rPr sz="1400" b="1">
                <a:solidFill>
                  <a:srgbClr val="12141A"/>
                </a:solidFill>
                <a:latin typeface="Segoe UI"/>
                <a:ea typeface="Segoe UI"/>
              </a:rPr>
              <a:t>Factory · data source</a:t>
            </a:r>
          </a:p>
        </p:txBody>
      </p:sp>
      <p:sp>
        <p:nvSpPr>
          <p:cNvPr id="21" name="TextBox 21">
            <a:extLst>
              <a:ext uri="{FF2B5EF4-FFF2-40B4-BE49-F238E27FC236}">
                <a16:creationId xmlns:a16="http://schemas.microsoft.com/office/drawing/2014/main" id="{1C3552F9-546E-41B4-8F07-1D4489B64E9A}"/>
              </a:ext>
            </a:extLst>
          </p:cNvPr>
          <p:cNvSpPr txBox="1"/>
          <p:nvPr/>
        </p:nvSpPr>
        <p:spPr>
          <a:xfrm>
            <a:off x="3429000" y="2962275"/>
            <a:ext cx="4476750" cy="247650"/>
          </a:xfrm>
        </p:spPr>
        <p:txBody>
          <a:bodyPr wrap="square" rtlCol="0" lIns="0" tIns="0" rIns="0" bIns="0" anchor="t"/>
          <a:lstStyle/>
          <a:p>
            <a:pPr algn="l"/>
            <a:r>
              <a:rPr sz="1150">
                <a:solidFill>
                  <a:srgbClr val="00A85A"/>
                </a:solidFill>
                <a:latin typeface="Consolas"/>
                <a:ea typeface="Consolas"/>
              </a:rPr>
              <a:t>data/repositories/meal_repository_impl.dart</a:t>
            </a:r>
          </a:p>
        </p:txBody>
      </p:sp>
      <p:sp>
        <p:nvSpPr>
          <p:cNvPr id="22" name="TextBox 22">
            <a:extLst>
              <a:ext uri="{FF2B5EF4-FFF2-40B4-BE49-F238E27FC236}">
                <a16:creationId xmlns:a16="http://schemas.microsoft.com/office/drawing/2014/main" id="{D61F6F43-5264-46DA-8B46-E2A9F23729E0}"/>
              </a:ext>
            </a:extLst>
          </p:cNvPr>
          <p:cNvSpPr txBox="1"/>
          <p:nvPr/>
        </p:nvSpPr>
        <p:spPr>
          <a:xfrm>
            <a:off x="8001000" y="2933700"/>
            <a:ext cx="3238500" cy="285750"/>
          </a:xfrm>
        </p:spPr>
        <p:txBody>
          <a:bodyPr wrap="square" rtlCol="0" lIns="0" tIns="0" rIns="0" bIns="0" anchor="t"/>
          <a:lstStyle/>
          <a:p>
            <a:pPr algn="r"/>
            <a:r>
              <a:rPr sz="1200">
                <a:solidFill>
                  <a:srgbClr val="7A8796"/>
                </a:solidFill>
                <a:latin typeface="Segoe UI"/>
                <a:ea typeface="Segoe UI"/>
              </a:rPr>
              <a:t>يختار الشبكة أو النسخة المخزّنة</a:t>
            </a:r>
          </a:p>
        </p:txBody>
      </p:sp>
      <p:sp>
        <p:nvSpPr>
          <p:cNvPr id="23" name="TextBox 23">
            <a:extLst>
              <a:ext uri="{FF2B5EF4-FFF2-40B4-BE49-F238E27FC236}">
                <a16:creationId xmlns:a16="http://schemas.microsoft.com/office/drawing/2014/main" id="{D86E1151-4884-4706-B22C-4DD8C3618B39}"/>
              </a:ext>
            </a:extLst>
          </p:cNvPr>
          <p:cNvSpPr txBox="1"/>
          <p:nvPr/>
        </p:nvSpPr>
        <p:spPr>
          <a:xfrm>
            <a:off x="952500" y="3486150"/>
            <a:ext cx="2381250" cy="285750"/>
          </a:xfrm>
        </p:spPr>
        <p:txBody>
          <a:bodyPr wrap="square" rtlCol="0" lIns="0" tIns="0" rIns="0" bIns="0" anchor="t"/>
          <a:lstStyle/>
          <a:p>
            <a:pPr algn="l"/>
            <a:r>
              <a:rPr sz="1400" b="1">
                <a:solidFill>
                  <a:srgbClr val="12141A"/>
                </a:solidFill>
                <a:latin typeface="Segoe UI"/>
                <a:ea typeface="Segoe UI"/>
              </a:rPr>
              <a:t>Factory · strategy</a:t>
            </a:r>
          </a:p>
        </p:txBody>
      </p:sp>
      <p:sp>
        <p:nvSpPr>
          <p:cNvPr id="24" name="TextBox 24">
            <a:extLst>
              <a:ext uri="{FF2B5EF4-FFF2-40B4-BE49-F238E27FC236}">
                <a16:creationId xmlns:a16="http://schemas.microsoft.com/office/drawing/2014/main" id="{DC2BC619-6298-4B61-95F1-45E7075BAFFF}"/>
              </a:ext>
            </a:extLst>
          </p:cNvPr>
          <p:cNvSpPr txBox="1"/>
          <p:nvPr/>
        </p:nvSpPr>
        <p:spPr>
          <a:xfrm>
            <a:off x="3429000" y="3514725"/>
            <a:ext cx="4476750" cy="247650"/>
          </a:xfrm>
        </p:spPr>
        <p:txBody>
          <a:bodyPr wrap="square" rtlCol="0" lIns="0" tIns="0" rIns="0" bIns="0" anchor="t"/>
          <a:lstStyle/>
          <a:p>
            <a:pPr algn="l"/>
            <a:r>
              <a:rPr sz="1150">
                <a:solidFill>
                  <a:srgbClr val="00A85A"/>
                </a:solidFill>
                <a:latin typeface="Consolas"/>
                <a:ea typeface="Consolas"/>
              </a:rPr>
              <a:t>domain/entities/payment.dart</a:t>
            </a:r>
          </a:p>
        </p:txBody>
      </p:sp>
      <p:sp>
        <p:nvSpPr>
          <p:cNvPr id="25" name="TextBox 25">
            <a:extLst>
              <a:ext uri="{FF2B5EF4-FFF2-40B4-BE49-F238E27FC236}">
                <a16:creationId xmlns:a16="http://schemas.microsoft.com/office/drawing/2014/main" id="{2ECE06FB-9619-4E7E-A142-5B6D10DC9C10}"/>
              </a:ext>
            </a:extLst>
          </p:cNvPr>
          <p:cNvSpPr txBox="1"/>
          <p:nvPr/>
        </p:nvSpPr>
        <p:spPr>
          <a:xfrm>
            <a:off x="8001000" y="3486150"/>
            <a:ext cx="3238500" cy="285750"/>
          </a:xfrm>
        </p:spPr>
        <p:txBody>
          <a:bodyPr wrap="square" rtlCol="0" lIns="0" tIns="0" rIns="0" bIns="0" anchor="t"/>
          <a:lstStyle/>
          <a:p>
            <a:pPr algn="r"/>
            <a:r>
              <a:rPr sz="1200">
                <a:solidFill>
                  <a:srgbClr val="7A8796"/>
                </a:solidFill>
                <a:latin typeface="Segoe UI"/>
                <a:ea typeface="Segoe UI"/>
              </a:rPr>
              <a:t>يعيد بناء نمط الدفع من نوعه المخزّن</a:t>
            </a:r>
          </a:p>
        </p:txBody>
      </p:sp>
      <p:sp>
        <p:nvSpPr>
          <p:cNvPr id="26" name="TextBox 26">
            <a:extLst>
              <a:ext uri="{FF2B5EF4-FFF2-40B4-BE49-F238E27FC236}">
                <a16:creationId xmlns:a16="http://schemas.microsoft.com/office/drawing/2014/main" id="{32B6098E-ED47-46BA-9B75-05679971A4D0}"/>
              </a:ext>
            </a:extLst>
          </p:cNvPr>
          <p:cNvSpPr txBox="1"/>
          <p:nvPr/>
        </p:nvSpPr>
        <p:spPr>
          <a:xfrm>
            <a:off x="952500" y="4038600"/>
            <a:ext cx="2381250" cy="285750"/>
          </a:xfrm>
        </p:spPr>
        <p:txBody>
          <a:bodyPr wrap="square" rtlCol="0" lIns="0" tIns="0" rIns="0" bIns="0" anchor="t"/>
          <a:lstStyle/>
          <a:p>
            <a:pPr algn="l"/>
            <a:r>
              <a:rPr sz="1400" b="1">
                <a:solidFill>
                  <a:srgbClr val="12141A"/>
                </a:solidFill>
                <a:latin typeface="Segoe UI"/>
                <a:ea typeface="Segoe UI"/>
              </a:rPr>
              <a:t>Factory Method · DI</a:t>
            </a:r>
          </a:p>
        </p:txBody>
      </p:sp>
      <p:sp>
        <p:nvSpPr>
          <p:cNvPr id="27" name="TextBox 27">
            <a:extLst>
              <a:ext uri="{FF2B5EF4-FFF2-40B4-BE49-F238E27FC236}">
                <a16:creationId xmlns:a16="http://schemas.microsoft.com/office/drawing/2014/main" id="{272350E7-490A-4D78-A461-FF487D412785}"/>
              </a:ext>
            </a:extLst>
          </p:cNvPr>
          <p:cNvSpPr txBox="1"/>
          <p:nvPr/>
        </p:nvSpPr>
        <p:spPr>
          <a:xfrm>
            <a:off x="3429000" y="4067175"/>
            <a:ext cx="4476750" cy="247650"/>
          </a:xfrm>
        </p:spPr>
        <p:txBody>
          <a:bodyPr wrap="square" rtlCol="0" lIns="0" tIns="0" rIns="0" bIns="0" anchor="t"/>
          <a:lstStyle/>
          <a:p>
            <a:pPr algn="l"/>
            <a:r>
              <a:rPr sz="1150">
                <a:solidFill>
                  <a:srgbClr val="00A85A"/>
                </a:solidFill>
                <a:latin typeface="Consolas"/>
                <a:ea typeface="Consolas"/>
              </a:rPr>
              <a:t>injection.dart</a:t>
            </a:r>
          </a:p>
        </p:txBody>
      </p:sp>
      <p:sp>
        <p:nvSpPr>
          <p:cNvPr id="28" name="TextBox 28">
            <a:extLst>
              <a:ext uri="{FF2B5EF4-FFF2-40B4-BE49-F238E27FC236}">
                <a16:creationId xmlns:a16="http://schemas.microsoft.com/office/drawing/2014/main" id="{B37B1F17-31F3-40A5-9252-53D7C7DC9DC6}"/>
              </a:ext>
            </a:extLst>
          </p:cNvPr>
          <p:cNvSpPr txBox="1"/>
          <p:nvPr/>
        </p:nvSpPr>
        <p:spPr>
          <a:xfrm>
            <a:off x="8001000" y="4038600"/>
            <a:ext cx="3238500" cy="285750"/>
          </a:xfrm>
        </p:spPr>
        <p:txBody>
          <a:bodyPr wrap="square" rtlCol="0" lIns="0" tIns="0" rIns="0" bIns="0" anchor="t"/>
          <a:lstStyle/>
          <a:p>
            <a:pPr algn="r"/>
            <a:r>
              <a:rPr sz="1200">
                <a:solidFill>
                  <a:srgbClr val="7A8796"/>
                </a:solidFill>
                <a:latin typeface="Segoe UI"/>
                <a:ea typeface="Segoe UI"/>
              </a:rPr>
              <a:t>التسجيل مقابل الواجهات المجرّدة</a:t>
            </a:r>
          </a:p>
        </p:txBody>
      </p:sp>
      <p:sp>
        <p:nvSpPr>
          <p:cNvPr id="29" name="TextBox 29">
            <a:extLst>
              <a:ext uri="{FF2B5EF4-FFF2-40B4-BE49-F238E27FC236}">
                <a16:creationId xmlns:a16="http://schemas.microsoft.com/office/drawing/2014/main" id="{F63CBBBA-320A-4CCC-9838-0C504E0770BA}"/>
              </a:ext>
            </a:extLst>
          </p:cNvPr>
          <p:cNvSpPr txBox="1"/>
          <p:nvPr/>
        </p:nvSpPr>
        <p:spPr>
          <a:xfrm>
            <a:off x="952500" y="4591050"/>
            <a:ext cx="2381250" cy="285750"/>
          </a:xfrm>
        </p:spPr>
        <p:txBody>
          <a:bodyPr wrap="square" rtlCol="0" lIns="0" tIns="0" rIns="0" bIns="0" anchor="t"/>
          <a:lstStyle/>
          <a:p>
            <a:pPr algn="l"/>
            <a:r>
              <a:rPr sz="1400" b="1">
                <a:solidFill>
                  <a:srgbClr val="12141A"/>
                </a:solidFill>
                <a:latin typeface="Segoe UI"/>
                <a:ea typeface="Segoe UI"/>
              </a:rPr>
              <a:t>SOLID</a:t>
            </a:r>
          </a:p>
        </p:txBody>
      </p:sp>
      <p:sp>
        <p:nvSpPr>
          <p:cNvPr id="30" name="TextBox 30">
            <a:extLst>
              <a:ext uri="{FF2B5EF4-FFF2-40B4-BE49-F238E27FC236}">
                <a16:creationId xmlns:a16="http://schemas.microsoft.com/office/drawing/2014/main" id="{EBB4ED58-EE0F-41D4-A39A-1779594A1CCB}"/>
              </a:ext>
            </a:extLst>
          </p:cNvPr>
          <p:cNvSpPr txBox="1"/>
          <p:nvPr/>
        </p:nvSpPr>
        <p:spPr>
          <a:xfrm>
            <a:off x="3429000" y="4619625"/>
            <a:ext cx="4476750" cy="247650"/>
          </a:xfrm>
        </p:spPr>
        <p:txBody>
          <a:bodyPr wrap="square" rtlCol="0" lIns="0" tIns="0" rIns="0" bIns="0" anchor="t"/>
          <a:lstStyle/>
          <a:p>
            <a:pPr algn="l"/>
            <a:r>
              <a:rPr sz="1150">
                <a:solidFill>
                  <a:srgbClr val="00A85A"/>
                </a:solidFill>
                <a:latin typeface="Consolas"/>
                <a:ea typeface="Consolas"/>
              </a:rPr>
              <a:t>domain/entities/payment.dart</a:t>
            </a:r>
          </a:p>
        </p:txBody>
      </p:sp>
      <p:sp>
        <p:nvSpPr>
          <p:cNvPr id="31" name="TextBox 31">
            <a:extLst>
              <a:ext uri="{FF2B5EF4-FFF2-40B4-BE49-F238E27FC236}">
                <a16:creationId xmlns:a16="http://schemas.microsoft.com/office/drawing/2014/main" id="{1E738F42-B982-4ED7-9A74-8174E8C9AAE2}"/>
              </a:ext>
            </a:extLst>
          </p:cNvPr>
          <p:cNvSpPr txBox="1"/>
          <p:nvPr/>
        </p:nvSpPr>
        <p:spPr>
          <a:xfrm>
            <a:off x="8001000" y="4591050"/>
            <a:ext cx="3238500" cy="285750"/>
          </a:xfrm>
        </p:spPr>
        <p:txBody>
          <a:bodyPr wrap="square" rtlCol="0" lIns="0" tIns="0" rIns="0" bIns="0" anchor="t"/>
          <a:lstStyle/>
          <a:p>
            <a:pPr algn="r"/>
            <a:r>
              <a:rPr sz="1200">
                <a:solidFill>
                  <a:srgbClr val="7A8796"/>
                </a:solidFill>
                <a:latin typeface="Segoe UI"/>
                <a:ea typeface="Segoe UI"/>
              </a:rPr>
              <a:t>نقد وبطاقة خلف واجهة واحدة</a:t>
            </a:r>
          </a:p>
        </p:txBody>
      </p:sp>
      <p:sp>
        <p:nvSpPr>
          <p:cNvPr id="32" name="TextBox 32">
            <a:extLst>
              <a:ext uri="{FF2B5EF4-FFF2-40B4-BE49-F238E27FC236}">
                <a16:creationId xmlns:a16="http://schemas.microsoft.com/office/drawing/2014/main" id="{DAC37562-8BE9-4EF2-9AB7-BFC29E92E3F2}"/>
              </a:ext>
            </a:extLst>
          </p:cNvPr>
          <p:cNvSpPr txBox="1"/>
          <p:nvPr/>
        </p:nvSpPr>
        <p:spPr>
          <a:xfrm>
            <a:off x="952500" y="5143500"/>
            <a:ext cx="2381250" cy="285750"/>
          </a:xfrm>
        </p:spPr>
        <p:txBody>
          <a:bodyPr wrap="square" rtlCol="0" lIns="0" tIns="0" rIns="0" bIns="0" anchor="t"/>
          <a:lstStyle/>
          <a:p>
            <a:pPr algn="l"/>
            <a:r>
              <a:rPr sz="1400" b="1">
                <a:solidFill>
                  <a:srgbClr val="12141A"/>
                </a:solidFill>
                <a:latin typeface="Segoe UI"/>
                <a:ea typeface="Segoe UI"/>
              </a:rPr>
              <a:t>Repository</a:t>
            </a:r>
          </a:p>
        </p:txBody>
      </p:sp>
      <p:sp>
        <p:nvSpPr>
          <p:cNvPr id="33" name="TextBox 33">
            <a:extLst>
              <a:ext uri="{FF2B5EF4-FFF2-40B4-BE49-F238E27FC236}">
                <a16:creationId xmlns:a16="http://schemas.microsoft.com/office/drawing/2014/main" id="{3908B818-A909-4907-81B1-D0395A53B1E7}"/>
              </a:ext>
            </a:extLst>
          </p:cNvPr>
          <p:cNvSpPr txBox="1"/>
          <p:nvPr/>
        </p:nvSpPr>
        <p:spPr>
          <a:xfrm>
            <a:off x="3429000" y="5172075"/>
            <a:ext cx="4476750" cy="247650"/>
          </a:xfrm>
        </p:spPr>
        <p:txBody>
          <a:bodyPr wrap="square" rtlCol="0" lIns="0" tIns="0" rIns="0" bIns="0" anchor="t"/>
          <a:lstStyle/>
          <a:p>
            <a:pPr algn="l"/>
            <a:r>
              <a:rPr sz="1150">
                <a:solidFill>
                  <a:srgbClr val="00A85A"/>
                </a:solidFill>
                <a:latin typeface="Consolas"/>
                <a:ea typeface="Consolas"/>
              </a:rPr>
              <a:t>domain/repositories  ·  data/repositories</a:t>
            </a:r>
          </a:p>
        </p:txBody>
      </p:sp>
      <p:sp>
        <p:nvSpPr>
          <p:cNvPr id="34" name="TextBox 34">
            <a:extLst>
              <a:ext uri="{FF2B5EF4-FFF2-40B4-BE49-F238E27FC236}">
                <a16:creationId xmlns:a16="http://schemas.microsoft.com/office/drawing/2014/main" id="{65A7175A-0D96-4EE3-9DAB-3DE2A8111615}"/>
              </a:ext>
            </a:extLst>
          </p:cNvPr>
          <p:cNvSpPr txBox="1"/>
          <p:nvPr/>
        </p:nvSpPr>
        <p:spPr>
          <a:xfrm>
            <a:off x="8001000" y="5143500"/>
            <a:ext cx="3238500" cy="365760"/>
          </a:xfrm>
        </p:spPr>
        <p:txBody>
          <a:bodyPr wrap="square" rtlCol="0" lIns="0" tIns="0" rIns="0" bIns="0" anchor="t"/>
          <a:lstStyle/>
          <a:p>
            <a:pPr algn="r"/>
            <a:r>
              <a:rPr sz="1200">
                <a:solidFill>
                  <a:srgbClr val="7A8796"/>
                </a:solidFill>
                <a:latin typeface="Segoe UI"/>
                <a:ea typeface="Segoe UI"/>
              </a:rPr>
              <a:t>الواجهات في المجال والتطبيق في البيانات</a:t>
            </a:r>
          </a:p>
        </p:txBody>
      </p:sp>
      <p:sp>
        <p:nvSpPr>
          <p:cNvPr id="35" name="TextBox 35">
            <a:extLst>
              <a:ext uri="{FF2B5EF4-FFF2-40B4-BE49-F238E27FC236}">
                <a16:creationId xmlns:a16="http://schemas.microsoft.com/office/drawing/2014/main" id="{1AF1DEBD-F874-401C-99F2-624604247C3F}"/>
              </a:ext>
            </a:extLst>
          </p:cNvPr>
          <p:cNvSpPr txBox="1"/>
          <p:nvPr/>
        </p:nvSpPr>
        <p:spPr>
          <a:xfrm>
            <a:off x="952500" y="5695950"/>
            <a:ext cx="2381250" cy="285750"/>
          </a:xfrm>
        </p:spPr>
        <p:txBody>
          <a:bodyPr wrap="square" rtlCol="0" lIns="0" tIns="0" rIns="0" bIns="0" anchor="t"/>
          <a:lstStyle/>
          <a:p>
            <a:pPr algn="l"/>
            <a:r>
              <a:rPr sz="1400" b="1">
                <a:solidFill>
                  <a:srgbClr val="12141A"/>
                </a:solidFill>
                <a:latin typeface="Segoe UI"/>
                <a:ea typeface="Segoe UI"/>
              </a:rPr>
              <a:t>Use case</a:t>
            </a:r>
          </a:p>
        </p:txBody>
      </p:sp>
      <p:sp>
        <p:nvSpPr>
          <p:cNvPr id="36" name="TextBox 36">
            <a:extLst>
              <a:ext uri="{FF2B5EF4-FFF2-40B4-BE49-F238E27FC236}">
                <a16:creationId xmlns:a16="http://schemas.microsoft.com/office/drawing/2014/main" id="{11CFEE90-3064-4F18-9DA4-A418D51840BF}"/>
              </a:ext>
            </a:extLst>
          </p:cNvPr>
          <p:cNvSpPr txBox="1"/>
          <p:nvPr/>
        </p:nvSpPr>
        <p:spPr>
          <a:xfrm>
            <a:off x="3429000" y="5724525"/>
            <a:ext cx="4476750" cy="247650"/>
          </a:xfrm>
        </p:spPr>
        <p:txBody>
          <a:bodyPr wrap="square" rtlCol="0" lIns="0" tIns="0" rIns="0" bIns="0" anchor="t"/>
          <a:lstStyle/>
          <a:p>
            <a:pPr algn="l"/>
            <a:r>
              <a:rPr sz="1150">
                <a:solidFill>
                  <a:srgbClr val="00A85A"/>
                </a:solidFill>
                <a:latin typeface="Consolas"/>
                <a:ea typeface="Consolas"/>
              </a:rPr>
              <a:t>domain/usecases</a:t>
            </a:r>
          </a:p>
        </p:txBody>
      </p:sp>
      <p:sp>
        <p:nvSpPr>
          <p:cNvPr id="37" name="TextBox 37">
            <a:extLst>
              <a:ext uri="{FF2B5EF4-FFF2-40B4-BE49-F238E27FC236}">
                <a16:creationId xmlns:a16="http://schemas.microsoft.com/office/drawing/2014/main" id="{FA6A407F-58C4-4C9E-9003-69707317A30A}"/>
              </a:ext>
            </a:extLst>
          </p:cNvPr>
          <p:cNvSpPr txBox="1"/>
          <p:nvPr/>
        </p:nvSpPr>
        <p:spPr>
          <a:xfrm>
            <a:off x="8001000" y="5695950"/>
            <a:ext cx="3238500" cy="285750"/>
          </a:xfrm>
        </p:spPr>
        <p:txBody>
          <a:bodyPr wrap="square" rtlCol="0" lIns="0" tIns="0" rIns="0" bIns="0" anchor="t"/>
          <a:lstStyle/>
          <a:p>
            <a:pPr algn="r"/>
            <a:r>
              <a:rPr sz="1200">
                <a:solidFill>
                  <a:srgbClr val="7A8796"/>
                </a:solidFill>
                <a:latin typeface="Segoe UI"/>
                <a:ea typeface="Segoe UI"/>
              </a:rPr>
              <a:t>دالة call واحدة لكل حالة</a:t>
            </a:r>
          </a:p>
        </p:txBody>
      </p:sp>
      <p:sp>
        <p:nvSpPr>
          <p:cNvPr id="38" name="TextBox 38">
            <a:extLst>
              <a:ext uri="{FF2B5EF4-FFF2-40B4-BE49-F238E27FC236}">
                <a16:creationId xmlns:a16="http://schemas.microsoft.com/office/drawing/2014/main" id="{FA6C0D5B-5E54-4F75-BBCE-E8385381CEF6}"/>
              </a:ext>
            </a:extLst>
          </p:cNvPr>
          <p:cNvSpPr txBox="1"/>
          <p:nvPr/>
        </p:nvSpPr>
        <p:spPr>
          <a:xfrm>
            <a:off x="762000" y="6515100"/>
            <a:ext cx="3810000" cy="209550"/>
          </a:xfrm>
        </p:spPr>
        <p:txBody>
          <a:bodyPr wrap="square" rtlCol="0" lIns="0" tIns="0" rIns="0" bIns="0" anchor="t"/>
          <a:lstStyle/>
          <a:p>
            <a:pPr algn="l"/>
            <a:r>
              <a:rPr sz="1000">
                <a:solidFill>
                  <a:srgbClr val="9AA5B1"/>
                </a:solidFill>
                <a:latin typeface="Segoe UI"/>
                <a:ea typeface="Segoe UI"/>
              </a:rPr>
              <a:t>StreetBite · Capstone report · 07</a:t>
            </a:r>
          </a:p>
        </p:txBody>
      </p:sp>
      <p:sp>
        <p:nvSpPr>
          <p:cNvPr id="39" name="TextBox 39">
            <a:extLst>
              <a:ext uri="{FF2B5EF4-FFF2-40B4-BE49-F238E27FC236}">
                <a16:creationId xmlns:a16="http://schemas.microsoft.com/office/drawing/2014/main" id="{C4E59139-33F2-4C9A-9091-51CB7FE64E0D}"/>
              </a:ext>
            </a:extLst>
          </p:cNvPr>
          <p:cNvSpPr txBox="1"/>
          <p:nvPr/>
        </p:nvSpPr>
        <p:spPr>
          <a:xfrm>
            <a:off x="6667500" y="6515100"/>
            <a:ext cx="4762500" cy="209550"/>
          </a:xfrm>
        </p:spPr>
        <p:txBody>
          <a:bodyPr wrap="square" rtlCol="0" lIns="0" tIns="0" rIns="0" bIns="0" anchor="t"/>
          <a:lstStyle/>
          <a:p>
            <a:pPr algn="r"/>
            <a:r>
              <a:rPr sz="1000">
                <a:solidFill>
                  <a:srgbClr val="9AA5B1"/>
                </a:solidFill>
                <a:latin typeface="Segoe UI"/>
                <a:ea typeface="Segoe UI"/>
              </a:rPr>
              <a:t>كل نمط مشروح في الكود عند موضع استخدامه</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6F8FA"/>
        </a:solidFill>
        <a:effectLst/>
      </p:bgPr>
    </p:bg>
    <p:spTree>
      <p:nvGrpSpPr>
        <p:cNvPr id="1" name=""/>
        <p:cNvGrpSpPr/>
        <p:nvPr/>
      </p:nvGrpSpPr>
      <p:grpSpPr>
        <a:xfrm>
          <a:off x="0" y="0"/>
          <a:ext cx="0" cy="0"/>
          <a:chOff x="0" y="0"/>
          <a:chExt cx="0" cy="0"/>
        </a:xfrm>
      </p:grpSpPr>
      <p:sp>
        <p:nvSpPr>
          <p:cNvPr id="3" name="TextBox 3">
            <a:extLst>
              <a:ext uri="{FF2B5EF4-FFF2-40B4-BE49-F238E27FC236}">
                <a16:creationId xmlns:a16="http://schemas.microsoft.com/office/drawing/2014/main" id="{2F3D00CB-A580-414A-B04D-79EBC938BFCC}"/>
              </a:ext>
            </a:extLst>
          </p:cNvPr>
          <p:cNvSpPr txBox="1"/>
          <p:nvPr/>
        </p:nvSpPr>
        <p:spPr>
          <a:xfrm>
            <a:off x="762000" y="533400"/>
            <a:ext cx="5715000" cy="209550"/>
          </a:xfrm>
        </p:spPr>
        <p:txBody>
          <a:bodyPr wrap="square" rtlCol="0" lIns="0" tIns="0" rIns="0" bIns="0" anchor="t"/>
          <a:lstStyle/>
          <a:p>
            <a:pPr algn="l"/>
            <a:r>
              <a:rPr sz="1100" b="1">
                <a:solidFill>
                  <a:srgbClr val="00C16A"/>
                </a:solidFill>
                <a:latin typeface="Segoe UI"/>
                <a:ea typeface="Segoe UI"/>
              </a:rPr>
              <a:t>07  ·  STATE MANAGEMENT</a:t>
            </a:r>
          </a:p>
        </p:txBody>
      </p:sp>
      <p:sp>
        <p:nvSpPr>
          <p:cNvPr id="4" name="TextBox 4">
            <a:extLst>
              <a:ext uri="{FF2B5EF4-FFF2-40B4-BE49-F238E27FC236}">
                <a16:creationId xmlns:a16="http://schemas.microsoft.com/office/drawing/2014/main" id="{F5E7A8D6-DE32-4E86-B694-D488194C842A}"/>
              </a:ext>
            </a:extLst>
          </p:cNvPr>
          <p:cNvSpPr txBox="1"/>
          <p:nvPr/>
        </p:nvSpPr>
        <p:spPr>
          <a:xfrm>
            <a:off x="762000" y="781050"/>
            <a:ext cx="5905500" cy="533400"/>
          </a:xfrm>
        </p:spPr>
        <p:txBody>
          <a:bodyPr wrap="square" rtlCol="0" lIns="0" tIns="0" rIns="0" bIns="0" anchor="t"/>
          <a:lstStyle/>
          <a:p>
            <a:pPr algn="l"/>
            <a:r>
              <a:rPr sz="3000" b="1">
                <a:solidFill>
                  <a:srgbClr val="12141A"/>
                </a:solidFill>
                <a:latin typeface="Segoe UI"/>
                <a:ea typeface="Segoe UI"/>
              </a:rPr>
              <a:t>One Bloc, seven Cubits</a:t>
            </a:r>
          </a:p>
        </p:txBody>
      </p:sp>
      <p:sp>
        <p:nvSpPr>
          <p:cNvPr id="5" name="TextBox 5">
            <a:extLst>
              <a:ext uri="{FF2B5EF4-FFF2-40B4-BE49-F238E27FC236}">
                <a16:creationId xmlns:a16="http://schemas.microsoft.com/office/drawing/2014/main" id="{1763313C-0B98-4A4C-B052-39862647F066}"/>
              </a:ext>
            </a:extLst>
          </p:cNvPr>
          <p:cNvSpPr txBox="1"/>
          <p:nvPr/>
        </p:nvSpPr>
        <p:spPr>
          <a:xfrm>
            <a:off x="6286500" y="857250"/>
            <a:ext cx="4381500" cy="419100"/>
          </a:xfrm>
        </p:spPr>
        <p:txBody>
          <a:bodyPr wrap="square" rtlCol="0" lIns="0" tIns="0" rIns="0" bIns="0" anchor="t"/>
          <a:lstStyle/>
          <a:p>
            <a:pPr algn="r"/>
            <a:r>
              <a:rPr sz="2400" b="1">
                <a:solidFill>
                  <a:srgbClr val="5A6675"/>
                </a:solidFill>
                <a:latin typeface="Segoe UI"/>
                <a:ea typeface="Segoe UI"/>
              </a:rPr>
              <a:t>Bloc واحد وسبعة مُحوِّلات</a:t>
            </a:r>
          </a:p>
        </p:txBody>
      </p:sp>
      <p:sp>
        <p:nvSpPr>
          <p:cNvPr id="6" name="Shape 6">
            <a:extLst>
              <a:ext uri="{FF2B5EF4-FFF2-40B4-BE49-F238E27FC236}">
                <a16:creationId xmlns:a16="http://schemas.microsoft.com/office/drawing/2014/main" id="{BE003E20-E95A-40B5-91E4-9369F6ECAB8D}"/>
              </a:ext>
            </a:extLst>
          </p:cNvPr>
          <p:cNvSpPr/>
          <p:nvPr/>
        </p:nvSpPr>
        <p:spPr>
          <a:xfrm>
            <a:off x="762000" y="1619250"/>
            <a:ext cx="5191125" cy="3810000"/>
          </a:xfrm>
          <a:prstGeom prst="roundRect">
            <a:avLst/>
          </a:prstGeom>
          <a:solidFill>
            <a:srgbClr val="FFFFFF"/>
          </a:solidFill>
          <a:ln w="12700">
            <a:solidFill>
              <a:srgbClr val="E4E9F0"/>
            </a:solidFill>
          </a:ln>
        </p:spPr>
        <p:txBody>
          <a:bodyPr wrap="square" rtlCol="0"/>
          <a:lstStyle/>
          <a:p>
            <a:r>
              <a:rPr/>
              <a:t/>
            </a:r>
          </a:p>
        </p:txBody>
      </p:sp>
      <p:sp>
        <p:nvSpPr>
          <p:cNvPr id="7" name="Shape 7">
            <a:extLst>
              <a:ext uri="{FF2B5EF4-FFF2-40B4-BE49-F238E27FC236}">
                <a16:creationId xmlns:a16="http://schemas.microsoft.com/office/drawing/2014/main" id="{D61AD959-5B83-45A5-8CC8-E1B47DFABC97}"/>
              </a:ext>
            </a:extLst>
          </p:cNvPr>
          <p:cNvSpPr/>
          <p:nvPr/>
        </p:nvSpPr>
        <p:spPr>
          <a:xfrm>
            <a:off x="6238875" y="1619250"/>
            <a:ext cx="5191125" cy="3810000"/>
          </a:xfrm>
          <a:prstGeom prst="roundRect">
            <a:avLst/>
          </a:prstGeom>
          <a:solidFill>
            <a:srgbClr val="FFFFFF"/>
          </a:solidFill>
          <a:ln w="12700">
            <a:solidFill>
              <a:srgbClr val="E4E9F0"/>
            </a:solidFill>
          </a:ln>
        </p:spPr>
        <p:txBody>
          <a:bodyPr wrap="square" rtlCol="0"/>
          <a:lstStyle/>
          <a:p>
            <a:r>
              <a:rPr/>
              <a:t/>
            </a:r>
          </a:p>
        </p:txBody>
      </p:sp>
      <p:sp>
        <p:nvSpPr>
          <p:cNvPr id="8" name="TextBox 8">
            <a:extLst>
              <a:ext uri="{FF2B5EF4-FFF2-40B4-BE49-F238E27FC236}">
                <a16:creationId xmlns:a16="http://schemas.microsoft.com/office/drawing/2014/main" id="{26266DBB-B29A-4C5A-BF49-742D720B520F}"/>
              </a:ext>
            </a:extLst>
          </p:cNvPr>
          <p:cNvSpPr txBox="1"/>
          <p:nvPr/>
        </p:nvSpPr>
        <p:spPr>
          <a:xfrm>
            <a:off x="990600" y="1828800"/>
            <a:ext cx="4762500" cy="552450"/>
          </a:xfrm>
        </p:spPr>
        <p:txBody>
          <a:bodyPr wrap="square" rtlCol="0" lIns="0" tIns="0" rIns="0" bIns="0" anchor="t"/>
          <a:lstStyle/>
          <a:p>
            <a:pPr algn="l">
              <a:spcAft>
                <a:spcPts val="600"/>
              </a:spcAft>
            </a:pPr>
            <a:r>
              <a:rPr sz="1600" b="1">
                <a:solidFill>
                  <a:srgbClr val="12141A"/>
                </a:solidFill>
                <a:latin typeface="Segoe UI"/>
                <a:ea typeface="Segoe UI"/>
              </a:rPr>
              <a:t>CartBloc  ·  events in, state out</a:t>
            </a:r>
          </a:p>
          <a:p>
            <a:pPr algn="l"/>
            <a:r>
              <a:rPr sz="1300" b="1">
                <a:solidFill>
                  <a:srgbClr val="00A85A"/>
                </a:solidFill>
                <a:latin typeface="Segoe UI"/>
                <a:ea typeface="Segoe UI"/>
              </a:rPr>
              <a:t>أحداث تدخل وحالات تخرج</a:t>
            </a:r>
          </a:p>
        </p:txBody>
      </p:sp>
      <p:sp>
        <p:nvSpPr>
          <p:cNvPr id="9" name="TextBox 9">
            <a:extLst>
              <a:ext uri="{FF2B5EF4-FFF2-40B4-BE49-F238E27FC236}">
                <a16:creationId xmlns:a16="http://schemas.microsoft.com/office/drawing/2014/main" id="{CA838999-FAB7-41C1-A7E9-03BA53540FEC}"/>
              </a:ext>
            </a:extLst>
          </p:cNvPr>
          <p:cNvSpPr txBox="1"/>
          <p:nvPr/>
        </p:nvSpPr>
        <p:spPr>
          <a:xfrm>
            <a:off x="990600" y="2495550"/>
            <a:ext cx="4762500" cy="1905000"/>
          </a:xfrm>
        </p:spPr>
        <p:txBody>
          <a:bodyPr wrap="square" rtlCol="0" lIns="0" tIns="0" rIns="0" bIns="0" anchor="t"/>
          <a:lstStyle/>
          <a:p>
            <a:pPr marL="228600" indent="-228600" algn="l">
              <a:spcAft>
                <a:spcPts val="800"/>
              </a:spcAft>
              <a:buChar char="•"/>
            </a:pPr>
            <a:r>
              <a:rPr sz="1250">
                <a:solidFill>
                  <a:srgbClr val="00A85A"/>
                </a:solidFill>
                <a:latin typeface="Consolas"/>
                <a:ea typeface="Consolas"/>
              </a:rPr>
              <a:t>CartItemAdded</a:t>
            </a:r>
          </a:p>
          <a:p>
            <a:pPr marL="228600" indent="-228600" algn="l">
              <a:spcAft>
                <a:spcPts val="800"/>
              </a:spcAft>
              <a:buChar char="•"/>
            </a:pPr>
            <a:r>
              <a:rPr sz="1250">
                <a:solidFill>
                  <a:srgbClr val="00A85A"/>
                </a:solidFill>
                <a:latin typeface="Consolas"/>
                <a:ea typeface="Consolas"/>
              </a:rPr>
              <a:t>CartItemRemoved</a:t>
            </a:r>
          </a:p>
          <a:p>
            <a:pPr marL="228600" indent="-228600" algn="l">
              <a:spcAft>
                <a:spcPts val="800"/>
              </a:spcAft>
              <a:buChar char="•"/>
            </a:pPr>
            <a:r>
              <a:rPr sz="1250">
                <a:solidFill>
                  <a:srgbClr val="00A85A"/>
                </a:solidFill>
                <a:latin typeface="Consolas"/>
                <a:ea typeface="Consolas"/>
              </a:rPr>
              <a:t>CartItemQuantityChanged</a:t>
            </a:r>
          </a:p>
          <a:p>
            <a:pPr marL="228600" indent="-228600" algn="l">
              <a:spcAft>
                <a:spcPts val="800"/>
              </a:spcAft>
              <a:buChar char="•"/>
            </a:pPr>
            <a:r>
              <a:rPr sz="1250">
                <a:solidFill>
                  <a:srgbClr val="00A85A"/>
                </a:solidFill>
                <a:latin typeface="Consolas"/>
                <a:ea typeface="Consolas"/>
              </a:rPr>
              <a:t>CartCleared</a:t>
            </a:r>
          </a:p>
          <a:p>
            <a:pPr marL="228600" indent="-228600" algn="l">
              <a:buChar char="•"/>
            </a:pPr>
            <a:r>
              <a:rPr sz="1250">
                <a:solidFill>
                  <a:srgbClr val="00A85A"/>
                </a:solidFill>
                <a:latin typeface="Consolas"/>
                <a:ea typeface="Consolas"/>
              </a:rPr>
              <a:t>CartCheckoutRequested</a:t>
            </a:r>
          </a:p>
        </p:txBody>
      </p:sp>
      <p:sp>
        <p:nvSpPr>
          <p:cNvPr id="10" name="TextBox 10">
            <a:extLst>
              <a:ext uri="{FF2B5EF4-FFF2-40B4-BE49-F238E27FC236}">
                <a16:creationId xmlns:a16="http://schemas.microsoft.com/office/drawing/2014/main" id="{776B68A1-54F2-4D51-AAB8-9E60266EA934}"/>
              </a:ext>
            </a:extLst>
          </p:cNvPr>
          <p:cNvSpPr txBox="1"/>
          <p:nvPr/>
        </p:nvSpPr>
        <p:spPr>
          <a:xfrm>
            <a:off x="990600" y="4438650"/>
            <a:ext cx="4762500" cy="876300"/>
          </a:xfrm>
        </p:spPr>
        <p:txBody>
          <a:bodyPr wrap="square" rtlCol="0" lIns="0" tIns="0" rIns="0" bIns="0" anchor="t"/>
          <a:lstStyle/>
          <a:p>
            <a:pPr algn="l">
              <a:lnSpc>
                <a:spcPct val="130000"/>
              </a:lnSpc>
              <a:spcAft>
                <a:spcPts val="800"/>
              </a:spcAft>
            </a:pPr>
            <a:r>
              <a:rPr sz="1200">
                <a:solidFill>
                  <a:srgbClr val="5A6675"/>
                </a:solidFill>
                <a:latin typeface="Segoe UI"/>
                <a:ea typeface="Segoe UI"/>
              </a:rPr>
              <a:t>Every mutation is delegated to a use case, so the Bloc holds orchestration and not one business rule.</a:t>
            </a:r>
          </a:p>
          <a:p>
            <a:pPr algn="l">
              <a:lnSpc>
                <a:spcPct val="130000"/>
              </a:lnSpc>
            </a:pPr>
            <a:r>
              <a:rPr sz="1150">
                <a:solidFill>
                  <a:srgbClr val="7A8796"/>
                </a:solidFill>
                <a:latin typeface="Segoe UI"/>
                <a:ea typeface="Segoe UI"/>
              </a:rPr>
              <a:t>كل تعديل يمرّ عبر حالة استخدام، فلا يحمل الـ Bloc أي قاعدة عمل.</a:t>
            </a:r>
          </a:p>
        </p:txBody>
      </p:sp>
      <p:sp>
        <p:nvSpPr>
          <p:cNvPr id="11" name="TextBox 11">
            <a:extLst>
              <a:ext uri="{FF2B5EF4-FFF2-40B4-BE49-F238E27FC236}">
                <a16:creationId xmlns:a16="http://schemas.microsoft.com/office/drawing/2014/main" id="{F51B253F-D7D5-407E-AE7A-7E110A4018CB}"/>
              </a:ext>
            </a:extLst>
          </p:cNvPr>
          <p:cNvSpPr txBox="1"/>
          <p:nvPr/>
        </p:nvSpPr>
        <p:spPr>
          <a:xfrm>
            <a:off x="6467475" y="1828800"/>
            <a:ext cx="4762500" cy="552450"/>
          </a:xfrm>
        </p:spPr>
        <p:txBody>
          <a:bodyPr wrap="square" rtlCol="0" lIns="0" tIns="0" rIns="0" bIns="0" anchor="t"/>
          <a:lstStyle/>
          <a:p>
            <a:pPr algn="l">
              <a:spcAft>
                <a:spcPts val="600"/>
              </a:spcAft>
            </a:pPr>
            <a:r>
              <a:rPr sz="1600" b="1">
                <a:solidFill>
                  <a:srgbClr val="12141A"/>
                </a:solidFill>
                <a:latin typeface="Segoe UI"/>
                <a:ea typeface="Segoe UI"/>
              </a:rPr>
              <a:t>The Cubit roster</a:t>
            </a:r>
          </a:p>
          <a:p>
            <a:pPr algn="l"/>
            <a:r>
              <a:rPr sz="1300" b="1">
                <a:solidFill>
                  <a:srgbClr val="00A85A"/>
                </a:solidFill>
                <a:latin typeface="Segoe UI"/>
                <a:ea typeface="Segoe UI"/>
              </a:rPr>
              <a:t>قائمة المُحوِّلات</a:t>
            </a:r>
          </a:p>
        </p:txBody>
      </p:sp>
      <p:sp>
        <p:nvSpPr>
          <p:cNvPr id="12" name="TextBox 12">
            <a:extLst>
              <a:ext uri="{FF2B5EF4-FFF2-40B4-BE49-F238E27FC236}">
                <a16:creationId xmlns:a16="http://schemas.microsoft.com/office/drawing/2014/main" id="{0DEABC1B-6FBF-439E-968C-5F298CC7FFF5}"/>
              </a:ext>
            </a:extLst>
          </p:cNvPr>
          <p:cNvSpPr txBox="1"/>
          <p:nvPr/>
        </p:nvSpPr>
        <p:spPr>
          <a:xfrm>
            <a:off x="6467475" y="2495550"/>
            <a:ext cx="4762500" cy="1943100"/>
          </a:xfrm>
        </p:spPr>
        <p:txBody>
          <a:bodyPr wrap="square" rtlCol="0" lIns="0" tIns="0" rIns="0" bIns="0" anchor="t"/>
          <a:lstStyle/>
          <a:p>
            <a:pPr marL="228600" indent="-228600" algn="l">
              <a:spcAft>
                <a:spcPts val="800"/>
              </a:spcAft>
              <a:buChar char="•"/>
            </a:pPr>
            <a:r>
              <a:rPr sz="1250">
                <a:solidFill>
                  <a:srgbClr val="00A85A"/>
                </a:solidFill>
                <a:latin typeface="Consolas"/>
                <a:ea typeface="Consolas"/>
              </a:rPr>
              <a:t>AuthCubit</a:t>
            </a:r>
            <a:r>
              <a:rPr sz="1150">
                <a:solidFill>
                  <a:srgbClr val="7A8796"/>
                </a:solidFill>
                <a:latin typeface="Segoe UI"/>
                <a:ea typeface="Segoe UI"/>
              </a:rPr>
              <a:t>   sealed states, biometric gate</a:t>
            </a:r>
          </a:p>
          <a:p>
            <a:pPr marL="228600" indent="-228600" algn="l">
              <a:spcAft>
                <a:spcPts val="800"/>
              </a:spcAft>
              <a:buChar char="•"/>
            </a:pPr>
            <a:r>
              <a:rPr sz="1250">
                <a:solidFill>
                  <a:srgbClr val="00A85A"/>
                </a:solidFill>
                <a:latin typeface="Consolas"/>
                <a:ea typeface="Consolas"/>
              </a:rPr>
              <a:t>MealsCubit</a:t>
            </a:r>
            <a:r>
              <a:rPr sz="1150">
                <a:solidFill>
                  <a:srgbClr val="7A8796"/>
                </a:solidFill>
                <a:latin typeface="Segoe UI"/>
                <a:ea typeface="Segoe UI"/>
              </a:rPr>
              <a:t>   the live feed</a:t>
            </a:r>
          </a:p>
          <a:p>
            <a:pPr marL="228600" indent="-228600" algn="l">
              <a:spcAft>
                <a:spcPts val="800"/>
              </a:spcAft>
              <a:buChar char="•"/>
            </a:pPr>
            <a:r>
              <a:rPr sz="1250">
                <a:solidFill>
                  <a:srgbClr val="00A85A"/>
                </a:solidFill>
                <a:latin typeface="Consolas"/>
                <a:ea typeface="Consolas"/>
              </a:rPr>
              <a:t>FavouritesCubit</a:t>
            </a:r>
            <a:r>
              <a:rPr sz="1150">
                <a:solidFill>
                  <a:srgbClr val="7A8796"/>
                </a:solidFill>
                <a:latin typeface="Segoe UI"/>
                <a:ea typeface="Segoe UI"/>
              </a:rPr>
              <a:t>   hearts</a:t>
            </a:r>
          </a:p>
          <a:p>
            <a:pPr marL="228600" indent="-228600" algn="l">
              <a:spcAft>
                <a:spcPts val="800"/>
              </a:spcAft>
              <a:buChar char="•"/>
            </a:pPr>
            <a:r>
              <a:rPr sz="1250">
                <a:solidFill>
                  <a:srgbClr val="00A85A"/>
                </a:solidFill>
                <a:latin typeface="Consolas"/>
                <a:ea typeface="Consolas"/>
              </a:rPr>
              <a:t>OrdersCubit</a:t>
            </a:r>
            <a:r>
              <a:rPr sz="1150">
                <a:solidFill>
                  <a:srgbClr val="7A8796"/>
                </a:solidFill>
                <a:latin typeface="Segoe UI"/>
                <a:ea typeface="Segoe UI"/>
              </a:rPr>
              <a:t>   current / past</a:t>
            </a:r>
          </a:p>
          <a:p>
            <a:pPr marL="228600" indent="-228600" algn="l">
              <a:spcAft>
                <a:spcPts val="800"/>
              </a:spcAft>
              <a:buChar char="•"/>
            </a:pPr>
            <a:r>
              <a:rPr sz="1250">
                <a:solidFill>
                  <a:srgbClr val="00A85A"/>
                </a:solidFill>
                <a:latin typeface="Consolas"/>
                <a:ea typeface="Consolas"/>
              </a:rPr>
              <a:t>ProfileCubit</a:t>
            </a:r>
            <a:r>
              <a:rPr sz="1150">
                <a:solidFill>
                  <a:srgbClr val="7A8796"/>
                </a:solidFill>
                <a:latin typeface="Segoe UI"/>
                <a:ea typeface="Segoe UI"/>
              </a:rPr>
              <a:t>   device + photo</a:t>
            </a:r>
          </a:p>
          <a:p>
            <a:pPr marL="228600" indent="-228600" algn="l">
              <a:spcAft>
                <a:spcPts val="800"/>
              </a:spcAft>
              <a:buChar char="•"/>
            </a:pPr>
            <a:r>
              <a:rPr sz="1250">
                <a:solidFill>
                  <a:srgbClr val="00A85A"/>
                </a:solidFill>
                <a:latin typeface="Consolas"/>
                <a:ea typeface="Consolas"/>
              </a:rPr>
              <a:t>ThemeCubit</a:t>
            </a:r>
            <a:r>
              <a:rPr sz="1150">
                <a:solidFill>
                  <a:srgbClr val="7A8796"/>
                </a:solidFill>
                <a:latin typeface="Segoe UI"/>
                <a:ea typeface="Segoe UI"/>
              </a:rPr>
              <a:t>   light / dark / glass</a:t>
            </a:r>
          </a:p>
          <a:p>
            <a:pPr marL="228600" indent="-228600" algn="l">
              <a:buChar char="•"/>
            </a:pPr>
            <a:r>
              <a:rPr sz="1250">
                <a:solidFill>
                  <a:srgbClr val="00A85A"/>
                </a:solidFill>
                <a:latin typeface="Consolas"/>
                <a:ea typeface="Consolas"/>
              </a:rPr>
              <a:t>LocaleCubit</a:t>
            </a:r>
            <a:r>
              <a:rPr sz="1150">
                <a:solidFill>
                  <a:srgbClr val="7A8796"/>
                </a:solidFill>
                <a:latin typeface="Segoe UI"/>
                <a:ea typeface="Segoe UI"/>
              </a:rPr>
              <a:t>   en / ar</a:t>
            </a:r>
          </a:p>
        </p:txBody>
      </p:sp>
      <p:sp>
        <p:nvSpPr>
          <p:cNvPr id="13" name="TextBox 13">
            <a:extLst>
              <a:ext uri="{FF2B5EF4-FFF2-40B4-BE49-F238E27FC236}">
                <a16:creationId xmlns:a16="http://schemas.microsoft.com/office/drawing/2014/main" id="{4408E92D-5CA1-4CAE-9E8B-EFA17B497333}"/>
              </a:ext>
            </a:extLst>
          </p:cNvPr>
          <p:cNvSpPr txBox="1"/>
          <p:nvPr/>
        </p:nvSpPr>
        <p:spPr>
          <a:xfrm>
            <a:off x="6467475" y="4438650"/>
            <a:ext cx="4762500" cy="876300"/>
          </a:xfrm>
        </p:spPr>
        <p:txBody>
          <a:bodyPr wrap="square" rtlCol="0" lIns="0" tIns="0" rIns="0" bIns="0" anchor="t"/>
          <a:lstStyle/>
          <a:p>
            <a:pPr algn="l">
              <a:lnSpc>
                <a:spcPct val="130000"/>
              </a:lnSpc>
              <a:spcAft>
                <a:spcPts val="800"/>
              </a:spcAft>
            </a:pPr>
            <a:r>
              <a:rPr sz="1200">
                <a:solidFill>
                  <a:srgbClr val="5A6675"/>
                </a:solidFill>
                <a:latin typeface="Segoe UI"/>
                <a:ea typeface="Segoe UI"/>
              </a:rPr>
              <a:t>Auth is a sealed state machine, so a Dart switch expression has to cover every case or the build fails.</a:t>
            </a:r>
          </a:p>
          <a:p>
            <a:pPr algn="l">
              <a:lnSpc>
                <a:spcPct val="130000"/>
              </a:lnSpc>
            </a:pPr>
            <a:r>
              <a:rPr sz="1150">
                <a:solidFill>
                  <a:srgbClr val="7A8796"/>
                </a:solidFill>
                <a:latin typeface="Segoe UI"/>
                <a:ea typeface="Segoe UI"/>
              </a:rPr>
              <a:t>الحالة مغلقة، لذا يجب أن يغطي switch كل احتمال أو يفشل البناء.</a:t>
            </a:r>
          </a:p>
        </p:txBody>
      </p:sp>
      <p:sp>
        <p:nvSpPr>
          <p:cNvPr id="14" name="Shape 14">
            <a:extLst>
              <a:ext uri="{FF2B5EF4-FFF2-40B4-BE49-F238E27FC236}">
                <a16:creationId xmlns:a16="http://schemas.microsoft.com/office/drawing/2014/main" id="{BA98907E-5EFF-49FE-A546-6A63CD983BBB}"/>
              </a:ext>
            </a:extLst>
          </p:cNvPr>
          <p:cNvSpPr/>
          <p:nvPr/>
        </p:nvSpPr>
        <p:spPr>
          <a:xfrm>
            <a:off x="762000" y="5619750"/>
            <a:ext cx="10668000" cy="666750"/>
          </a:xfrm>
          <a:prstGeom prst="roundRect">
            <a:avLst/>
          </a:prstGeom>
          <a:solidFill>
            <a:srgbClr val="080D18"/>
          </a:solidFill>
        </p:spPr>
        <p:txBody>
          <a:bodyPr wrap="square" rtlCol="0"/>
          <a:lstStyle/>
          <a:p>
            <a:r>
              <a:rPr/>
              <a:t/>
            </a:r>
          </a:p>
        </p:txBody>
      </p:sp>
      <p:sp>
        <p:nvSpPr>
          <p:cNvPr id="15" name="TextBox 15">
            <a:extLst>
              <a:ext uri="{FF2B5EF4-FFF2-40B4-BE49-F238E27FC236}">
                <a16:creationId xmlns:a16="http://schemas.microsoft.com/office/drawing/2014/main" id="{402F4667-B17F-4A46-B4E2-018B9B22B6CE}"/>
              </a:ext>
            </a:extLst>
          </p:cNvPr>
          <p:cNvSpPr txBox="1"/>
          <p:nvPr/>
        </p:nvSpPr>
        <p:spPr>
          <a:xfrm>
            <a:off x="990600" y="5734050"/>
            <a:ext cx="10210800" cy="247650"/>
          </a:xfrm>
        </p:spPr>
        <p:txBody>
          <a:bodyPr wrap="square" rtlCol="0" lIns="0" tIns="0" rIns="0" bIns="0" anchor="t"/>
          <a:lstStyle/>
          <a:p>
            <a:pPr algn="l"/>
            <a:r>
              <a:rPr sz="1250">
                <a:solidFill>
                  <a:srgbClr val="FFFFFF"/>
                </a:solidFill>
                <a:latin typeface="Segoe UI"/>
                <a:ea typeface="Segoe UI"/>
              </a:rPr>
              <a:t>A use case is the only entry point the presentation layer has into the domain — no Bloc or Cubit imports a repository.</a:t>
            </a:r>
          </a:p>
        </p:txBody>
      </p:sp>
      <p:sp>
        <p:nvSpPr>
          <p:cNvPr id="16" name="TextBox 16">
            <a:extLst>
              <a:ext uri="{FF2B5EF4-FFF2-40B4-BE49-F238E27FC236}">
                <a16:creationId xmlns:a16="http://schemas.microsoft.com/office/drawing/2014/main" id="{96921C3B-2DA9-4D12-8129-A5C8576325AE}"/>
              </a:ext>
            </a:extLst>
          </p:cNvPr>
          <p:cNvSpPr txBox="1"/>
          <p:nvPr/>
        </p:nvSpPr>
        <p:spPr>
          <a:xfrm>
            <a:off x="990600" y="6000750"/>
            <a:ext cx="10210800" cy="228600"/>
          </a:xfrm>
        </p:spPr>
        <p:txBody>
          <a:bodyPr wrap="square" rtlCol="0" lIns="0" tIns="0" rIns="0" bIns="0" anchor="t"/>
          <a:lstStyle/>
          <a:p>
            <a:pPr algn="l"/>
            <a:r>
              <a:rPr sz="1150">
                <a:solidFill>
                  <a:srgbClr val="9DAABF"/>
                </a:solidFill>
                <a:latin typeface="Segoe UI"/>
                <a:ea typeface="Segoe UI"/>
              </a:rPr>
              <a:t>حالة الاستخدام هي المدخل الوحيد إلى المجال: لا يستورد أي Bloc أو Cubit مستودعًا مباشرة.</a:t>
            </a:r>
          </a:p>
        </p:txBody>
      </p:sp>
      <p:sp>
        <p:nvSpPr>
          <p:cNvPr id="17" name="TextBox 17">
            <a:extLst>
              <a:ext uri="{FF2B5EF4-FFF2-40B4-BE49-F238E27FC236}">
                <a16:creationId xmlns:a16="http://schemas.microsoft.com/office/drawing/2014/main" id="{E67F395B-5FE6-4215-A1B5-C9DD16CD1D61}"/>
              </a:ext>
            </a:extLst>
          </p:cNvPr>
          <p:cNvSpPr txBox="1"/>
          <p:nvPr/>
        </p:nvSpPr>
        <p:spPr>
          <a:xfrm>
            <a:off x="762000" y="6515100"/>
            <a:ext cx="3810000" cy="209550"/>
          </a:xfrm>
        </p:spPr>
        <p:txBody>
          <a:bodyPr wrap="square" rtlCol="0" lIns="0" tIns="0" rIns="0" bIns="0" anchor="t"/>
          <a:lstStyle/>
          <a:p>
            <a:pPr algn="l"/>
            <a:r>
              <a:rPr sz="1000">
                <a:solidFill>
                  <a:srgbClr val="9AA5B1"/>
                </a:solidFill>
                <a:latin typeface="Segoe UI"/>
                <a:ea typeface="Segoe UI"/>
              </a:rPr>
              <a:t>StreetBite · Capstone report · 08</a:t>
            </a:r>
          </a:p>
        </p:txBody>
      </p:sp>
      <p:sp>
        <p:nvSpPr>
          <p:cNvPr id="18" name="TextBox 18">
            <a:extLst>
              <a:ext uri="{FF2B5EF4-FFF2-40B4-BE49-F238E27FC236}">
                <a16:creationId xmlns:a16="http://schemas.microsoft.com/office/drawing/2014/main" id="{F4219B96-C21C-48F3-BF54-4FDE4CC17771}"/>
              </a:ext>
            </a:extLst>
          </p:cNvPr>
          <p:cNvSpPr txBox="1"/>
          <p:nvPr/>
        </p:nvSpPr>
        <p:spPr>
          <a:xfrm>
            <a:off x="6667500" y="6515100"/>
            <a:ext cx="4000500" cy="209550"/>
          </a:xfrm>
        </p:spPr>
        <p:txBody>
          <a:bodyPr wrap="square" rtlCol="0" lIns="0" tIns="0" rIns="0" bIns="0" anchor="t"/>
          <a:lstStyle/>
          <a:p>
            <a:pPr algn="r"/>
            <a:r>
              <a:rPr sz="1000">
                <a:solidFill>
                  <a:srgbClr val="9AA5B1"/>
                </a:solidFill>
                <a:latin typeface="Segoe UI"/>
                <a:ea typeface="Segoe UI"/>
              </a:rPr>
              <a:t>flutter_bloc · GetIt · sealed states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6F8FA"/>
        </a:solidFill>
        <a:effectLst/>
      </p:bgPr>
    </p:bg>
    <p:spTree>
      <p:nvGrpSpPr>
        <p:cNvPr id="1" name=""/>
        <p:cNvGrpSpPr/>
        <p:nvPr/>
      </p:nvGrpSpPr>
      <p:grpSpPr>
        <a:xfrm>
          <a:off x="0" y="0"/>
          <a:ext cx="0" cy="0"/>
          <a:chOff x="0" y="0"/>
          <a:chExt cx="0" cy="0"/>
        </a:xfrm>
      </p:grpSpPr>
      <p:sp>
        <p:nvSpPr>
          <p:cNvPr id="3" name="TextBox 3">
            <a:extLst>
              <a:ext uri="{FF2B5EF4-FFF2-40B4-BE49-F238E27FC236}">
                <a16:creationId xmlns:a16="http://schemas.microsoft.com/office/drawing/2014/main" id="{895C62F8-0795-46F3-9763-938C5EFACE46}"/>
              </a:ext>
            </a:extLst>
          </p:cNvPr>
          <p:cNvSpPr txBox="1"/>
          <p:nvPr/>
        </p:nvSpPr>
        <p:spPr>
          <a:xfrm>
            <a:off x="762000" y="533400"/>
            <a:ext cx="5715000" cy="209550"/>
          </a:xfrm>
        </p:spPr>
        <p:txBody>
          <a:bodyPr wrap="square" rtlCol="0" lIns="0" tIns="0" rIns="0" bIns="0" anchor="t"/>
          <a:lstStyle/>
          <a:p>
            <a:pPr algn="l"/>
            <a:r>
              <a:rPr sz="1100" b="1">
                <a:solidFill>
                  <a:srgbClr val="00C16A"/>
                </a:solidFill>
                <a:latin typeface="Segoe UI"/>
                <a:ea typeface="Segoe UI"/>
              </a:rPr>
              <a:t>08  ·  DATA AND RESILIENCE</a:t>
            </a:r>
          </a:p>
        </p:txBody>
      </p:sp>
      <p:sp>
        <p:nvSpPr>
          <p:cNvPr id="4" name="TextBox 4">
            <a:extLst>
              <a:ext uri="{FF2B5EF4-FFF2-40B4-BE49-F238E27FC236}">
                <a16:creationId xmlns:a16="http://schemas.microsoft.com/office/drawing/2014/main" id="{4CA5D365-000C-4F93-970D-B8F8F1283E94}"/>
              </a:ext>
            </a:extLst>
          </p:cNvPr>
          <p:cNvSpPr txBox="1"/>
          <p:nvPr/>
        </p:nvSpPr>
        <p:spPr>
          <a:xfrm>
            <a:off x="762000" y="781050"/>
            <a:ext cx="5905500" cy="533400"/>
          </a:xfrm>
        </p:spPr>
        <p:txBody>
          <a:bodyPr wrap="square" rtlCol="0" lIns="0" tIns="0" rIns="0" bIns="0" anchor="t"/>
          <a:lstStyle/>
          <a:p>
            <a:pPr algn="l"/>
            <a:r>
              <a:rPr sz="3000" b="1">
                <a:solidFill>
                  <a:srgbClr val="12141A"/>
                </a:solidFill>
                <a:latin typeface="Segoe UI"/>
                <a:ea typeface="Segoe UI"/>
              </a:rPr>
              <a:t>Works with no Firebase</a:t>
            </a:r>
          </a:p>
        </p:txBody>
      </p:sp>
      <p:sp>
        <p:nvSpPr>
          <p:cNvPr id="5" name="TextBox 5">
            <a:extLst>
              <a:ext uri="{FF2B5EF4-FFF2-40B4-BE49-F238E27FC236}">
                <a16:creationId xmlns:a16="http://schemas.microsoft.com/office/drawing/2014/main" id="{98C867F3-04BD-4C72-BAFE-5E01A80C473C}"/>
              </a:ext>
            </a:extLst>
          </p:cNvPr>
          <p:cNvSpPr txBox="1"/>
          <p:nvPr/>
        </p:nvSpPr>
        <p:spPr>
          <a:xfrm>
            <a:off x="7620000" y="857250"/>
            <a:ext cx="3810000" cy="419100"/>
          </a:xfrm>
        </p:spPr>
        <p:txBody>
          <a:bodyPr wrap="square" rtlCol="0" lIns="0" tIns="0" rIns="0" bIns="0" anchor="t"/>
          <a:lstStyle/>
          <a:p>
            <a:pPr algn="r"/>
            <a:r>
              <a:rPr sz="2400" b="1">
                <a:solidFill>
                  <a:srgbClr val="5A6675"/>
                </a:solidFill>
                <a:latin typeface="Segoe UI"/>
                <a:ea typeface="Segoe UI"/>
              </a:rPr>
              <a:t>يعمل دون Firebase</a:t>
            </a:r>
          </a:p>
        </p:txBody>
      </p:sp>
      <p:sp>
        <p:nvSpPr>
          <p:cNvPr id="6" name="Shape 6">
            <a:extLst>
              <a:ext uri="{FF2B5EF4-FFF2-40B4-BE49-F238E27FC236}">
                <a16:creationId xmlns:a16="http://schemas.microsoft.com/office/drawing/2014/main" id="{9415EA42-517C-4CA9-B175-F6215628E821}"/>
              </a:ext>
            </a:extLst>
          </p:cNvPr>
          <p:cNvSpPr/>
          <p:nvPr/>
        </p:nvSpPr>
        <p:spPr>
          <a:xfrm>
            <a:off x="762000" y="1619250"/>
            <a:ext cx="5191125" cy="2762250"/>
          </a:xfrm>
          <a:prstGeom prst="roundRect">
            <a:avLst/>
          </a:prstGeom>
          <a:solidFill>
            <a:srgbClr val="FFFFFF"/>
          </a:solidFill>
          <a:ln w="12700">
            <a:solidFill>
              <a:srgbClr val="E4E9F0"/>
            </a:solidFill>
          </a:ln>
        </p:spPr>
        <p:txBody>
          <a:bodyPr wrap="square" rtlCol="0"/>
          <a:lstStyle/>
          <a:p>
            <a:r>
              <a:rPr/>
              <a:t/>
            </a:r>
          </a:p>
        </p:txBody>
      </p:sp>
      <p:sp>
        <p:nvSpPr>
          <p:cNvPr id="7" name="Shape 7">
            <a:extLst>
              <a:ext uri="{FF2B5EF4-FFF2-40B4-BE49-F238E27FC236}">
                <a16:creationId xmlns:a16="http://schemas.microsoft.com/office/drawing/2014/main" id="{89F3CEF0-3CED-4C34-93F9-66CA7363651A}"/>
              </a:ext>
            </a:extLst>
          </p:cNvPr>
          <p:cNvSpPr/>
          <p:nvPr/>
        </p:nvSpPr>
        <p:spPr>
          <a:xfrm>
            <a:off x="6238875" y="1619250"/>
            <a:ext cx="5191125" cy="2762250"/>
          </a:xfrm>
          <a:prstGeom prst="roundRect">
            <a:avLst/>
          </a:prstGeom>
          <a:solidFill>
            <a:srgbClr val="FFFFFF"/>
          </a:solidFill>
          <a:ln w="12700">
            <a:solidFill>
              <a:srgbClr val="E4E9F0"/>
            </a:solidFill>
          </a:ln>
        </p:spPr>
        <p:txBody>
          <a:bodyPr wrap="square" rtlCol="0"/>
          <a:lstStyle/>
          <a:p>
            <a:r>
              <a:rPr/>
              <a:t/>
            </a:r>
          </a:p>
        </p:txBody>
      </p:sp>
      <p:sp>
        <p:nvSpPr>
          <p:cNvPr id="8" name="TextBox 8">
            <a:extLst>
              <a:ext uri="{FF2B5EF4-FFF2-40B4-BE49-F238E27FC236}">
                <a16:creationId xmlns:a16="http://schemas.microsoft.com/office/drawing/2014/main" id="{C4F53918-1019-483E-B609-5CAFB1193F51}"/>
              </a:ext>
            </a:extLst>
          </p:cNvPr>
          <p:cNvSpPr txBox="1"/>
          <p:nvPr/>
        </p:nvSpPr>
        <p:spPr>
          <a:xfrm>
            <a:off x="990600" y="1828800"/>
            <a:ext cx="4762500" cy="533400"/>
          </a:xfrm>
        </p:spPr>
        <p:txBody>
          <a:bodyPr wrap="square" rtlCol="0" lIns="0" tIns="0" rIns="0" bIns="0" anchor="t"/>
          <a:lstStyle/>
          <a:p>
            <a:pPr algn="l">
              <a:spcAft>
                <a:spcPts val="600"/>
              </a:spcAft>
            </a:pPr>
            <a:r>
              <a:rPr sz="1600" b="1">
                <a:solidFill>
                  <a:srgbClr val="12141A"/>
                </a:solidFill>
                <a:latin typeface="Segoe UI"/>
                <a:ea typeface="Segoe UI"/>
              </a:rPr>
              <a:t>When the backend is there</a:t>
            </a:r>
          </a:p>
          <a:p>
            <a:pPr algn="l"/>
            <a:r>
              <a:rPr sz="1300" b="1">
                <a:solidFill>
                  <a:srgbClr val="00A85A"/>
                </a:solidFill>
                <a:latin typeface="Segoe UI"/>
                <a:ea typeface="Segoe UI"/>
              </a:rPr>
              <a:t>عندما يكون متاحًا</a:t>
            </a:r>
          </a:p>
        </p:txBody>
      </p:sp>
      <p:sp>
        <p:nvSpPr>
          <p:cNvPr id="9" name="TextBox 9">
            <a:extLst>
              <a:ext uri="{FF2B5EF4-FFF2-40B4-BE49-F238E27FC236}">
                <a16:creationId xmlns:a16="http://schemas.microsoft.com/office/drawing/2014/main" id="{8A44BDE3-C636-4DDB-A508-1E1D340A0B0B}"/>
              </a:ext>
            </a:extLst>
          </p:cNvPr>
          <p:cNvSpPr txBox="1"/>
          <p:nvPr/>
        </p:nvSpPr>
        <p:spPr>
          <a:xfrm>
            <a:off x="990600" y="2476500"/>
            <a:ext cx="4762500" cy="1143000"/>
          </a:xfrm>
        </p:spPr>
        <p:txBody>
          <a:bodyPr wrap="square" rtlCol="0" lIns="0" tIns="0" rIns="0" bIns="0" anchor="t"/>
          <a:lstStyle/>
          <a:p>
            <a:pPr marL="228600" indent="-228600" algn="l">
              <a:spcAft>
                <a:spcPts val="1000"/>
              </a:spcAft>
              <a:buChar char="•"/>
            </a:pPr>
            <a:r>
              <a:rPr sz="1250">
                <a:solidFill>
                  <a:srgbClr val="5A6675"/>
                </a:solidFill>
                <a:latin typeface="Segoe UI"/>
                <a:ea typeface="Segoe UI"/>
              </a:rPr>
              <a:t>Firebase Auth for credentials, session persisted</a:t>
            </a:r>
          </a:p>
          <a:p>
            <a:pPr marL="228600" indent="-228600" algn="l">
              <a:spcAft>
                <a:spcPts val="1000"/>
              </a:spcAft>
              <a:buChar char="•"/>
            </a:pPr>
            <a:r>
              <a:rPr sz="1250">
                <a:solidFill>
                  <a:srgbClr val="5A6675"/>
                </a:solidFill>
                <a:latin typeface="Segoe UI"/>
                <a:ea typeface="Segoe UI"/>
              </a:rPr>
              <a:t>Firestore for favourites, orders and profile</a:t>
            </a:r>
          </a:p>
          <a:p>
            <a:pPr marL="228600" indent="-228600" algn="l">
              <a:buChar char="•"/>
            </a:pPr>
            <a:r>
              <a:rPr sz="1250">
                <a:solidFill>
                  <a:srgbClr val="5A6675"/>
                </a:solidFill>
                <a:latin typeface="Segoe UI"/>
                <a:ea typeface="Segoe UI"/>
              </a:rPr>
              <a:t>TheMealDB through Dio, mirrored into a cache</a:t>
            </a:r>
          </a:p>
        </p:txBody>
      </p:sp>
      <p:sp>
        <p:nvSpPr>
          <p:cNvPr id="10" name="TextBox 10">
            <a:extLst>
              <a:ext uri="{FF2B5EF4-FFF2-40B4-BE49-F238E27FC236}">
                <a16:creationId xmlns:a16="http://schemas.microsoft.com/office/drawing/2014/main" id="{4F612A44-153E-4565-B0B0-A0C4AFF3E49E}"/>
              </a:ext>
            </a:extLst>
          </p:cNvPr>
          <p:cNvSpPr txBox="1"/>
          <p:nvPr/>
        </p:nvSpPr>
        <p:spPr>
          <a:xfrm>
            <a:off x="990600" y="3714750"/>
            <a:ext cx="4762500" cy="571500"/>
          </a:xfrm>
        </p:spPr>
        <p:txBody>
          <a:bodyPr wrap="square" rtlCol="0" lIns="0" tIns="0" rIns="0" bIns="0" anchor="t"/>
          <a:lstStyle/>
          <a:p>
            <a:pPr algn="l">
              <a:lnSpc>
                <a:spcPct val="130000"/>
              </a:lnSpc>
            </a:pPr>
            <a:r>
              <a:rPr sz="1150">
                <a:solidFill>
                  <a:srgbClr val="7A8796"/>
                </a:solidFill>
                <a:latin typeface="Segoe UI"/>
                <a:ea typeface="Segoe UI"/>
              </a:rPr>
              <a:t>المصادقة عبر Firebase، والبيانات في Firestore، والقائمة من TheMealDB بنسخة مخزّنة.</a:t>
            </a:r>
          </a:p>
        </p:txBody>
      </p:sp>
      <p:sp>
        <p:nvSpPr>
          <p:cNvPr id="11" name="TextBox 11">
            <a:extLst>
              <a:ext uri="{FF2B5EF4-FFF2-40B4-BE49-F238E27FC236}">
                <a16:creationId xmlns:a16="http://schemas.microsoft.com/office/drawing/2014/main" id="{0F83EBD7-D250-420A-B26B-F5EE8AC20C16}"/>
              </a:ext>
            </a:extLst>
          </p:cNvPr>
          <p:cNvSpPr txBox="1"/>
          <p:nvPr/>
        </p:nvSpPr>
        <p:spPr>
          <a:xfrm>
            <a:off x="6467475" y="1828800"/>
            <a:ext cx="4762500" cy="533400"/>
          </a:xfrm>
        </p:spPr>
        <p:txBody>
          <a:bodyPr wrap="square" rtlCol="0" lIns="0" tIns="0" rIns="0" bIns="0" anchor="t"/>
          <a:lstStyle/>
          <a:p>
            <a:pPr algn="l">
              <a:spcAft>
                <a:spcPts val="600"/>
              </a:spcAft>
            </a:pPr>
            <a:r>
              <a:rPr sz="1600" b="1">
                <a:solidFill>
                  <a:srgbClr val="12141A"/>
                </a:solidFill>
                <a:latin typeface="Segoe UI"/>
                <a:ea typeface="Segoe UI"/>
              </a:rPr>
              <a:t>When it is not configured</a:t>
            </a:r>
          </a:p>
          <a:p>
            <a:pPr algn="l"/>
            <a:r>
              <a:rPr sz="1300" b="1">
                <a:solidFill>
                  <a:srgbClr val="00A85A"/>
                </a:solidFill>
                <a:latin typeface="Segoe UI"/>
                <a:ea typeface="Segoe UI"/>
              </a:rPr>
              <a:t>عندما لا يكون مُهيّأً</a:t>
            </a:r>
          </a:p>
        </p:txBody>
      </p:sp>
      <p:sp>
        <p:nvSpPr>
          <p:cNvPr id="12" name="TextBox 12">
            <a:extLst>
              <a:ext uri="{FF2B5EF4-FFF2-40B4-BE49-F238E27FC236}">
                <a16:creationId xmlns:a16="http://schemas.microsoft.com/office/drawing/2014/main" id="{0F6AD74C-C55B-4A54-BF52-7F21017469AA}"/>
              </a:ext>
            </a:extLst>
          </p:cNvPr>
          <p:cNvSpPr txBox="1"/>
          <p:nvPr/>
        </p:nvSpPr>
        <p:spPr>
          <a:xfrm>
            <a:off x="6467475" y="2476500"/>
            <a:ext cx="4762500" cy="1143000"/>
          </a:xfrm>
        </p:spPr>
        <p:txBody>
          <a:bodyPr wrap="square" rtlCol="0" lIns="0" tIns="0" rIns="0" bIns="0" anchor="t"/>
          <a:lstStyle/>
          <a:p>
            <a:pPr marL="228600" indent="-228600" algn="l">
              <a:spcAft>
                <a:spcPts val="1000"/>
              </a:spcAft>
              <a:buChar char="•"/>
            </a:pPr>
            <a:r>
              <a:rPr sz="1250">
                <a:solidFill>
                  <a:srgbClr val="5A6675"/>
                </a:solidFill>
                <a:latin typeface="Segoe UI"/>
                <a:ea typeface="Segoe UI"/>
              </a:rPr>
              <a:t>Sign-up, login and restore retry on-device</a:t>
            </a:r>
          </a:p>
          <a:p>
            <a:pPr marL="228600" indent="-228600" algn="l">
              <a:spcAft>
                <a:spcPts val="1000"/>
              </a:spcAft>
              <a:buChar char="•"/>
            </a:pPr>
            <a:r>
              <a:rPr sz="1250">
                <a:solidFill>
                  <a:srgbClr val="5A6675"/>
                </a:solidFill>
                <a:latin typeface="Segoe UI"/>
                <a:ea typeface="Segoe UI"/>
              </a:rPr>
              <a:t>Credential rejections surface verbatim</a:t>
            </a:r>
          </a:p>
          <a:p>
            <a:pPr marL="228600" indent="-228600" algn="l">
              <a:buChar char="•"/>
            </a:pPr>
            <a:r>
              <a:rPr sz="1250">
                <a:solidFill>
                  <a:srgbClr val="5A6675"/>
                </a:solidFill>
                <a:latin typeface="Segoe UI"/>
                <a:ea typeface="Segoe UI"/>
              </a:rPr>
              <a:t>The Gradle plugin applies only if the file exists</a:t>
            </a:r>
          </a:p>
        </p:txBody>
      </p:sp>
      <p:sp>
        <p:nvSpPr>
          <p:cNvPr id="13" name="TextBox 13">
            <a:extLst>
              <a:ext uri="{FF2B5EF4-FFF2-40B4-BE49-F238E27FC236}">
                <a16:creationId xmlns:a16="http://schemas.microsoft.com/office/drawing/2014/main" id="{43D54B45-B5DB-46B7-A16F-C37878594E1F}"/>
              </a:ext>
            </a:extLst>
          </p:cNvPr>
          <p:cNvSpPr txBox="1"/>
          <p:nvPr/>
        </p:nvSpPr>
        <p:spPr>
          <a:xfrm>
            <a:off x="6467475" y="3714750"/>
            <a:ext cx="4762500" cy="571500"/>
          </a:xfrm>
        </p:spPr>
        <p:txBody>
          <a:bodyPr wrap="square" rtlCol="0" lIns="0" tIns="0" rIns="0" bIns="0" anchor="t"/>
          <a:lstStyle/>
          <a:p>
            <a:pPr algn="l">
              <a:lnSpc>
                <a:spcPct val="130000"/>
              </a:lnSpc>
            </a:pPr>
            <a:r>
              <a:rPr sz="1150">
                <a:solidFill>
                  <a:srgbClr val="7A8796"/>
                </a:solidFill>
                <a:latin typeface="Segoe UI"/>
                <a:ea typeface="Segoe UI"/>
              </a:rPr>
              <a:t>رفض بيانات الاعتماد يُعرض كما هو حتى لا تُزوَّر نتيجة اختبار.</a:t>
            </a:r>
          </a:p>
        </p:txBody>
      </p:sp>
      <p:sp>
        <p:nvSpPr>
          <p:cNvPr id="14" name="Shape 14">
            <a:extLst>
              <a:ext uri="{FF2B5EF4-FFF2-40B4-BE49-F238E27FC236}">
                <a16:creationId xmlns:a16="http://schemas.microsoft.com/office/drawing/2014/main" id="{B5130D52-A6A8-4F1B-825A-B3D5D6D1B978}"/>
              </a:ext>
            </a:extLst>
          </p:cNvPr>
          <p:cNvSpPr/>
          <p:nvPr/>
        </p:nvSpPr>
        <p:spPr>
          <a:xfrm>
            <a:off x="762000" y="4572000"/>
            <a:ext cx="10668000" cy="1714500"/>
          </a:xfrm>
          <a:prstGeom prst="roundRect">
            <a:avLst/>
          </a:prstGeom>
          <a:solidFill>
            <a:srgbClr val="FFFFFF"/>
          </a:solidFill>
          <a:ln w="12700">
            <a:solidFill>
              <a:srgbClr val="E4E9F0"/>
            </a:solidFill>
          </a:ln>
        </p:spPr>
        <p:txBody>
          <a:bodyPr wrap="square" rtlCol="0"/>
          <a:lstStyle/>
          <a:p>
            <a:r>
              <a:rPr/>
              <a:t/>
            </a:r>
          </a:p>
        </p:txBody>
      </p:sp>
      <p:sp>
        <p:nvSpPr>
          <p:cNvPr id="15" name="TextBox 15">
            <a:extLst>
              <a:ext uri="{FF2B5EF4-FFF2-40B4-BE49-F238E27FC236}">
                <a16:creationId xmlns:a16="http://schemas.microsoft.com/office/drawing/2014/main" id="{937F47EF-A774-4F1D-AF01-AFB1D994A404}"/>
              </a:ext>
            </a:extLst>
          </p:cNvPr>
          <p:cNvSpPr txBox="1"/>
          <p:nvPr/>
        </p:nvSpPr>
        <p:spPr>
          <a:xfrm>
            <a:off x="990600" y="4781550"/>
            <a:ext cx="10210800" cy="609600"/>
          </a:xfrm>
        </p:spPr>
        <p:txBody>
          <a:bodyPr wrap="square" rtlCol="0" lIns="0" tIns="0" rIns="0" bIns="0" anchor="t"/>
          <a:lstStyle/>
          <a:p>
            <a:pPr algn="l">
              <a:lnSpc>
                <a:spcPct val="125000"/>
              </a:lnSpc>
            </a:pPr>
            <a:r>
              <a:rPr sz="1250" b="1">
                <a:solidFill>
                  <a:srgbClr val="12141A"/>
                </a:solidFill>
                <a:latin typeface="Segoe UI"/>
                <a:ea typeface="Segoe UI"/>
              </a:rPr>
              <a:t>Prices are synthetic on purpose: MealModel.priceForId() derives a deterministic price from the meal id, so the cached menu and a freshly fetched one always agree — the cart total is persisted.</a:t>
            </a:r>
          </a:p>
        </p:txBody>
      </p:sp>
      <p:sp>
        <p:nvSpPr>
          <p:cNvPr id="16" name="TextBox 16">
            <a:extLst>
              <a:ext uri="{FF2B5EF4-FFF2-40B4-BE49-F238E27FC236}">
                <a16:creationId xmlns:a16="http://schemas.microsoft.com/office/drawing/2014/main" id="{5540EED4-2F80-40C8-A073-A3E029B9FC2A}"/>
              </a:ext>
            </a:extLst>
          </p:cNvPr>
          <p:cNvSpPr txBox="1"/>
          <p:nvPr/>
        </p:nvSpPr>
        <p:spPr>
          <a:xfrm>
            <a:off x="990600" y="5486400"/>
            <a:ext cx="10210800" cy="304800"/>
          </a:xfrm>
        </p:spPr>
        <p:txBody>
          <a:bodyPr wrap="square" rtlCol="0" lIns="0" tIns="0" rIns="0" bIns="0" anchor="t"/>
          <a:lstStyle/>
          <a:p>
            <a:pPr algn="l"/>
            <a:r>
              <a:rPr sz="1150">
                <a:solidFill>
                  <a:srgbClr val="7A8796"/>
                </a:solidFill>
                <a:latin typeface="Segoe UI"/>
                <a:ea typeface="Segoe UI"/>
              </a:rPr>
              <a:t>الأسعار مشتقّة بشكل حتمي من معرّف الطبق حتى تتطابق النسخة المخزّنة مع القائمة الجديدة.</a:t>
            </a:r>
          </a:p>
        </p:txBody>
      </p:sp>
      <p:sp>
        <p:nvSpPr>
          <p:cNvPr id="17" name="TextBox 17">
            <a:extLst>
              <a:ext uri="{FF2B5EF4-FFF2-40B4-BE49-F238E27FC236}">
                <a16:creationId xmlns:a16="http://schemas.microsoft.com/office/drawing/2014/main" id="{907601C7-B7AB-40E1-9A3F-F1666970AF1D}"/>
              </a:ext>
            </a:extLst>
          </p:cNvPr>
          <p:cNvSpPr txBox="1"/>
          <p:nvPr/>
        </p:nvSpPr>
        <p:spPr>
          <a:xfrm>
            <a:off x="990600" y="5867400"/>
            <a:ext cx="10210800" cy="342900"/>
          </a:xfrm>
        </p:spPr>
        <p:txBody>
          <a:bodyPr wrap="square" rtlCol="0" lIns="0" tIns="0" rIns="0" bIns="0" anchor="t"/>
          <a:lstStyle/>
          <a:p>
            <a:pPr algn="l"/>
            <a:r>
              <a:rPr sz="1150">
                <a:solidFill>
                  <a:srgbClr val="00A85A"/>
                </a:solidFill>
                <a:latin typeface="Consolas"/>
                <a:ea typeface="Consolas"/>
              </a:rPr>
              <a:t>AppConstants.allowOfflineFirebaseFallback = false</a:t>
            </a:r>
          </a:p>
          <a:p>
            <a:pPr algn="l"/>
            <a:r>
              <a:rPr sz="1100">
                <a:solidFill>
                  <a:srgbClr val="7A8796"/>
                </a:solidFill>
                <a:latin typeface="Segoe UI"/>
                <a:ea typeface="Segoe UI"/>
              </a:rPr>
              <a:t>   ← set this in a production build that should fail loudly instead</a:t>
            </a:r>
          </a:p>
        </p:txBody>
      </p:sp>
      <p:sp>
        <p:nvSpPr>
          <p:cNvPr id="18" name="TextBox 18">
            <a:extLst>
              <a:ext uri="{FF2B5EF4-FFF2-40B4-BE49-F238E27FC236}">
                <a16:creationId xmlns:a16="http://schemas.microsoft.com/office/drawing/2014/main" id="{21A95283-1BA9-4BA8-9840-2E651A2D8C0B}"/>
              </a:ext>
            </a:extLst>
          </p:cNvPr>
          <p:cNvSpPr txBox="1"/>
          <p:nvPr/>
        </p:nvSpPr>
        <p:spPr>
          <a:xfrm>
            <a:off x="762000" y="6515100"/>
            <a:ext cx="3810000" cy="209550"/>
          </a:xfrm>
        </p:spPr>
        <p:txBody>
          <a:bodyPr wrap="square" rtlCol="0" lIns="0" tIns="0" rIns="0" bIns="0" anchor="t"/>
          <a:lstStyle/>
          <a:p>
            <a:pPr algn="l"/>
            <a:r>
              <a:rPr sz="1000">
                <a:solidFill>
                  <a:srgbClr val="9AA5B1"/>
                </a:solidFill>
                <a:latin typeface="Segoe UI"/>
                <a:ea typeface="Segoe UI"/>
              </a:rPr>
              <a:t>StreetBite · Capstone report · 09</a:t>
            </a:r>
          </a:p>
        </p:txBody>
      </p:sp>
      <p:sp>
        <p:nvSpPr>
          <p:cNvPr id="19" name="TextBox 19">
            <a:extLst>
              <a:ext uri="{FF2B5EF4-FFF2-40B4-BE49-F238E27FC236}">
                <a16:creationId xmlns:a16="http://schemas.microsoft.com/office/drawing/2014/main" id="{9A65A94F-C143-4C2F-A2B9-452AD48CA2D5}"/>
              </a:ext>
            </a:extLst>
          </p:cNvPr>
          <p:cNvSpPr txBox="1"/>
          <p:nvPr/>
        </p:nvSpPr>
        <p:spPr>
          <a:xfrm>
            <a:off x="6286500" y="6515100"/>
            <a:ext cx="4381500" cy="209550"/>
          </a:xfrm>
        </p:spPr>
        <p:txBody>
          <a:bodyPr wrap="square" rtlCol="0" lIns="0" tIns="0" rIns="0" bIns="0" anchor="t"/>
          <a:lstStyle/>
          <a:p>
            <a:pPr algn="r"/>
            <a:r>
              <a:rPr sz="1000">
                <a:solidFill>
                  <a:srgbClr val="9AA5B1"/>
                </a:solidFill>
                <a:latin typeface="Segoe UI"/>
                <a:ea typeface="Segoe UI"/>
              </a:rPr>
              <a:t>Dio · shared_preferences · Firebase Auth · Firestore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6F8FA"/>
        </a:solidFill>
        <a:effectLst/>
      </p:bgPr>
    </p:bg>
    <p:spTree>
      <p:nvGrpSpPr>
        <p:cNvPr id="1" name=""/>
        <p:cNvGrpSpPr/>
        <p:nvPr/>
      </p:nvGrpSpPr>
      <p:grpSpPr>
        <a:xfrm>
          <a:off x="0" y="0"/>
          <a:ext cx="0" cy="0"/>
          <a:chOff x="0" y="0"/>
          <a:chExt cx="0" cy="0"/>
        </a:xfrm>
      </p:grpSpPr>
      <p:sp>
        <p:nvSpPr>
          <p:cNvPr id="3" name="TextBox 3">
            <a:extLst>
              <a:ext uri="{FF2B5EF4-FFF2-40B4-BE49-F238E27FC236}">
                <a16:creationId xmlns:a16="http://schemas.microsoft.com/office/drawing/2014/main" id="{8341E187-60C6-4025-B868-B51C60B7CCE2}"/>
              </a:ext>
            </a:extLst>
          </p:cNvPr>
          <p:cNvSpPr txBox="1"/>
          <p:nvPr/>
        </p:nvSpPr>
        <p:spPr>
          <a:xfrm>
            <a:off x="762000" y="533400"/>
            <a:ext cx="5715000" cy="209550"/>
          </a:xfrm>
        </p:spPr>
        <p:txBody>
          <a:bodyPr wrap="square" rtlCol="0" lIns="0" tIns="0" rIns="0" bIns="0" anchor="t"/>
          <a:lstStyle/>
          <a:p>
            <a:pPr algn="l"/>
            <a:r>
              <a:rPr sz="1100" b="1">
                <a:solidFill>
                  <a:srgbClr val="00C16A"/>
                </a:solidFill>
                <a:latin typeface="Segoe UI"/>
                <a:ea typeface="Segoe UI"/>
              </a:rPr>
              <a:t>09  ·  LOCALISATION</a:t>
            </a:r>
          </a:p>
        </p:txBody>
      </p:sp>
      <p:sp>
        <p:nvSpPr>
          <p:cNvPr id="4" name="TextBox 4">
            <a:extLst>
              <a:ext uri="{FF2B5EF4-FFF2-40B4-BE49-F238E27FC236}">
                <a16:creationId xmlns:a16="http://schemas.microsoft.com/office/drawing/2014/main" id="{79B97745-B66E-420A-B5C6-CE7EBDED469F}"/>
              </a:ext>
            </a:extLst>
          </p:cNvPr>
          <p:cNvSpPr txBox="1"/>
          <p:nvPr/>
        </p:nvSpPr>
        <p:spPr>
          <a:xfrm>
            <a:off x="762000" y="781050"/>
            <a:ext cx="5905500" cy="533400"/>
          </a:xfrm>
        </p:spPr>
        <p:txBody>
          <a:bodyPr wrap="square" rtlCol="0" lIns="0" tIns="0" rIns="0" bIns="0" anchor="t"/>
          <a:lstStyle/>
          <a:p>
            <a:pPr algn="l"/>
            <a:r>
              <a:rPr sz="3000" b="1">
                <a:solidFill>
                  <a:srgbClr val="12141A"/>
                </a:solidFill>
                <a:latin typeface="Segoe UI"/>
                <a:ea typeface="Segoe UI"/>
              </a:rPr>
              <a:t>English and Arabic, live</a:t>
            </a:r>
          </a:p>
        </p:txBody>
      </p:sp>
      <p:sp>
        <p:nvSpPr>
          <p:cNvPr id="5" name="TextBox 5">
            <a:extLst>
              <a:ext uri="{FF2B5EF4-FFF2-40B4-BE49-F238E27FC236}">
                <a16:creationId xmlns:a16="http://schemas.microsoft.com/office/drawing/2014/main" id="{FABA8CDD-A968-41FC-A368-073DE8F0ABE1}"/>
              </a:ext>
            </a:extLst>
          </p:cNvPr>
          <p:cNvSpPr txBox="1"/>
          <p:nvPr/>
        </p:nvSpPr>
        <p:spPr>
          <a:xfrm>
            <a:off x="7429500" y="857250"/>
            <a:ext cx="4000500" cy="731520"/>
          </a:xfrm>
        </p:spPr>
        <p:txBody>
          <a:bodyPr wrap="square" rtlCol="0" lIns="0" tIns="0" rIns="0" bIns="0" anchor="t"/>
          <a:lstStyle/>
          <a:p>
            <a:pPr algn="r"/>
            <a:r>
              <a:rPr sz="2400" b="1">
                <a:solidFill>
                  <a:srgbClr val="5A6675"/>
                </a:solidFill>
                <a:latin typeface="Segoe UI"/>
                <a:ea typeface="Segoe UI"/>
              </a:rPr>
              <a:t>بالعربية والإنجليزية فورًا</a:t>
            </a:r>
          </a:p>
        </p:txBody>
      </p:sp>
      <p:sp>
        <p:nvSpPr>
          <p:cNvPr id="6" name="TextBox 6">
            <a:extLst>
              <a:ext uri="{FF2B5EF4-FFF2-40B4-BE49-F238E27FC236}">
                <a16:creationId xmlns:a16="http://schemas.microsoft.com/office/drawing/2014/main" id="{B16AA413-7563-453E-B44E-543C445CEA4B}"/>
              </a:ext>
            </a:extLst>
          </p:cNvPr>
          <p:cNvSpPr txBox="1"/>
          <p:nvPr/>
        </p:nvSpPr>
        <p:spPr>
          <a:xfrm>
            <a:off x="762000" y="1714500"/>
            <a:ext cx="6477000" cy="304800"/>
          </a:xfrm>
        </p:spPr>
        <p:txBody>
          <a:bodyPr wrap="square" rtlCol="0" lIns="0" tIns="0" rIns="0" bIns="0" anchor="t"/>
          <a:lstStyle/>
          <a:p>
            <a:pPr algn="l"/>
            <a:r>
              <a:rPr sz="1500" b="1">
                <a:solidFill>
                  <a:srgbClr val="12141A"/>
                </a:solidFill>
                <a:latin typeface="Segoe UI"/>
                <a:ea typeface="Segoe UI"/>
              </a:rPr>
              <a:t>Two ARB files are the only source of copy</a:t>
            </a:r>
          </a:p>
        </p:txBody>
      </p:sp>
      <p:sp>
        <p:nvSpPr>
          <p:cNvPr id="7" name="TextBox 7">
            <a:extLst>
              <a:ext uri="{FF2B5EF4-FFF2-40B4-BE49-F238E27FC236}">
                <a16:creationId xmlns:a16="http://schemas.microsoft.com/office/drawing/2014/main" id="{90ACA2CC-A4D3-44A3-9702-BBD2EBF09324}"/>
              </a:ext>
            </a:extLst>
          </p:cNvPr>
          <p:cNvSpPr txBox="1"/>
          <p:nvPr/>
        </p:nvSpPr>
        <p:spPr>
          <a:xfrm>
            <a:off x="762000" y="2057400"/>
            <a:ext cx="6477000" cy="266700"/>
          </a:xfrm>
        </p:spPr>
        <p:txBody>
          <a:bodyPr wrap="square" rtlCol="0" lIns="0" tIns="0" rIns="0" bIns="0" anchor="t"/>
          <a:lstStyle/>
          <a:p>
            <a:pPr algn="l"/>
            <a:r>
              <a:rPr sz="1300" b="1">
                <a:solidFill>
                  <a:srgbClr val="00A85A"/>
                </a:solidFill>
                <a:latin typeface="Segoe UI"/>
                <a:ea typeface="Segoe UI"/>
              </a:rPr>
              <a:t>ملفا ARB هما المصدر الوحيد للنصوص</a:t>
            </a:r>
          </a:p>
        </p:txBody>
      </p:sp>
      <p:sp>
        <p:nvSpPr>
          <p:cNvPr id="8" name="TextBox 8">
            <a:extLst>
              <a:ext uri="{FF2B5EF4-FFF2-40B4-BE49-F238E27FC236}">
                <a16:creationId xmlns:a16="http://schemas.microsoft.com/office/drawing/2014/main" id="{DF657614-373E-40AB-9329-10BE4991A5A2}"/>
              </a:ext>
            </a:extLst>
          </p:cNvPr>
          <p:cNvSpPr txBox="1"/>
          <p:nvPr/>
        </p:nvSpPr>
        <p:spPr>
          <a:xfrm>
            <a:off x="762000" y="2457450"/>
            <a:ext cx="6477000" cy="1409700"/>
          </a:xfrm>
        </p:spPr>
        <p:txBody>
          <a:bodyPr wrap="square" rtlCol="0" lIns="0" tIns="0" rIns="0" bIns="0" anchor="t"/>
          <a:lstStyle/>
          <a:p>
            <a:pPr marL="228600" indent="-228600" algn="l">
              <a:spcAft>
                <a:spcPts val="1000"/>
              </a:spcAft>
              <a:buChar char="•"/>
            </a:pPr>
            <a:r>
              <a:rPr sz="1250">
                <a:solidFill>
                  <a:srgbClr val="5A6675"/>
                </a:solidFill>
                <a:latin typeface="Segoe UI"/>
                <a:ea typeface="Segoe UI"/>
              </a:rPr>
              <a:t>No string literal anywhere else in the codebase</a:t>
            </a:r>
          </a:p>
          <a:p>
            <a:pPr marL="228600" indent="-228600" algn="l">
              <a:spcAft>
                <a:spcPts val="1000"/>
              </a:spcAft>
              <a:buChar char="•"/>
            </a:pPr>
            <a:r>
              <a:rPr sz="1250">
                <a:solidFill>
                  <a:srgbClr val="5A6675"/>
                </a:solidFill>
                <a:latin typeface="Segoe UI"/>
                <a:ea typeface="Segoe UI"/>
              </a:rPr>
              <a:t>L10nX.trKey() is an exhaustive switch — an unwired key is a compile error</a:t>
            </a:r>
          </a:p>
          <a:p>
            <a:pPr marL="228600" indent="-228600" algn="l">
              <a:spcAft>
                <a:spcPts val="1000"/>
              </a:spcAft>
              <a:buChar char="•"/>
            </a:pPr>
            <a:r>
              <a:rPr sz="1250">
                <a:solidFill>
                  <a:srgbClr val="5A6675"/>
                </a:solidFill>
                <a:latin typeface="Segoe UI"/>
                <a:ea typeface="Segoe UI"/>
              </a:rPr>
              <a:t>LocaleCubit rebuilds MaterialApp at runtime, with no restart</a:t>
            </a:r>
          </a:p>
          <a:p>
            <a:pPr marL="228600" indent="-228600" algn="l">
              <a:buChar char="•"/>
            </a:pPr>
            <a:r>
              <a:rPr sz="1250">
                <a:solidFill>
                  <a:srgbClr val="5A6675"/>
                </a:solidFill>
                <a:latin typeface="Segoe UI"/>
                <a:ea typeface="Segoe UI"/>
              </a:rPr>
              <a:t>Arabic flips the layout to RTL and uses Arabic-Indic digits</a:t>
            </a:r>
          </a:p>
        </p:txBody>
      </p:sp>
      <p:sp>
        <p:nvSpPr>
          <p:cNvPr id="9" name="TextBox 9">
            <a:extLst>
              <a:ext uri="{FF2B5EF4-FFF2-40B4-BE49-F238E27FC236}">
                <a16:creationId xmlns:a16="http://schemas.microsoft.com/office/drawing/2014/main" id="{75CB64E9-2ED0-44FC-B0F1-C9E24B7A9448}"/>
              </a:ext>
            </a:extLst>
          </p:cNvPr>
          <p:cNvSpPr txBox="1"/>
          <p:nvPr/>
        </p:nvSpPr>
        <p:spPr>
          <a:xfrm>
            <a:off x="762000" y="3962400"/>
            <a:ext cx="6477000" cy="533400"/>
          </a:xfrm>
        </p:spPr>
        <p:txBody>
          <a:bodyPr wrap="square" rtlCol="0" lIns="0" tIns="0" rIns="0" bIns="0" anchor="t"/>
          <a:lstStyle/>
          <a:p>
            <a:pPr algn="l">
              <a:lnSpc>
                <a:spcPct val="130000"/>
              </a:lnSpc>
            </a:pPr>
            <a:r>
              <a:rPr sz="1150">
                <a:solidFill>
                  <a:srgbClr val="7A8796"/>
                </a:solidFill>
                <a:latin typeface="Segoe UI"/>
                <a:ea typeface="Segoe UI"/>
              </a:rPr>
              <a:t>اللغة والمظهر يُختاران من الإعدادات، وتُعاد بناء التطبيق بالكامل فوريًا مع اتجاه من اليمين إلى اليسار.</a:t>
            </a:r>
          </a:p>
        </p:txBody>
      </p:sp>
      <p:sp>
        <p:nvSpPr>
          <p:cNvPr id="10" name="Shape 10">
            <a:extLst>
              <a:ext uri="{FF2B5EF4-FFF2-40B4-BE49-F238E27FC236}">
                <a16:creationId xmlns:a16="http://schemas.microsoft.com/office/drawing/2014/main" id="{3195FEBA-80ED-494D-9B60-F42D23F67347}"/>
              </a:ext>
            </a:extLst>
          </p:cNvPr>
          <p:cNvSpPr/>
          <p:nvPr/>
        </p:nvSpPr>
        <p:spPr>
          <a:xfrm>
            <a:off x="762000" y="4667250"/>
            <a:ext cx="6477000" cy="1428750"/>
          </a:xfrm>
          <a:prstGeom prst="roundRect">
            <a:avLst/>
          </a:prstGeom>
          <a:solidFill>
            <a:srgbClr val="FFFFFF"/>
          </a:solidFill>
          <a:ln w="12700">
            <a:solidFill>
              <a:srgbClr val="E4E9F0"/>
            </a:solidFill>
          </a:ln>
        </p:spPr>
        <p:txBody>
          <a:bodyPr wrap="square" rtlCol="0"/>
          <a:lstStyle/>
          <a:p>
            <a:r>
              <a:rPr/>
              <a:t/>
            </a:r>
          </a:p>
        </p:txBody>
      </p:sp>
      <p:sp>
        <p:nvSpPr>
          <p:cNvPr id="11" name="TextBox 11">
            <a:extLst>
              <a:ext uri="{FF2B5EF4-FFF2-40B4-BE49-F238E27FC236}">
                <a16:creationId xmlns:a16="http://schemas.microsoft.com/office/drawing/2014/main" id="{B9A7D832-310F-4125-9C7C-58C348DF4208}"/>
              </a:ext>
            </a:extLst>
          </p:cNvPr>
          <p:cNvSpPr txBox="1"/>
          <p:nvPr/>
        </p:nvSpPr>
        <p:spPr>
          <a:xfrm>
            <a:off x="990600" y="4857750"/>
            <a:ext cx="6057900" cy="533400"/>
          </a:xfrm>
        </p:spPr>
        <p:txBody>
          <a:bodyPr wrap="square" rtlCol="0" lIns="0" tIns="0" rIns="0" bIns="0" anchor="t"/>
          <a:lstStyle/>
          <a:p>
            <a:pPr algn="l">
              <a:lnSpc>
                <a:spcPct val="128000"/>
              </a:lnSpc>
            </a:pPr>
            <a:r>
              <a:rPr sz="1250" b="1">
                <a:solidFill>
                  <a:srgbClr val="12141A"/>
                </a:solidFill>
                <a:latin typeface="Segoe UI"/>
                <a:ea typeface="Segoe UI"/>
              </a:rPr>
              <a:t>A test caught a real bug here: AppTextField was rendering raw ARB keys instead of localized sentences. It is now covered by a regression test.</a:t>
            </a:r>
          </a:p>
        </p:txBody>
      </p:sp>
      <p:sp>
        <p:nvSpPr>
          <p:cNvPr id="12" name="TextBox 12">
            <a:extLst>
              <a:ext uri="{FF2B5EF4-FFF2-40B4-BE49-F238E27FC236}">
                <a16:creationId xmlns:a16="http://schemas.microsoft.com/office/drawing/2014/main" id="{D1B8CD8B-9F6A-4FD2-85C7-847EE26914B2}"/>
              </a:ext>
            </a:extLst>
          </p:cNvPr>
          <p:cNvSpPr txBox="1"/>
          <p:nvPr/>
        </p:nvSpPr>
        <p:spPr>
          <a:xfrm>
            <a:off x="990600" y="5448300"/>
            <a:ext cx="6057900" cy="457200"/>
          </a:xfrm>
        </p:spPr>
        <p:txBody>
          <a:bodyPr wrap="square" rtlCol="0" lIns="0" tIns="0" rIns="0" bIns="0" anchor="t"/>
          <a:lstStyle/>
          <a:p>
            <a:pPr algn="l">
              <a:lnSpc>
                <a:spcPct val="128000"/>
              </a:lnSpc>
            </a:pPr>
            <a:r>
              <a:rPr sz="1150">
                <a:solidFill>
                  <a:srgbClr val="7A8796"/>
                </a:solidFill>
                <a:latin typeface="Segoe UI"/>
                <a:ea typeface="Segoe UI"/>
              </a:rPr>
              <a:t>اختبار كشف خطأ حقيقيًا: حقول النص كانت تعرض مفاتيح ARB بدل الجمل المُعرّبة.</a:t>
            </a:r>
          </a:p>
        </p:txBody>
      </p:sp>
      <p:pic>
        <p:nvPicPr>
          <p:cNvPr id="13" name="Picture 13">
            <a:extLst>
              <a:ext uri="{FF2B5EF4-FFF2-40B4-BE49-F238E27FC236}">
                <a16:creationId xmlns:a16="http://schemas.microsoft.com/office/drawing/2014/main" id="{BBF7AAD9-BFB8-4B30-A881-F5B879378DA6}"/>
              </a:ext>
            </a:extLst>
          </p:cNvPr>
          <p:cNvPicPr/>
          <p:nvPr/>
        </p:nvPicPr>
        <p:blipFill>
          <a:blip r:embed="rId2"/>
          <a:stretch>
            <a:fillRect/>
          </a:stretch>
        </p:blipFill>
        <p:spPr>
          <a:xfrm>
            <a:off x="7810500" y="1714500"/>
            <a:ext cx="1905000" cy="4229100"/>
          </a:xfrm>
          <a:prstGeom prst="rect">
            <a:avLst/>
          </a:prstGeom>
        </p:spPr>
      </p:pic>
      <p:sp>
        <p:nvSpPr>
          <p:cNvPr id="14" name="TextBox 14">
            <a:extLst>
              <a:ext uri="{FF2B5EF4-FFF2-40B4-BE49-F238E27FC236}">
                <a16:creationId xmlns:a16="http://schemas.microsoft.com/office/drawing/2014/main" id="{E2B8F6A9-164E-4D25-B0D9-63B6B8C8BA46}"/>
              </a:ext>
            </a:extLst>
          </p:cNvPr>
          <p:cNvSpPr txBox="1"/>
          <p:nvPr/>
        </p:nvSpPr>
        <p:spPr>
          <a:xfrm>
            <a:off x="7810500" y="6019800"/>
            <a:ext cx="3619500" cy="304800"/>
          </a:xfrm>
        </p:spPr>
        <p:txBody>
          <a:bodyPr wrap="square" rtlCol="0" lIns="0" tIns="0" rIns="0" bIns="0" anchor="t"/>
          <a:lstStyle/>
          <a:p>
            <a:pPr algn="r"/>
            <a:r>
              <a:rPr sz="1000">
                <a:solidFill>
                  <a:srgbClr val="9AA5B1"/>
                </a:solidFill>
                <a:latin typeface="Segoe UI"/>
                <a:ea typeface="Segoe UI"/>
              </a:rPr>
              <a:t>الشئيسية بالعربية · اتجاه من اليمين وارقام عربية هندية</a:t>
            </a:r>
          </a:p>
        </p:txBody>
      </p:sp>
      <p:sp>
        <p:nvSpPr>
          <p:cNvPr id="15" name="TextBox 15">
            <a:extLst>
              <a:ext uri="{FF2B5EF4-FFF2-40B4-BE49-F238E27FC236}">
                <a16:creationId xmlns:a16="http://schemas.microsoft.com/office/drawing/2014/main" id="{B4A490BA-1089-44CC-9338-20E8FED0CECF}"/>
              </a:ext>
            </a:extLst>
          </p:cNvPr>
          <p:cNvSpPr txBox="1"/>
          <p:nvPr/>
        </p:nvSpPr>
        <p:spPr>
          <a:xfrm>
            <a:off x="762000" y="6515100"/>
            <a:ext cx="3810000" cy="209550"/>
          </a:xfrm>
        </p:spPr>
        <p:txBody>
          <a:bodyPr wrap="square" rtlCol="0" lIns="0" tIns="0" rIns="0" bIns="0" anchor="t"/>
          <a:lstStyle/>
          <a:p>
            <a:pPr algn="l"/>
            <a:r>
              <a:rPr sz="1000">
                <a:solidFill>
                  <a:srgbClr val="9AA5B1"/>
                </a:solidFill>
                <a:latin typeface="Segoe UI"/>
                <a:ea typeface="Segoe UI"/>
              </a:rPr>
              <a:t>StreetBite · Capstone report · 10</a:t>
            </a:r>
          </a:p>
        </p:txBody>
      </p:sp>
      <p:sp>
        <p:nvSpPr>
          <p:cNvPr id="16" name="TextBox 16">
            <a:extLst>
              <a:ext uri="{FF2B5EF4-FFF2-40B4-BE49-F238E27FC236}">
                <a16:creationId xmlns:a16="http://schemas.microsoft.com/office/drawing/2014/main" id="{774096F7-9D0C-4D96-ABB6-FBC875617BD8}"/>
              </a:ext>
            </a:extLst>
          </p:cNvPr>
          <p:cNvSpPr txBox="1"/>
          <p:nvPr/>
        </p:nvSpPr>
        <p:spPr>
          <a:xfrm>
            <a:off x="7620000" y="6515100"/>
            <a:ext cx="3810000" cy="209550"/>
          </a:xfrm>
        </p:spPr>
        <p:txBody>
          <a:bodyPr wrap="square" rtlCol="0" lIns="0" tIns="0" rIns="0" bIns="0" anchor="t"/>
          <a:lstStyle/>
          <a:p>
            <a:pPr algn="r"/>
            <a:r>
              <a:rPr sz="1000">
                <a:solidFill>
                  <a:srgbClr val="9AA5B1"/>
                </a:solidFill>
                <a:latin typeface="Segoe UI"/>
                <a:ea typeface="Segoe UI"/>
              </a:rPr>
              <a:t>app_en.arb · app_ar.arb · gen-l10n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6F8FA"/>
        </a:solidFill>
        <a:effectLst/>
      </p:bgPr>
    </p:bg>
    <p:spTree>
      <p:nvGrpSpPr>
        <p:cNvPr id="1" name=""/>
        <p:cNvGrpSpPr/>
        <p:nvPr/>
      </p:nvGrpSpPr>
      <p:grpSpPr>
        <a:xfrm>
          <a:off x="0" y="0"/>
          <a:ext cx="0" cy="0"/>
          <a:chOff x="0" y="0"/>
          <a:chExt cx="0" cy="0"/>
        </a:xfrm>
      </p:grpSpPr>
      <p:sp>
        <p:nvSpPr>
          <p:cNvPr id="3" name="TextBox 3">
            <a:extLst>
              <a:ext uri="{FF2B5EF4-FFF2-40B4-BE49-F238E27FC236}">
                <a16:creationId xmlns:a16="http://schemas.microsoft.com/office/drawing/2014/main" id="{C4C7E09F-4C31-43F0-9A4A-7E3AE4A74219}"/>
              </a:ext>
            </a:extLst>
          </p:cNvPr>
          <p:cNvSpPr txBox="1"/>
          <p:nvPr/>
        </p:nvSpPr>
        <p:spPr>
          <a:xfrm>
            <a:off x="762000" y="533400"/>
            <a:ext cx="5715000" cy="209550"/>
          </a:xfrm>
        </p:spPr>
        <p:txBody>
          <a:bodyPr wrap="square" rtlCol="0" lIns="0" tIns="0" rIns="0" bIns="0" anchor="t"/>
          <a:lstStyle/>
          <a:p>
            <a:pPr algn="l"/>
            <a:r>
              <a:rPr sz="1100" b="1">
                <a:solidFill>
                  <a:srgbClr val="00C16A"/>
                </a:solidFill>
                <a:latin typeface="Segoe UI"/>
                <a:ea typeface="Segoe UI"/>
              </a:rPr>
              <a:t>10  ·  SECURITY</a:t>
            </a:r>
          </a:p>
        </p:txBody>
      </p:sp>
      <p:sp>
        <p:nvSpPr>
          <p:cNvPr id="4" name="TextBox 4">
            <a:extLst>
              <a:ext uri="{FF2B5EF4-FFF2-40B4-BE49-F238E27FC236}">
                <a16:creationId xmlns:a16="http://schemas.microsoft.com/office/drawing/2014/main" id="{FFA71441-F6A2-46AD-8296-32C848F5F527}"/>
              </a:ext>
            </a:extLst>
          </p:cNvPr>
          <p:cNvSpPr txBox="1"/>
          <p:nvPr/>
        </p:nvSpPr>
        <p:spPr>
          <a:xfrm>
            <a:off x="762000" y="781050"/>
            <a:ext cx="5905500" cy="533400"/>
          </a:xfrm>
        </p:spPr>
        <p:txBody>
          <a:bodyPr wrap="square" rtlCol="0" lIns="0" tIns="0" rIns="0" bIns="0" anchor="t"/>
          <a:lstStyle/>
          <a:p>
            <a:pPr algn="l"/>
            <a:r>
              <a:rPr sz="3000" b="1">
                <a:solidFill>
                  <a:srgbClr val="12141A"/>
                </a:solidFill>
                <a:latin typeface="Segoe UI"/>
                <a:ea typeface="Segoe UI"/>
              </a:rPr>
              <a:t>The fingerprint gate</a:t>
            </a:r>
          </a:p>
        </p:txBody>
      </p:sp>
      <p:sp>
        <p:nvSpPr>
          <p:cNvPr id="5" name="TextBox 5">
            <a:extLst>
              <a:ext uri="{FF2B5EF4-FFF2-40B4-BE49-F238E27FC236}">
                <a16:creationId xmlns:a16="http://schemas.microsoft.com/office/drawing/2014/main" id="{60627FDF-AF3A-497E-8DC4-386A29400D88}"/>
              </a:ext>
            </a:extLst>
          </p:cNvPr>
          <p:cNvSpPr txBox="1"/>
          <p:nvPr/>
        </p:nvSpPr>
        <p:spPr>
          <a:xfrm>
            <a:off x="6667500" y="857250"/>
            <a:ext cx="4000500" cy="419100"/>
          </a:xfrm>
        </p:spPr>
        <p:txBody>
          <a:bodyPr wrap="square" rtlCol="0" lIns="0" tIns="0" rIns="0" bIns="0" anchor="t"/>
          <a:lstStyle/>
          <a:p>
            <a:pPr algn="r"/>
            <a:r>
              <a:rPr sz="2400" b="1">
                <a:solidFill>
                  <a:srgbClr val="5A6675"/>
                </a:solidFill>
                <a:latin typeface="Segoe UI"/>
                <a:ea typeface="Segoe UI"/>
              </a:rPr>
              <a:t>بوابة بصمة الإصبع</a:t>
            </a:r>
          </a:p>
        </p:txBody>
      </p:sp>
      <p:sp>
        <p:nvSpPr>
          <p:cNvPr id="6" name="TextBox 6">
            <a:extLst>
              <a:ext uri="{FF2B5EF4-FFF2-40B4-BE49-F238E27FC236}">
                <a16:creationId xmlns:a16="http://schemas.microsoft.com/office/drawing/2014/main" id="{1EC2202B-7B97-4D0A-85CB-80AD75FBE986}"/>
              </a:ext>
            </a:extLst>
          </p:cNvPr>
          <p:cNvSpPr txBox="1"/>
          <p:nvPr/>
        </p:nvSpPr>
        <p:spPr>
          <a:xfrm>
            <a:off x="762000" y="1600200"/>
            <a:ext cx="4953000" cy="304800"/>
          </a:xfrm>
        </p:spPr>
        <p:txBody>
          <a:bodyPr wrap="square" rtlCol="0" lIns="0" tIns="0" rIns="0" bIns="0" anchor="t"/>
          <a:lstStyle/>
          <a:p>
            <a:pPr algn="l"/>
            <a:r>
              <a:rPr sz="1500" b="1">
                <a:solidFill>
                  <a:srgbClr val="12141A"/>
                </a:solidFill>
                <a:latin typeface="Segoe UI"/>
                <a:ea typeface="Segoe UI"/>
              </a:rPr>
              <a:t>How a returning user gets in</a:t>
            </a:r>
          </a:p>
        </p:txBody>
      </p:sp>
      <p:sp>
        <p:nvSpPr>
          <p:cNvPr id="7" name="TextBox 7">
            <a:extLst>
              <a:ext uri="{FF2B5EF4-FFF2-40B4-BE49-F238E27FC236}">
                <a16:creationId xmlns:a16="http://schemas.microsoft.com/office/drawing/2014/main" id="{6AE9A660-BB0F-46AA-85E3-8A49CF05ABE5}"/>
              </a:ext>
            </a:extLst>
          </p:cNvPr>
          <p:cNvSpPr txBox="1"/>
          <p:nvPr/>
        </p:nvSpPr>
        <p:spPr>
          <a:xfrm>
            <a:off x="762000" y="1905000"/>
            <a:ext cx="4953000" cy="247650"/>
          </a:xfrm>
        </p:spPr>
        <p:txBody>
          <a:bodyPr wrap="square" rtlCol="0" lIns="0" tIns="0" rIns="0" bIns="0" anchor="t"/>
          <a:lstStyle/>
          <a:p>
            <a:pPr algn="l"/>
            <a:r>
              <a:rPr sz="1250" b="1">
                <a:solidFill>
                  <a:srgbClr val="00A85A"/>
                </a:solidFill>
                <a:latin typeface="Segoe UI"/>
                <a:ea typeface="Segoe UI"/>
              </a:rPr>
              <a:t>كيف يعود المستخدم السابق</a:t>
            </a:r>
          </a:p>
        </p:txBody>
      </p:sp>
      <p:sp>
        <p:nvSpPr>
          <p:cNvPr id="8" name="Shape 8">
            <a:extLst>
              <a:ext uri="{FF2B5EF4-FFF2-40B4-BE49-F238E27FC236}">
                <a16:creationId xmlns:a16="http://schemas.microsoft.com/office/drawing/2014/main" id="{8EEC9ABA-E829-4433-9E84-2C14208AA54D}"/>
              </a:ext>
            </a:extLst>
          </p:cNvPr>
          <p:cNvSpPr/>
          <p:nvPr/>
        </p:nvSpPr>
        <p:spPr>
          <a:xfrm>
            <a:off x="1143000" y="2476500"/>
            <a:ext cx="19050" cy="2857500"/>
          </a:xfrm>
          <a:prstGeom prst="rect">
            <a:avLst/>
          </a:prstGeom>
          <a:solidFill>
            <a:srgbClr val="CDEBDD"/>
          </a:solidFill>
        </p:spPr>
        <p:txBody>
          <a:bodyPr wrap="square" rtlCol="0"/>
          <a:lstStyle/>
          <a:p>
            <a:r>
              <a:rPr/>
              <a:t/>
            </a:r>
          </a:p>
        </p:txBody>
      </p:sp>
      <p:sp>
        <p:nvSpPr>
          <p:cNvPr id="9" name="Shape 9">
            <a:extLst>
              <a:ext uri="{FF2B5EF4-FFF2-40B4-BE49-F238E27FC236}">
                <a16:creationId xmlns:a16="http://schemas.microsoft.com/office/drawing/2014/main" id="{AB1CB75B-E7C6-4893-90B9-31C707B7AA8D}"/>
              </a:ext>
            </a:extLst>
          </p:cNvPr>
          <p:cNvSpPr/>
          <p:nvPr/>
        </p:nvSpPr>
        <p:spPr>
          <a:xfrm>
            <a:off x="1085850" y="2514600"/>
            <a:ext cx="133350" cy="133350"/>
          </a:xfrm>
          <a:prstGeom prst="ellipse">
            <a:avLst/>
          </a:prstGeom>
          <a:solidFill>
            <a:srgbClr val="00C16A"/>
          </a:solidFill>
        </p:spPr>
        <p:txBody>
          <a:bodyPr wrap="square" rtlCol="0"/>
          <a:lstStyle/>
          <a:p>
            <a:r>
              <a:rPr/>
              <a:t/>
            </a:r>
          </a:p>
        </p:txBody>
      </p:sp>
      <p:sp>
        <p:nvSpPr>
          <p:cNvPr id="10" name="Shape 10">
            <a:extLst>
              <a:ext uri="{FF2B5EF4-FFF2-40B4-BE49-F238E27FC236}">
                <a16:creationId xmlns:a16="http://schemas.microsoft.com/office/drawing/2014/main" id="{8CEB4D6E-D993-4650-B9E2-673C880D6E7C}"/>
              </a:ext>
            </a:extLst>
          </p:cNvPr>
          <p:cNvSpPr/>
          <p:nvPr/>
        </p:nvSpPr>
        <p:spPr>
          <a:xfrm>
            <a:off x="1085850" y="3257550"/>
            <a:ext cx="133350" cy="133350"/>
          </a:xfrm>
          <a:prstGeom prst="ellipse">
            <a:avLst/>
          </a:prstGeom>
          <a:solidFill>
            <a:srgbClr val="00C16A"/>
          </a:solidFill>
        </p:spPr>
        <p:txBody>
          <a:bodyPr wrap="square" rtlCol="0"/>
          <a:lstStyle/>
          <a:p>
            <a:r>
              <a:rPr/>
              <a:t/>
            </a:r>
          </a:p>
        </p:txBody>
      </p:sp>
      <p:sp>
        <p:nvSpPr>
          <p:cNvPr id="11" name="Shape 11">
            <a:extLst>
              <a:ext uri="{FF2B5EF4-FFF2-40B4-BE49-F238E27FC236}">
                <a16:creationId xmlns:a16="http://schemas.microsoft.com/office/drawing/2014/main" id="{7F75D3BF-FB4A-43B7-9309-4BED286F223F}"/>
              </a:ext>
            </a:extLst>
          </p:cNvPr>
          <p:cNvSpPr/>
          <p:nvPr/>
        </p:nvSpPr>
        <p:spPr>
          <a:xfrm>
            <a:off x="1085850" y="4000500"/>
            <a:ext cx="133350" cy="133350"/>
          </a:xfrm>
          <a:prstGeom prst="ellipse">
            <a:avLst/>
          </a:prstGeom>
          <a:solidFill>
            <a:srgbClr val="00C16A"/>
          </a:solidFill>
        </p:spPr>
        <p:txBody>
          <a:bodyPr wrap="square" rtlCol="0"/>
          <a:lstStyle/>
          <a:p>
            <a:r>
              <a:rPr/>
              <a:t/>
            </a:r>
          </a:p>
        </p:txBody>
      </p:sp>
      <p:sp>
        <p:nvSpPr>
          <p:cNvPr id="12" name="Shape 12">
            <a:extLst>
              <a:ext uri="{FF2B5EF4-FFF2-40B4-BE49-F238E27FC236}">
                <a16:creationId xmlns:a16="http://schemas.microsoft.com/office/drawing/2014/main" id="{0181CB87-ED74-499D-BBD7-7DF92DA06738}"/>
              </a:ext>
            </a:extLst>
          </p:cNvPr>
          <p:cNvSpPr/>
          <p:nvPr/>
        </p:nvSpPr>
        <p:spPr>
          <a:xfrm>
            <a:off x="1085850" y="4743450"/>
            <a:ext cx="133350" cy="133350"/>
          </a:xfrm>
          <a:prstGeom prst="ellipse">
            <a:avLst/>
          </a:prstGeom>
          <a:solidFill>
            <a:srgbClr val="00C16A"/>
          </a:solidFill>
        </p:spPr>
        <p:txBody>
          <a:bodyPr wrap="square" rtlCol="0"/>
          <a:lstStyle/>
          <a:p>
            <a:r>
              <a:rPr/>
              <a:t/>
            </a:r>
          </a:p>
        </p:txBody>
      </p:sp>
      <p:sp>
        <p:nvSpPr>
          <p:cNvPr id="13" name="TextBox 13">
            <a:extLst>
              <a:ext uri="{FF2B5EF4-FFF2-40B4-BE49-F238E27FC236}">
                <a16:creationId xmlns:a16="http://schemas.microsoft.com/office/drawing/2014/main" id="{21B11BC7-F4B7-423C-BB7C-295290426CF4}"/>
              </a:ext>
            </a:extLst>
          </p:cNvPr>
          <p:cNvSpPr txBox="1"/>
          <p:nvPr/>
        </p:nvSpPr>
        <p:spPr>
          <a:xfrm>
            <a:off x="1409700" y="2457450"/>
            <a:ext cx="4286250" cy="685800"/>
          </a:xfrm>
        </p:spPr>
        <p:txBody>
          <a:bodyPr wrap="square" rtlCol="0" lIns="0" tIns="0" rIns="0" bIns="0" anchor="t"/>
          <a:lstStyle/>
          <a:p>
            <a:pPr algn="l">
              <a:spcAft>
                <a:spcPts val="400"/>
              </a:spcAft>
            </a:pPr>
            <a:r>
              <a:rPr sz="1100" b="1">
                <a:solidFill>
                  <a:srgbClr val="12141A"/>
                </a:solidFill>
                <a:latin typeface="Segoe UI"/>
                <a:ea typeface="Segoe UI"/>
              </a:rPr>
              <a:t>Cold start  ·  التشغيل البارد</a:t>
            </a:r>
          </a:p>
          <a:p>
            <a:pPr algn="l">
              <a:lnSpc>
                <a:spcPct val="125000"/>
              </a:lnSpc>
            </a:pPr>
            <a:r>
              <a:rPr sz="1100">
                <a:solidFill>
                  <a:srgbClr val="5A6675"/>
                </a:solidFill>
                <a:latin typeface="Segoe UI"/>
                <a:ea typeface="Segoe UI"/>
              </a:rPr>
              <a:t>A saved session on a device that opted in.</a:t>
            </a:r>
          </a:p>
        </p:txBody>
      </p:sp>
      <p:sp>
        <p:nvSpPr>
          <p:cNvPr id="14" name="TextBox 14">
            <a:extLst>
              <a:ext uri="{FF2B5EF4-FFF2-40B4-BE49-F238E27FC236}">
                <a16:creationId xmlns:a16="http://schemas.microsoft.com/office/drawing/2014/main" id="{F21F715E-BECB-418B-83DF-39F754FC51C4}"/>
              </a:ext>
            </a:extLst>
          </p:cNvPr>
          <p:cNvSpPr txBox="1"/>
          <p:nvPr/>
        </p:nvSpPr>
        <p:spPr>
          <a:xfrm>
            <a:off x="1409700" y="3200400"/>
            <a:ext cx="4286250" cy="685800"/>
          </a:xfrm>
        </p:spPr>
        <p:txBody>
          <a:bodyPr wrap="square" rtlCol="0" lIns="0" tIns="0" rIns="0" bIns="0" anchor="t"/>
          <a:lstStyle/>
          <a:p>
            <a:pPr algn="l">
              <a:spcAft>
                <a:spcPts val="400"/>
              </a:spcAft>
            </a:pPr>
            <a:r>
              <a:rPr sz="1100" b="1">
                <a:solidFill>
                  <a:srgbClr val="12141A"/>
                </a:solidFill>
                <a:latin typeface="Segoe UI"/>
                <a:ea typeface="Segoe UI"/>
              </a:rPr>
              <a:t>Gate, not a login  ·  بوابة لا دخول</a:t>
            </a:r>
          </a:p>
          <a:p>
            <a:pPr algn="l">
              <a:lnSpc>
                <a:spcPct val="125000"/>
              </a:lnSpc>
            </a:pPr>
            <a:r>
              <a:rPr sz="1100">
                <a:solidFill>
                  <a:srgbClr val="5A6675"/>
                </a:solidFill>
                <a:latin typeface="Segoe UI"/>
                <a:ea typeface="Segoe UI"/>
              </a:rPr>
              <a:t>Emits AuthBiometricGate, never AuthAuthenticated.</a:t>
            </a:r>
          </a:p>
        </p:txBody>
      </p:sp>
      <p:sp>
        <p:nvSpPr>
          <p:cNvPr id="15" name="TextBox 15">
            <a:extLst>
              <a:ext uri="{FF2B5EF4-FFF2-40B4-BE49-F238E27FC236}">
                <a16:creationId xmlns:a16="http://schemas.microsoft.com/office/drawing/2014/main" id="{E2EF4FD8-6380-4CB4-B8B4-7524894B9C85}"/>
              </a:ext>
            </a:extLst>
          </p:cNvPr>
          <p:cNvSpPr txBox="1"/>
          <p:nvPr/>
        </p:nvSpPr>
        <p:spPr>
          <a:xfrm>
            <a:off x="1409700" y="3943350"/>
            <a:ext cx="4286250" cy="685800"/>
          </a:xfrm>
        </p:spPr>
        <p:txBody>
          <a:bodyPr wrap="square" rtlCol="0" lIns="0" tIns="0" rIns="0" bIns="0" anchor="t"/>
          <a:lstStyle/>
          <a:p>
            <a:pPr algn="l">
              <a:spcAft>
                <a:spcPts val="400"/>
              </a:spcAft>
            </a:pPr>
            <a:r>
              <a:rPr sz="1100" b="1">
                <a:solidFill>
                  <a:srgbClr val="12141A"/>
                </a:solidFill>
                <a:latin typeface="Segoe UI"/>
                <a:ea typeface="Segoe UI"/>
              </a:rPr>
              <a:t>A passed scan promotes  ·  مسح ناجح</a:t>
            </a:r>
          </a:p>
          <a:p>
            <a:pPr algn="l">
              <a:lnSpc>
                <a:spcPct val="125000"/>
              </a:lnSpc>
            </a:pPr>
            <a:r>
              <a:rPr sz="1100">
                <a:solidFill>
                  <a:srgbClr val="5A6675"/>
                </a:solidFill>
                <a:latin typeface="Segoe UI"/>
                <a:ea typeface="Segoe UI"/>
              </a:rPr>
              <a:t>The Firebase session is never handed out unverified.</a:t>
            </a:r>
          </a:p>
        </p:txBody>
      </p:sp>
      <p:sp>
        <p:nvSpPr>
          <p:cNvPr id="16" name="TextBox 16">
            <a:extLst>
              <a:ext uri="{FF2B5EF4-FFF2-40B4-BE49-F238E27FC236}">
                <a16:creationId xmlns:a16="http://schemas.microsoft.com/office/drawing/2014/main" id="{56CCDA6A-7A1D-4462-B350-EDFC4D1BBFDB}"/>
              </a:ext>
            </a:extLst>
          </p:cNvPr>
          <p:cNvSpPr txBox="1"/>
          <p:nvPr/>
        </p:nvSpPr>
        <p:spPr>
          <a:xfrm>
            <a:off x="1409700" y="4686300"/>
            <a:ext cx="4286250" cy="685800"/>
          </a:xfrm>
        </p:spPr>
        <p:txBody>
          <a:bodyPr wrap="square" rtlCol="0" lIns="0" tIns="0" rIns="0" bIns="0" anchor="t"/>
          <a:lstStyle/>
          <a:p>
            <a:pPr algn="l">
              <a:spcAft>
                <a:spcPts val="400"/>
              </a:spcAft>
            </a:pPr>
            <a:r>
              <a:rPr sz="1100" b="1">
                <a:solidFill>
                  <a:srgbClr val="12141A"/>
                </a:solidFill>
                <a:latin typeface="Segoe UI"/>
                <a:ea typeface="Segoe UI"/>
              </a:rPr>
              <a:t>A skip falls back  ·  رجوع عند التخطي</a:t>
            </a:r>
          </a:p>
          <a:p>
            <a:pPr algn="l">
              <a:lnSpc>
                <a:spcPct val="125000"/>
              </a:lnSpc>
            </a:pPr>
            <a:r>
              <a:rPr sz="1100">
                <a:solidFill>
                  <a:srgbClr val="5A6675"/>
                </a:solidFill>
                <a:latin typeface="Segoe UI"/>
                <a:ea typeface="Segoe UI"/>
              </a:rPr>
              <a:t>Back to the password form, without signing out.</a:t>
            </a:r>
          </a:p>
        </p:txBody>
      </p:sp>
      <p:sp>
        <p:nvSpPr>
          <p:cNvPr id="17" name="TextBox 17">
            <a:extLst>
              <a:ext uri="{FF2B5EF4-FFF2-40B4-BE49-F238E27FC236}">
                <a16:creationId xmlns:a16="http://schemas.microsoft.com/office/drawing/2014/main" id="{26642B6D-277B-49F2-BB17-FEE3D6E92802}"/>
              </a:ext>
            </a:extLst>
          </p:cNvPr>
          <p:cNvSpPr txBox="1"/>
          <p:nvPr/>
        </p:nvSpPr>
        <p:spPr>
          <a:xfrm>
            <a:off x="6191250" y="1600200"/>
            <a:ext cx="5238750" cy="304800"/>
          </a:xfrm>
        </p:spPr>
        <p:txBody>
          <a:bodyPr wrap="square" rtlCol="0" lIns="0" tIns="0" rIns="0" bIns="0" anchor="t"/>
          <a:lstStyle/>
          <a:p>
            <a:pPr algn="l"/>
            <a:r>
              <a:rPr sz="1500" b="1">
                <a:solidFill>
                  <a:srgbClr val="12141A"/>
                </a:solidFill>
                <a:latin typeface="Segoe UI"/>
                <a:ea typeface="Segoe UI"/>
              </a:rPr>
              <a:t>Two decisions worth stating</a:t>
            </a:r>
          </a:p>
        </p:txBody>
      </p:sp>
      <p:sp>
        <p:nvSpPr>
          <p:cNvPr id="18" name="TextBox 18">
            <a:extLst>
              <a:ext uri="{FF2B5EF4-FFF2-40B4-BE49-F238E27FC236}">
                <a16:creationId xmlns:a16="http://schemas.microsoft.com/office/drawing/2014/main" id="{14493EB8-B986-47F8-A0B8-DAED47CA30A7}"/>
              </a:ext>
            </a:extLst>
          </p:cNvPr>
          <p:cNvSpPr txBox="1"/>
          <p:nvPr/>
        </p:nvSpPr>
        <p:spPr>
          <a:xfrm>
            <a:off x="6191250" y="1905000"/>
            <a:ext cx="5238750" cy="247650"/>
          </a:xfrm>
        </p:spPr>
        <p:txBody>
          <a:bodyPr wrap="square" rtlCol="0" lIns="0" tIns="0" rIns="0" bIns="0" anchor="t"/>
          <a:lstStyle/>
          <a:p>
            <a:pPr algn="l"/>
            <a:r>
              <a:rPr sz="1250" b="1">
                <a:solidFill>
                  <a:srgbClr val="00A85A"/>
                </a:solidFill>
                <a:latin typeface="Segoe UI"/>
                <a:ea typeface="Segoe UI"/>
              </a:rPr>
              <a:t>قراران يستحقان الذكر</a:t>
            </a:r>
          </a:p>
        </p:txBody>
      </p:sp>
      <p:sp>
        <p:nvSpPr>
          <p:cNvPr id="19" name="Shape 19">
            <a:extLst>
              <a:ext uri="{FF2B5EF4-FFF2-40B4-BE49-F238E27FC236}">
                <a16:creationId xmlns:a16="http://schemas.microsoft.com/office/drawing/2014/main" id="{57D682D0-0028-4A7D-9D46-32283E8B67CD}"/>
              </a:ext>
            </a:extLst>
          </p:cNvPr>
          <p:cNvSpPr/>
          <p:nvPr/>
        </p:nvSpPr>
        <p:spPr>
          <a:xfrm>
            <a:off x="6191250" y="2381250"/>
            <a:ext cx="5238750" cy="1714500"/>
          </a:xfrm>
          <a:prstGeom prst="roundRect">
            <a:avLst/>
          </a:prstGeom>
          <a:solidFill>
            <a:srgbClr val="FFFFFF"/>
          </a:solidFill>
          <a:ln w="12700">
            <a:solidFill>
              <a:srgbClr val="E4E9F0"/>
            </a:solidFill>
          </a:ln>
        </p:spPr>
        <p:txBody>
          <a:bodyPr wrap="square" rtlCol="0"/>
          <a:lstStyle/>
          <a:p>
            <a:r>
              <a:rPr/>
              <a:t/>
            </a:r>
          </a:p>
        </p:txBody>
      </p:sp>
      <p:sp>
        <p:nvSpPr>
          <p:cNvPr id="20" name="TextBox 20">
            <a:extLst>
              <a:ext uri="{FF2B5EF4-FFF2-40B4-BE49-F238E27FC236}">
                <a16:creationId xmlns:a16="http://schemas.microsoft.com/office/drawing/2014/main" id="{E769A8C0-9844-4871-B4B6-1BE95202CB4E}"/>
              </a:ext>
            </a:extLst>
          </p:cNvPr>
          <p:cNvSpPr txBox="1"/>
          <p:nvPr/>
        </p:nvSpPr>
        <p:spPr>
          <a:xfrm>
            <a:off x="6419850" y="2571750"/>
            <a:ext cx="4819650" cy="1525626"/>
          </a:xfrm>
        </p:spPr>
        <p:txBody>
          <a:bodyPr wrap="square" rtlCol="0" lIns="0" tIns="0" rIns="0" bIns="0" anchor="t"/>
          <a:lstStyle/>
          <a:p>
            <a:pPr algn="l">
              <a:lnSpc>
                <a:spcPct val="128000"/>
              </a:lnSpc>
              <a:spcAft>
                <a:spcPts val="800"/>
              </a:spcAft>
            </a:pPr>
            <a:r>
              <a:rPr sz="1250" b="1">
                <a:solidFill>
                  <a:srgbClr val="12141A"/>
                </a:solidFill>
                <a:latin typeface="Segoe UI"/>
                <a:ea typeface="Segoe UI"/>
              </a:rPr>
              <a:t>Device state, not account state: the opt-in lives in</a:t>
            </a:r>
          </a:p>
          <a:p>
            <a:pPr algn="l">
              <a:lnSpc>
                <a:spcPct val="128000"/>
              </a:lnSpc>
            </a:pPr>
            <a:r>
              <a:rPr sz="1150">
                <a:solidFill>
                  <a:srgbClr val="7A8796"/>
                </a:solidFill>
                <a:latin typeface="Segoe UI"/>
                <a:ea typeface="Segoe UI"/>
              </a:rPr>
              <a:t>shared_preferences, so each device keeps its own choice.</a:t>
            </a:r>
          </a:p>
          <a:p>
            <a:pPr algn="l">
              <a:lnSpc>
                <a:spcPct val="128000"/>
              </a:lnSpc>
            </a:pPr>
            <a:r>
              <a:rPr sz="1150">
                <a:solidFill>
                  <a:srgbClr val="7A8796"/>
                </a:solidFill>
                <a:latin typeface="Segoe UI"/>
                <a:ea typeface="Segoe UI"/>
              </a:rPr>
              <a:t>Turning it on requires a passed scan first.</a:t>
            </a:r>
          </a:p>
          <a:p>
            <a:pPr algn="l">
              <a:lnSpc>
                <a:spcPct val="128000"/>
              </a:lnSpc>
            </a:pPr>
            <a:r>
              <a:rPr sz="1150">
                <a:solidFill>
                  <a:srgbClr val="7A8796"/>
                </a:solidFill>
                <a:latin typeface="Segoe UI"/>
                <a:ea typeface="Segoe UI"/>
              </a:rPr>
              <a:t>الحالة على الجهاز لا على الحساب، ويبقى لكل جهاز اختياره.</a:t>
            </a:r>
          </a:p>
        </p:txBody>
      </p:sp>
      <p:sp>
        <p:nvSpPr>
          <p:cNvPr id="21" name="Shape 21">
            <a:extLst>
              <a:ext uri="{FF2B5EF4-FFF2-40B4-BE49-F238E27FC236}">
                <a16:creationId xmlns:a16="http://schemas.microsoft.com/office/drawing/2014/main" id="{8907B822-D28B-42E6-870A-441A9830D079}"/>
              </a:ext>
            </a:extLst>
          </p:cNvPr>
          <p:cNvSpPr/>
          <p:nvPr/>
        </p:nvSpPr>
        <p:spPr>
          <a:xfrm>
            <a:off x="6191250" y="4286250"/>
            <a:ext cx="5238750" cy="1714500"/>
          </a:xfrm>
          <a:prstGeom prst="roundRect">
            <a:avLst/>
          </a:prstGeom>
          <a:solidFill>
            <a:srgbClr val="FFFFFF"/>
          </a:solidFill>
          <a:ln w="12700">
            <a:solidFill>
              <a:srgbClr val="E4E9F0"/>
            </a:solidFill>
          </a:ln>
        </p:spPr>
        <p:txBody>
          <a:bodyPr wrap="square" rtlCol="0"/>
          <a:lstStyle/>
          <a:p>
            <a:r>
              <a:rPr/>
              <a:t/>
            </a:r>
          </a:p>
        </p:txBody>
      </p:sp>
      <p:sp>
        <p:nvSpPr>
          <p:cNvPr id="22" name="TextBox 22">
            <a:extLst>
              <a:ext uri="{FF2B5EF4-FFF2-40B4-BE49-F238E27FC236}">
                <a16:creationId xmlns:a16="http://schemas.microsoft.com/office/drawing/2014/main" id="{9BCE5FE3-173C-460C-A720-65FA3E33404F}"/>
              </a:ext>
            </a:extLst>
          </p:cNvPr>
          <p:cNvSpPr txBox="1"/>
          <p:nvPr/>
        </p:nvSpPr>
        <p:spPr>
          <a:xfrm>
            <a:off x="6419850" y="4476750"/>
            <a:ext cx="4819650" cy="1525626"/>
          </a:xfrm>
        </p:spPr>
        <p:txBody>
          <a:bodyPr wrap="square" rtlCol="0" lIns="0" tIns="0" rIns="0" bIns="0" anchor="t"/>
          <a:lstStyle/>
          <a:p>
            <a:pPr algn="l">
              <a:lnSpc>
                <a:spcPct val="128000"/>
              </a:lnSpc>
              <a:spcAft>
                <a:spcPts val="800"/>
              </a:spcAft>
            </a:pPr>
            <a:r>
              <a:rPr sz="1250" b="1">
                <a:solidFill>
                  <a:srgbClr val="12141A"/>
                </a:solidFill>
                <a:latin typeface="Segoe UI"/>
                <a:ea typeface="Segoe UI"/>
              </a:rPr>
              <a:t>Biometrics never replace credentials. The round button</a:t>
            </a:r>
          </a:p>
          <a:p>
            <a:pPr algn="l">
              <a:lnSpc>
                <a:spcPct val="128000"/>
              </a:lnSpc>
            </a:pPr>
            <a:r>
              <a:rPr sz="1150">
                <a:solidFill>
                  <a:srgbClr val="7A8796"/>
                </a:solidFill>
                <a:latin typeface="Segoe UI"/>
                <a:ea typeface="Segoe UI"/>
              </a:rPr>
              <a:t>beside Log In re-opens the gate for a saved session.</a:t>
            </a:r>
          </a:p>
          <a:p>
            <a:pPr algn="l">
              <a:lnSpc>
                <a:spcPct val="128000"/>
              </a:lnSpc>
            </a:pPr>
            <a:r>
              <a:rPr sz="1150">
                <a:solidFill>
                  <a:srgbClr val="7A8796"/>
                </a:solidFill>
                <a:latin typeface="Segoe UI"/>
                <a:ea typeface="Segoe UI"/>
              </a:rPr>
              <a:t>With nothing to unlock it says so instead of prompting.</a:t>
            </a:r>
          </a:p>
          <a:p>
            <a:pPr algn="l">
              <a:lnSpc>
                <a:spcPct val="128000"/>
              </a:lnSpc>
            </a:pPr>
            <a:r>
              <a:rPr sz="1150">
                <a:solidFill>
                  <a:srgbClr val="7A8796"/>
                </a:solidFill>
                <a:latin typeface="Segoe UI"/>
                <a:ea typeface="Segoe UI"/>
              </a:rPr>
              <a:t>البصمة لا تستبدل كلمة المرور أبدًا.</a:t>
            </a:r>
          </a:p>
        </p:txBody>
      </p:sp>
      <p:sp>
        <p:nvSpPr>
          <p:cNvPr id="23" name="TextBox 23">
            <a:extLst>
              <a:ext uri="{FF2B5EF4-FFF2-40B4-BE49-F238E27FC236}">
                <a16:creationId xmlns:a16="http://schemas.microsoft.com/office/drawing/2014/main" id="{0DFD35BD-5570-4D58-A2E4-53595730301F}"/>
              </a:ext>
            </a:extLst>
          </p:cNvPr>
          <p:cNvSpPr txBox="1"/>
          <p:nvPr/>
        </p:nvSpPr>
        <p:spPr>
          <a:xfrm>
            <a:off x="762000" y="6515100"/>
            <a:ext cx="3810000" cy="209550"/>
          </a:xfrm>
        </p:spPr>
        <p:txBody>
          <a:bodyPr wrap="square" rtlCol="0" lIns="0" tIns="0" rIns="0" bIns="0" anchor="t"/>
          <a:lstStyle/>
          <a:p>
            <a:pPr algn="l"/>
            <a:r>
              <a:rPr sz="1000">
                <a:solidFill>
                  <a:srgbClr val="9AA5B1"/>
                </a:solidFill>
                <a:latin typeface="Segoe UI"/>
                <a:ea typeface="Segoe UI"/>
              </a:rPr>
              <a:t>StreetBite · Capstone report · 11</a:t>
            </a:r>
          </a:p>
        </p:txBody>
      </p:sp>
      <p:sp>
        <p:nvSpPr>
          <p:cNvPr id="24" name="TextBox 24">
            <a:extLst>
              <a:ext uri="{FF2B5EF4-FFF2-40B4-BE49-F238E27FC236}">
                <a16:creationId xmlns:a16="http://schemas.microsoft.com/office/drawing/2014/main" id="{0BA88CB5-EF25-4CE2-82D6-6E455CD06C10}"/>
              </a:ext>
            </a:extLst>
          </p:cNvPr>
          <p:cNvSpPr txBox="1"/>
          <p:nvPr/>
        </p:nvSpPr>
        <p:spPr>
          <a:xfrm>
            <a:off x="5334000" y="6515100"/>
            <a:ext cx="5334000" cy="209550"/>
          </a:xfrm>
        </p:spPr>
        <p:txBody>
          <a:bodyPr wrap="square" rtlCol="0" lIns="0" tIns="0" rIns="0" bIns="0" anchor="t"/>
          <a:lstStyle/>
          <a:p>
            <a:pPr algn="r"/>
            <a:r>
              <a:rPr sz="1000">
                <a:solidFill>
                  <a:srgbClr val="9AA5B1"/>
                </a:solidFill>
                <a:latin typeface="Segoe UI"/>
                <a:ea typeface="Segoe UI"/>
              </a:rPr>
              <a:t>local_auth · USE_BIOMETRIC · fingerprint not required to install</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6F8FA"/>
        </a:solidFill>
        <a:effectLst/>
      </p:bgPr>
    </p:bg>
    <p:spTree>
      <p:nvGrpSpPr>
        <p:cNvPr id="1" name=""/>
        <p:cNvGrpSpPr/>
        <p:nvPr/>
      </p:nvGrpSpPr>
      <p:grpSpPr>
        <a:xfrm>
          <a:off x="0" y="0"/>
          <a:ext cx="0" cy="0"/>
          <a:chOff x="0" y="0"/>
          <a:chExt cx="0" cy="0"/>
        </a:xfrm>
      </p:grpSpPr>
      <p:sp>
        <p:nvSpPr>
          <p:cNvPr id="3" name="TextBox 3">
            <a:extLst>
              <a:ext uri="{FF2B5EF4-FFF2-40B4-BE49-F238E27FC236}">
                <a16:creationId xmlns:a16="http://schemas.microsoft.com/office/drawing/2014/main" id="{E162FD6C-EA7D-4766-961A-2DC4E0DA0178}"/>
              </a:ext>
            </a:extLst>
          </p:cNvPr>
          <p:cNvSpPr txBox="1"/>
          <p:nvPr/>
        </p:nvSpPr>
        <p:spPr>
          <a:xfrm>
            <a:off x="762000" y="533400"/>
            <a:ext cx="5715000" cy="209550"/>
          </a:xfrm>
        </p:spPr>
        <p:txBody>
          <a:bodyPr wrap="square" rtlCol="0" lIns="0" tIns="0" rIns="0" bIns="0" anchor="t"/>
          <a:lstStyle/>
          <a:p>
            <a:pPr algn="l">
              <a:lnSpc>
                <a:spcPct val="110000"/>
              </a:lnSpc>
            </a:pPr>
            <a:r>
              <a:rPr sz="1100" b="1">
                <a:solidFill>
                  <a:srgbClr val="00C16A"/>
                </a:solidFill>
                <a:latin typeface="Segoe UI"/>
                <a:ea typeface="Segoe UI"/>
              </a:rPr>
              <a:t>11  ·  SCREEN GALLERY</a:t>
            </a:r>
          </a:p>
        </p:txBody>
      </p:sp>
      <p:sp>
        <p:nvSpPr>
          <p:cNvPr id="4" name="TextBox 4">
            <a:extLst>
              <a:ext uri="{FF2B5EF4-FFF2-40B4-BE49-F238E27FC236}">
                <a16:creationId xmlns:a16="http://schemas.microsoft.com/office/drawing/2014/main" id="{E438949B-042F-46C5-A9FA-32B0C505A0FD}"/>
              </a:ext>
            </a:extLst>
          </p:cNvPr>
          <p:cNvSpPr txBox="1"/>
          <p:nvPr/>
        </p:nvSpPr>
        <p:spPr>
          <a:xfrm>
            <a:off x="762000" y="781050"/>
            <a:ext cx="5905500" cy="533400"/>
          </a:xfrm>
        </p:spPr>
        <p:txBody>
          <a:bodyPr wrap="square" rtlCol="0" lIns="0" tIns="0" rIns="0" bIns="0" anchor="t"/>
          <a:lstStyle/>
          <a:p>
            <a:pPr algn="l">
              <a:lnSpc>
                <a:spcPct val="105000"/>
              </a:lnSpc>
            </a:pPr>
            <a:r>
              <a:rPr sz="3000" b="1">
                <a:solidFill>
                  <a:srgbClr val="12141A"/>
                </a:solidFill>
                <a:latin typeface="Segoe UI"/>
                <a:ea typeface="Segoe UI"/>
              </a:rPr>
              <a:t>Fourteen screens</a:t>
            </a:r>
          </a:p>
        </p:txBody>
      </p:sp>
      <p:sp>
        <p:nvSpPr>
          <p:cNvPr id="5" name="TextBox 5">
            <a:extLst>
              <a:ext uri="{FF2B5EF4-FFF2-40B4-BE49-F238E27FC236}">
                <a16:creationId xmlns:a16="http://schemas.microsoft.com/office/drawing/2014/main" id="{E5F80ECE-0DED-4089-85D7-753C7BCF489A}"/>
              </a:ext>
            </a:extLst>
          </p:cNvPr>
          <p:cNvSpPr txBox="1"/>
          <p:nvPr/>
        </p:nvSpPr>
        <p:spPr>
          <a:xfrm>
            <a:off x="7620000" y="857250"/>
            <a:ext cx="3810000" cy="419100"/>
          </a:xfrm>
        </p:spPr>
        <p:txBody>
          <a:bodyPr wrap="square" rtlCol="0" lIns="0" tIns="0" rIns="0" bIns="0" anchor="t"/>
          <a:lstStyle/>
          <a:p>
            <a:pPr algn="r">
              <a:lnSpc>
                <a:spcPct val="105000"/>
              </a:lnSpc>
            </a:pPr>
            <a:r>
              <a:rPr sz="2400" b="1">
                <a:solidFill>
                  <a:srgbClr val="5A6675"/>
                </a:solidFill>
                <a:latin typeface="Segoe UI"/>
                <a:ea typeface="Segoe UI"/>
              </a:rPr>
              <a:t>أربع عشرة شاشة</a:t>
            </a:r>
          </a:p>
        </p:txBody>
      </p:sp>
      <p:pic>
        <p:nvPicPr>
          <p:cNvPr id="6" name="Picture 6">
            <a:extLst>
              <a:ext uri="{FF2B5EF4-FFF2-40B4-BE49-F238E27FC236}">
                <a16:creationId xmlns:a16="http://schemas.microsoft.com/office/drawing/2014/main" id="{367D6912-2C94-467B-B944-FF390792C363}"/>
              </a:ext>
            </a:extLst>
          </p:cNvPr>
          <p:cNvPicPr/>
          <p:nvPr/>
        </p:nvPicPr>
        <p:blipFill>
          <a:blip r:embed="rId2"/>
          <a:stretch>
            <a:fillRect/>
          </a:stretch>
        </p:blipFill>
        <p:spPr>
          <a:xfrm>
            <a:off x="762000" y="1762125"/>
            <a:ext cx="1714500" cy="3810000"/>
          </a:xfrm>
          <a:prstGeom prst="rect">
            <a:avLst/>
          </a:prstGeom>
        </p:spPr>
      </p:pic>
      <p:pic>
        <p:nvPicPr>
          <p:cNvPr id="7" name="Picture 7">
            <a:extLst>
              <a:ext uri="{FF2B5EF4-FFF2-40B4-BE49-F238E27FC236}">
                <a16:creationId xmlns:a16="http://schemas.microsoft.com/office/drawing/2014/main" id="{A77C08F2-FBB3-409D-B798-27FC18BB15C0}"/>
              </a:ext>
            </a:extLst>
          </p:cNvPr>
          <p:cNvPicPr/>
          <p:nvPr/>
        </p:nvPicPr>
        <p:blipFill>
          <a:blip r:embed="rId3"/>
          <a:stretch>
            <a:fillRect/>
          </a:stretch>
        </p:blipFill>
        <p:spPr>
          <a:xfrm>
            <a:off x="2714625" y="1762125"/>
            <a:ext cx="1714500" cy="3810000"/>
          </a:xfrm>
          <a:prstGeom prst="rect">
            <a:avLst/>
          </a:prstGeom>
        </p:spPr>
      </p:pic>
      <p:pic>
        <p:nvPicPr>
          <p:cNvPr id="8" name="Picture 8">
            <a:extLst>
              <a:ext uri="{FF2B5EF4-FFF2-40B4-BE49-F238E27FC236}">
                <a16:creationId xmlns:a16="http://schemas.microsoft.com/office/drawing/2014/main" id="{B1AFFFBD-3E83-4611-86F8-2AFCAD4FFA27}"/>
              </a:ext>
            </a:extLst>
          </p:cNvPr>
          <p:cNvPicPr/>
          <p:nvPr/>
        </p:nvPicPr>
        <p:blipFill>
          <a:blip r:embed="rId4"/>
          <a:stretch>
            <a:fillRect/>
          </a:stretch>
        </p:blipFill>
        <p:spPr>
          <a:xfrm>
            <a:off x="4667250" y="1762125"/>
            <a:ext cx="1714500" cy="3810000"/>
          </a:xfrm>
          <a:prstGeom prst="rect">
            <a:avLst/>
          </a:prstGeom>
        </p:spPr>
      </p:pic>
      <p:sp>
        <p:nvSpPr>
          <p:cNvPr id="9" name="TextBox 9">
            <a:extLst>
              <a:ext uri="{FF2B5EF4-FFF2-40B4-BE49-F238E27FC236}">
                <a16:creationId xmlns:a16="http://schemas.microsoft.com/office/drawing/2014/main" id="{3258D81F-93F5-4233-BD99-4525180A6BC1}"/>
              </a:ext>
            </a:extLst>
          </p:cNvPr>
          <p:cNvSpPr txBox="1"/>
          <p:nvPr/>
        </p:nvSpPr>
        <p:spPr>
          <a:xfrm>
            <a:off x="762000" y="5676900"/>
            <a:ext cx="1714500" cy="381000"/>
          </a:xfrm>
        </p:spPr>
        <p:txBody>
          <a:bodyPr wrap="square" rtlCol="0" lIns="0" tIns="0" rIns="0" bIns="0" anchor="t"/>
          <a:lstStyle/>
          <a:p>
            <a:pPr algn="ctr">
              <a:lnSpc>
                <a:spcPct val="110000"/>
              </a:lnSpc>
            </a:pPr>
            <a:r>
              <a:rPr sz="1100" b="1">
                <a:solidFill>
                  <a:srgbClr val="12141A"/>
                </a:solidFill>
                <a:latin typeface="Segoe UI"/>
                <a:ea typeface="Segoe UI"/>
              </a:rPr>
              <a:t>Splash</a:t>
            </a:r>
          </a:p>
          <a:p>
            <a:pPr algn="ctr">
              <a:lnSpc>
                <a:spcPct val="110000"/>
              </a:lnSpc>
            </a:pPr>
            <a:r>
              <a:rPr sz="1000">
                <a:solidFill>
                  <a:srgbClr val="7A8796"/>
                </a:solidFill>
                <a:latin typeface="Segoe UI"/>
                <a:ea typeface="Segoe UI"/>
              </a:rPr>
              <a:t>شاشة البداية</a:t>
            </a:r>
          </a:p>
        </p:txBody>
      </p:sp>
      <p:sp>
        <p:nvSpPr>
          <p:cNvPr id="10" name="TextBox 10">
            <a:extLst>
              <a:ext uri="{FF2B5EF4-FFF2-40B4-BE49-F238E27FC236}">
                <a16:creationId xmlns:a16="http://schemas.microsoft.com/office/drawing/2014/main" id="{9472766D-2B3F-4AD9-9B02-7C829350EEFA}"/>
              </a:ext>
            </a:extLst>
          </p:cNvPr>
          <p:cNvSpPr txBox="1"/>
          <p:nvPr/>
        </p:nvSpPr>
        <p:spPr>
          <a:xfrm>
            <a:off x="2714625" y="5676900"/>
            <a:ext cx="1714500" cy="381000"/>
          </a:xfrm>
        </p:spPr>
        <p:txBody>
          <a:bodyPr wrap="square" rtlCol="0" lIns="0" tIns="0" rIns="0" bIns="0" anchor="t"/>
          <a:lstStyle/>
          <a:p>
            <a:pPr algn="ctr">
              <a:lnSpc>
                <a:spcPct val="110000"/>
              </a:lnSpc>
            </a:pPr>
            <a:r>
              <a:rPr sz="1100" b="1">
                <a:solidFill>
                  <a:srgbClr val="12141A"/>
                </a:solidFill>
                <a:latin typeface="Segoe UI"/>
                <a:ea typeface="Segoe UI"/>
              </a:rPr>
              <a:t>Empty cart</a:t>
            </a:r>
          </a:p>
          <a:p>
            <a:pPr algn="ctr">
              <a:lnSpc>
                <a:spcPct val="110000"/>
              </a:lnSpc>
            </a:pPr>
            <a:r>
              <a:rPr sz="1000">
                <a:solidFill>
                  <a:srgbClr val="7A8796"/>
                </a:solidFill>
                <a:latin typeface="Segoe UI"/>
                <a:ea typeface="Segoe UI"/>
              </a:rPr>
              <a:t>السلة الفارغة</a:t>
            </a:r>
          </a:p>
        </p:txBody>
      </p:sp>
      <p:sp>
        <p:nvSpPr>
          <p:cNvPr id="11" name="TextBox 11">
            <a:extLst>
              <a:ext uri="{FF2B5EF4-FFF2-40B4-BE49-F238E27FC236}">
                <a16:creationId xmlns:a16="http://schemas.microsoft.com/office/drawing/2014/main" id="{72B38B07-AF6B-42E8-8491-E540F8BF229F}"/>
              </a:ext>
            </a:extLst>
          </p:cNvPr>
          <p:cNvSpPr txBox="1"/>
          <p:nvPr/>
        </p:nvSpPr>
        <p:spPr>
          <a:xfrm>
            <a:off x="4667250" y="5676900"/>
            <a:ext cx="1714500" cy="381000"/>
          </a:xfrm>
        </p:spPr>
        <p:txBody>
          <a:bodyPr wrap="square" rtlCol="0" lIns="0" tIns="0" rIns="0" bIns="0" anchor="t"/>
          <a:lstStyle/>
          <a:p>
            <a:pPr algn="ctr">
              <a:lnSpc>
                <a:spcPct val="110000"/>
              </a:lnSpc>
            </a:pPr>
            <a:r>
              <a:rPr sz="1100" b="1">
                <a:solidFill>
                  <a:srgbClr val="12141A"/>
                </a:solidFill>
                <a:latin typeface="Segoe UI"/>
                <a:ea typeface="Segoe UI"/>
              </a:rPr>
              <a:t>Dark mode</a:t>
            </a:r>
          </a:p>
          <a:p>
            <a:pPr algn="ctr">
              <a:lnSpc>
                <a:spcPct val="110000"/>
              </a:lnSpc>
            </a:pPr>
            <a:r>
              <a:rPr sz="1000">
                <a:solidFill>
                  <a:srgbClr val="7A8796"/>
                </a:solidFill>
                <a:latin typeface="Segoe UI"/>
                <a:ea typeface="Segoe UI"/>
              </a:rPr>
              <a:t>الوضع الداكن</a:t>
            </a:r>
          </a:p>
        </p:txBody>
      </p:sp>
      <p:sp>
        <p:nvSpPr>
          <p:cNvPr id="12" name="Shape 12">
            <a:extLst>
              <a:ext uri="{FF2B5EF4-FFF2-40B4-BE49-F238E27FC236}">
                <a16:creationId xmlns:a16="http://schemas.microsoft.com/office/drawing/2014/main" id="{B9B8A931-5C0F-4131-BE93-AACB6713971E}"/>
              </a:ext>
            </a:extLst>
          </p:cNvPr>
          <p:cNvSpPr/>
          <p:nvPr/>
        </p:nvSpPr>
        <p:spPr>
          <a:xfrm>
            <a:off x="6667500" y="1762125"/>
            <a:ext cx="4762500" cy="4333875"/>
          </a:xfrm>
          <a:prstGeom prst="roundRect">
            <a:avLst/>
          </a:prstGeom>
          <a:solidFill>
            <a:srgbClr val="FFFFFF"/>
          </a:solidFill>
          <a:ln w="12700">
            <a:solidFill>
              <a:srgbClr val="E4E9F0"/>
            </a:solidFill>
          </a:ln>
        </p:spPr>
        <p:txBody>
          <a:bodyPr wrap="square" rtlCol="0"/>
          <a:lstStyle/>
          <a:p>
            <a:r>
              <a:rPr/>
              <a:t/>
            </a:r>
          </a:p>
        </p:txBody>
      </p:sp>
      <p:sp>
        <p:nvSpPr>
          <p:cNvPr id="13" name="TextBox 13">
            <a:extLst>
              <a:ext uri="{FF2B5EF4-FFF2-40B4-BE49-F238E27FC236}">
                <a16:creationId xmlns:a16="http://schemas.microsoft.com/office/drawing/2014/main" id="{C043392E-B1BA-440A-98B1-A7ED2A43D014}"/>
              </a:ext>
            </a:extLst>
          </p:cNvPr>
          <p:cNvSpPr txBox="1"/>
          <p:nvPr/>
        </p:nvSpPr>
        <p:spPr>
          <a:xfrm>
            <a:off x="6896100" y="1971675"/>
            <a:ext cx="2381250" cy="266700"/>
          </a:xfrm>
        </p:spPr>
        <p:txBody>
          <a:bodyPr wrap="square" rtlCol="0" lIns="0" tIns="0" rIns="0" bIns="0" anchor="t"/>
          <a:lstStyle/>
          <a:p>
            <a:pPr algn="l">
              <a:lnSpc>
                <a:spcPct val="110000"/>
              </a:lnSpc>
            </a:pPr>
            <a:r>
              <a:rPr sz="1600" b="1">
                <a:solidFill>
                  <a:srgbClr val="12141A"/>
                </a:solidFill>
                <a:latin typeface="Segoe UI"/>
                <a:ea typeface="Segoe UI"/>
              </a:rPr>
              <a:t>Every screen in the build</a:t>
            </a:r>
          </a:p>
        </p:txBody>
      </p:sp>
      <p:sp>
        <p:nvSpPr>
          <p:cNvPr id="14" name="TextBox 14">
            <a:extLst>
              <a:ext uri="{FF2B5EF4-FFF2-40B4-BE49-F238E27FC236}">
                <a16:creationId xmlns:a16="http://schemas.microsoft.com/office/drawing/2014/main" id="{B8399B77-D066-462C-9B91-4A4BCB84F4AE}"/>
              </a:ext>
            </a:extLst>
          </p:cNvPr>
          <p:cNvSpPr txBox="1"/>
          <p:nvPr/>
        </p:nvSpPr>
        <p:spPr>
          <a:xfrm>
            <a:off x="9048750" y="2000250"/>
            <a:ext cx="2152650" cy="381000"/>
          </a:xfrm>
        </p:spPr>
        <p:txBody>
          <a:bodyPr wrap="square" rtlCol="0" lIns="0" tIns="0" rIns="0" bIns="0" anchor="t"/>
          <a:lstStyle/>
          <a:p>
            <a:pPr algn="r">
              <a:lnSpc>
                <a:spcPct val="110000"/>
              </a:lnSpc>
            </a:pPr>
            <a:r>
              <a:rPr sz="1400" b="1">
                <a:solidFill>
                  <a:srgbClr val="5A6675"/>
                </a:solidFill>
                <a:latin typeface="Segoe UI"/>
                <a:ea typeface="Segoe UI"/>
              </a:rPr>
              <a:t>كل الشاشات</a:t>
            </a:r>
          </a:p>
        </p:txBody>
      </p:sp>
      <p:sp>
        <p:nvSpPr>
          <p:cNvPr id="15" name="Shape 15">
            <a:extLst>
              <a:ext uri="{FF2B5EF4-FFF2-40B4-BE49-F238E27FC236}">
                <a16:creationId xmlns:a16="http://schemas.microsoft.com/office/drawing/2014/main" id="{69E4F075-52F3-4736-BC99-2AD79A899154}"/>
              </a:ext>
            </a:extLst>
          </p:cNvPr>
          <p:cNvSpPr/>
          <p:nvPr/>
        </p:nvSpPr>
        <p:spPr>
          <a:xfrm>
            <a:off x="6896100" y="2362200"/>
            <a:ext cx="571500" cy="19050"/>
          </a:xfrm>
          <a:prstGeom prst="rect">
            <a:avLst/>
          </a:prstGeom>
          <a:solidFill>
            <a:srgbClr val="00C16A"/>
          </a:solidFill>
        </p:spPr>
        <p:txBody>
          <a:bodyPr wrap="square" rtlCol="0"/>
          <a:lstStyle/>
          <a:p>
            <a:r>
              <a:rPr/>
              <a:t/>
            </a:r>
          </a:p>
        </p:txBody>
      </p:sp>
      <p:sp>
        <p:nvSpPr>
          <p:cNvPr id="16" name="TextBox 16">
            <a:extLst>
              <a:ext uri="{FF2B5EF4-FFF2-40B4-BE49-F238E27FC236}">
                <a16:creationId xmlns:a16="http://schemas.microsoft.com/office/drawing/2014/main" id="{AC4D74F5-9807-4AD3-9634-5C92656F4727}"/>
              </a:ext>
            </a:extLst>
          </p:cNvPr>
          <p:cNvSpPr txBox="1"/>
          <p:nvPr/>
        </p:nvSpPr>
        <p:spPr>
          <a:xfrm>
            <a:off x="6896100" y="2514600"/>
            <a:ext cx="2190750" cy="3543300"/>
          </a:xfrm>
        </p:spPr>
        <p:txBody>
          <a:bodyPr wrap="square" rtlCol="0" lIns="0" tIns="0" rIns="0" bIns="0" anchor="t"/>
          <a:lstStyle/>
          <a:p>
            <a:pPr algn="l">
              <a:lnSpc>
                <a:spcPct val="100000"/>
              </a:lnSpc>
            </a:pPr>
            <a:r>
              <a:rPr sz="1100">
                <a:solidFill>
                  <a:srgbClr val="5A6675"/>
                </a:solidFill>
                <a:latin typeface="Segoe UI"/>
                <a:ea typeface="Segoe UI"/>
              </a:rPr>
              <a:t>Splash / onboarding</a:t>
            </a:r>
            <a:br/>
            <a:r>
              <a:rPr sz="1100">
                <a:solidFill>
                  <a:srgbClr val="5A6675"/>
                </a:solidFill>
                <a:latin typeface="Segoe UI"/>
                <a:ea typeface="Segoe UI"/>
              </a:rPr>
              <a:t>Login</a:t>
            </a:r>
            <a:br/>
            <a:r>
              <a:rPr sz="1100">
                <a:solidFill>
                  <a:srgbClr val="5A6675"/>
                </a:solidFill>
                <a:latin typeface="Segoe UI"/>
                <a:ea typeface="Segoe UI"/>
              </a:rPr>
              <a:t>Sign up</a:t>
            </a:r>
            <a:br/>
            <a:r>
              <a:rPr sz="1100">
                <a:solidFill>
                  <a:srgbClr val="5A6675"/>
                </a:solidFill>
                <a:latin typeface="Segoe UI"/>
                <a:ea typeface="Segoe UI"/>
              </a:rPr>
              <a:t>Biometric sign-in</a:t>
            </a:r>
            <a:br/>
            <a:r>
              <a:rPr sz="1100">
                <a:solidFill>
                  <a:srgbClr val="5A6675"/>
                </a:solidFill>
                <a:latin typeface="Segoe UI"/>
                <a:ea typeface="Segoe UI"/>
              </a:rPr>
              <a:t>Home feed</a:t>
            </a:r>
            <a:br/>
            <a:r>
              <a:rPr sz="1100">
                <a:solidFill>
                  <a:srgbClr val="5A6675"/>
                </a:solidFill>
                <a:latin typeface="Segoe UI"/>
                <a:ea typeface="Segoe UI"/>
              </a:rPr>
              <a:t>Meal details</a:t>
            </a:r>
            <a:br/>
            <a:r>
              <a:rPr sz="1100">
                <a:solidFill>
                  <a:srgbClr val="5A6675"/>
                </a:solidFill>
                <a:latin typeface="Segoe UI"/>
                <a:ea typeface="Segoe UI"/>
              </a:rPr>
              <a:t>Cart and checkout</a:t>
            </a:r>
            <a:br/>
            <a:r>
              <a:rPr sz="1100">
                <a:solidFill>
                  <a:srgbClr val="5A6675"/>
                </a:solidFill>
                <a:latin typeface="Segoe UI"/>
                <a:ea typeface="Segoe UI"/>
              </a:rPr>
              <a:t>Order confirmation</a:t>
            </a:r>
            <a:br/>
            <a:r>
              <a:rPr sz="1100">
                <a:solidFill>
                  <a:srgbClr val="5A6675"/>
                </a:solidFill>
                <a:latin typeface="Segoe UI"/>
                <a:ea typeface="Segoe UI"/>
              </a:rPr>
              <a:t>Order details</a:t>
            </a:r>
            <a:br/>
            <a:r>
              <a:rPr sz="1100">
                <a:solidFill>
                  <a:srgbClr val="5A6675"/>
                </a:solidFill>
                <a:latin typeface="Segoe UI"/>
                <a:ea typeface="Segoe UI"/>
              </a:rPr>
              <a:t>Browse</a:t>
            </a:r>
            <a:br/>
            <a:r>
              <a:rPr sz="1100">
                <a:solidFill>
                  <a:srgbClr val="5A6675"/>
                </a:solidFill>
                <a:latin typeface="Segoe UI"/>
                <a:ea typeface="Segoe UI"/>
              </a:rPr>
              <a:t>Orders</a:t>
            </a:r>
            <a:br/>
            <a:r>
              <a:rPr sz="1100">
                <a:solidFill>
                  <a:srgbClr val="5A6675"/>
                </a:solidFill>
                <a:latin typeface="Segoe UI"/>
                <a:ea typeface="Segoe UI"/>
              </a:rPr>
              <a:t>Vendor map</a:t>
            </a:r>
            <a:br/>
            <a:r>
              <a:rPr sz="1100">
                <a:solidFill>
                  <a:srgbClr val="5A6675"/>
                </a:solidFill>
                <a:latin typeface="Segoe UI"/>
                <a:ea typeface="Segoe UI"/>
              </a:rPr>
              <a:t>Profile</a:t>
            </a:r>
            <a:br/>
            <a:r>
              <a:rPr sz="1100">
                <a:solidFill>
                  <a:srgbClr val="5A6675"/>
                </a:solidFill>
                <a:latin typeface="Segoe UI"/>
                <a:ea typeface="Segoe UI"/>
              </a:rPr>
              <a:t>Settings</a:t>
            </a:r>
          </a:p>
        </p:txBody>
      </p:sp>
      <p:sp>
        <p:nvSpPr>
          <p:cNvPr id="17" name="TextBox 17">
            <a:extLst>
              <a:ext uri="{FF2B5EF4-FFF2-40B4-BE49-F238E27FC236}">
                <a16:creationId xmlns:a16="http://schemas.microsoft.com/office/drawing/2014/main" id="{8698C4B4-6B65-474F-ACA3-C5D0A1797678}"/>
              </a:ext>
            </a:extLst>
          </p:cNvPr>
          <p:cNvSpPr txBox="1"/>
          <p:nvPr/>
        </p:nvSpPr>
        <p:spPr>
          <a:xfrm>
            <a:off x="9182100" y="2514600"/>
            <a:ext cx="2019300" cy="3543300"/>
          </a:xfrm>
        </p:spPr>
        <p:txBody>
          <a:bodyPr wrap="square" rtlCol="0" lIns="0" tIns="0" rIns="0" bIns="0" anchor="t"/>
          <a:lstStyle/>
          <a:p>
            <a:pPr algn="r">
              <a:lnSpc>
                <a:spcPct val="100000"/>
              </a:lnSpc>
            </a:pPr>
            <a:r>
              <a:rPr sz="1100">
                <a:solidFill>
                  <a:srgbClr val="7A8796"/>
                </a:solidFill>
                <a:latin typeface="Segoe UI"/>
                <a:ea typeface="Segoe UI"/>
              </a:rPr>
              <a:t>شاشة البداية</a:t>
            </a:r>
            <a:br/>
            <a:r>
              <a:rPr sz="1100">
                <a:solidFill>
                  <a:srgbClr val="7A8796"/>
                </a:solidFill>
                <a:latin typeface="Segoe UI"/>
                <a:ea typeface="Segoe UI"/>
              </a:rPr>
              <a:t>تسجيل الدخول</a:t>
            </a:r>
            <a:br/>
            <a:r>
              <a:rPr sz="1100">
                <a:solidFill>
                  <a:srgbClr val="7A8796"/>
                </a:solidFill>
                <a:latin typeface="Segoe UI"/>
                <a:ea typeface="Segoe UI"/>
              </a:rPr>
              <a:t>إنشاء الحساب</a:t>
            </a:r>
            <a:br/>
            <a:r>
              <a:rPr sz="1100">
                <a:solidFill>
                  <a:srgbClr val="7A8796"/>
                </a:solidFill>
                <a:latin typeface="Segoe UI"/>
                <a:ea typeface="Segoe UI"/>
              </a:rPr>
              <a:t>الدخول بالبصمة</a:t>
            </a:r>
            <a:br/>
            <a:r>
              <a:rPr sz="1100">
                <a:solidFill>
                  <a:srgbClr val="7A8796"/>
                </a:solidFill>
                <a:latin typeface="Segoe UI"/>
                <a:ea typeface="Segoe UI"/>
              </a:rPr>
              <a:t>القائمة الرئيسية</a:t>
            </a:r>
            <a:br/>
            <a:r>
              <a:rPr sz="1100">
                <a:solidFill>
                  <a:srgbClr val="7A8796"/>
                </a:solidFill>
                <a:latin typeface="Segoe UI"/>
                <a:ea typeface="Segoe UI"/>
              </a:rPr>
              <a:t>تفاصيل الطبق</a:t>
            </a:r>
            <a:br/>
            <a:r>
              <a:rPr sz="1100">
                <a:solidFill>
                  <a:srgbClr val="7A8796"/>
                </a:solidFill>
                <a:latin typeface="Segoe UI"/>
                <a:ea typeface="Segoe UI"/>
              </a:rPr>
              <a:t>السلة والدفع</a:t>
            </a:r>
            <a:br/>
            <a:r>
              <a:rPr sz="1100">
                <a:solidFill>
                  <a:srgbClr val="7A8796"/>
                </a:solidFill>
                <a:latin typeface="Segoe UI"/>
                <a:ea typeface="Segoe UI"/>
              </a:rPr>
              <a:t>تأكيد الطلب</a:t>
            </a:r>
            <a:br/>
            <a:r>
              <a:rPr sz="1100">
                <a:solidFill>
                  <a:srgbClr val="7A8796"/>
                </a:solidFill>
                <a:latin typeface="Segoe UI"/>
                <a:ea typeface="Segoe UI"/>
              </a:rPr>
              <a:t>تفاصيل الطلب</a:t>
            </a:r>
            <a:br/>
            <a:r>
              <a:rPr sz="1100">
                <a:solidFill>
                  <a:srgbClr val="7A8796"/>
                </a:solidFill>
                <a:latin typeface="Segoe UI"/>
                <a:ea typeface="Segoe UI"/>
              </a:rPr>
              <a:t>التصفح</a:t>
            </a:r>
            <a:br/>
            <a:r>
              <a:rPr sz="1100">
                <a:solidFill>
                  <a:srgbClr val="7A8796"/>
                </a:solidFill>
                <a:latin typeface="Segoe UI"/>
                <a:ea typeface="Segoe UI"/>
              </a:rPr>
              <a:t>الطلبات</a:t>
            </a:r>
            <a:br/>
            <a:r>
              <a:rPr sz="1100">
                <a:solidFill>
                  <a:srgbClr val="7A8796"/>
                </a:solidFill>
                <a:latin typeface="Segoe UI"/>
                <a:ea typeface="Segoe UI"/>
              </a:rPr>
              <a:t>خريطة البائعين</a:t>
            </a:r>
            <a:br/>
            <a:r>
              <a:rPr sz="1100">
                <a:solidFill>
                  <a:srgbClr val="7A8796"/>
                </a:solidFill>
                <a:latin typeface="Segoe UI"/>
                <a:ea typeface="Segoe UI"/>
              </a:rPr>
              <a:t>الملف الشخصي</a:t>
            </a:r>
            <a:br/>
            <a:r>
              <a:rPr sz="1100">
                <a:solidFill>
                  <a:srgbClr val="7A8796"/>
                </a:solidFill>
                <a:latin typeface="Segoe UI"/>
                <a:ea typeface="Segoe UI"/>
              </a:rPr>
              <a:t>الإعدادات</a:t>
            </a:r>
          </a:p>
        </p:txBody>
      </p:sp>
      <p:sp>
        <p:nvSpPr>
          <p:cNvPr id="18" name="TextBox 18">
            <a:extLst>
              <a:ext uri="{FF2B5EF4-FFF2-40B4-BE49-F238E27FC236}">
                <a16:creationId xmlns:a16="http://schemas.microsoft.com/office/drawing/2014/main" id="{28349909-A398-4616-B65A-699965A179E6}"/>
              </a:ext>
            </a:extLst>
          </p:cNvPr>
          <p:cNvSpPr txBox="1"/>
          <p:nvPr/>
        </p:nvSpPr>
        <p:spPr>
          <a:xfrm>
            <a:off x="762000" y="6515100"/>
            <a:ext cx="3810000" cy="209550"/>
          </a:xfrm>
        </p:spPr>
        <p:txBody>
          <a:bodyPr wrap="square" rtlCol="0" lIns="0" tIns="0" rIns="0" bIns="0" anchor="t"/>
          <a:lstStyle/>
          <a:p>
            <a:pPr algn="l">
              <a:lnSpc>
                <a:spcPct val="110000"/>
              </a:lnSpc>
            </a:pPr>
            <a:r>
              <a:rPr sz="1000">
                <a:solidFill>
                  <a:srgbClr val="9AA5B1"/>
                </a:solidFill>
                <a:latin typeface="Segoe UI"/>
                <a:ea typeface="Segoe UI"/>
              </a:rPr>
              <a:t>StreetBite · Capstone report · 12</a:t>
            </a:r>
          </a:p>
        </p:txBody>
      </p:sp>
      <p:sp>
        <p:nvSpPr>
          <p:cNvPr id="19" name="TextBox 19">
            <a:extLst>
              <a:ext uri="{FF2B5EF4-FFF2-40B4-BE49-F238E27FC236}">
                <a16:creationId xmlns:a16="http://schemas.microsoft.com/office/drawing/2014/main" id="{5A2FCB0A-CAD9-47B3-8BAA-3627C3FF4409}"/>
              </a:ext>
            </a:extLst>
          </p:cNvPr>
          <p:cNvSpPr txBox="1"/>
          <p:nvPr/>
        </p:nvSpPr>
        <p:spPr>
          <a:xfrm>
            <a:off x="5143500" y="6515100"/>
            <a:ext cx="6286500" cy="209550"/>
          </a:xfrm>
        </p:spPr>
        <p:txBody>
          <a:bodyPr wrap="square" rtlCol="0" lIns="0" tIns="0" rIns="0" bIns="0" anchor="t"/>
          <a:lstStyle/>
          <a:p>
            <a:pPr algn="r">
              <a:lnSpc>
                <a:spcPct val="110000"/>
              </a:lnSpc>
            </a:pPr>
            <a:r>
              <a:rPr sz="1000" i="1">
                <a:solidFill>
                  <a:srgbClr val="9AA5B1"/>
                </a:solidFill>
                <a:latin typeface="Segoe UI"/>
                <a:ea typeface="Segoe UI"/>
              </a:rPr>
              <a:t>Captured from the release APK on a physical device  ·  اللقطات من جهاز حقيقي</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2000" y="533400"/>
            <a:ext cx="5905500" cy="209550"/>
          </a:xfrm>
          <a:prstGeom prst="rect">
            <a:avLst/>
          </a:prstGeom>
          <a:noFill/>
        </p:spPr>
        <p:txBody>
          <a:bodyPr wrap="square" lIns="0" rIns="0" tIns="0" bIns="0">
            <a:spAutoFit/>
          </a:bodyPr>
          <a:lstStyle/>
          <a:p>
            <a:pPr algn="l"/>
            <a:r>
              <a:rPr sz="1100" b="1">
                <a:solidFill>
                  <a:srgbClr val="00C16A"/>
                </a:solidFill>
                <a:latin typeface="Segoe UI"/>
              </a:rPr>
              <a:t>12  ·  CROSS-DEVICE CONTINUITY</a:t>
            </a:r>
          </a:p>
        </p:txBody>
      </p:sp>
      <p:sp>
        <p:nvSpPr>
          <p:cNvPr id="3" name="TextBox 2"/>
          <p:cNvSpPr txBox="1"/>
          <p:nvPr/>
        </p:nvSpPr>
        <p:spPr>
          <a:xfrm>
            <a:off x="762000" y="781050"/>
            <a:ext cx="6096000" cy="533400"/>
          </a:xfrm>
          <a:prstGeom prst="rect">
            <a:avLst/>
          </a:prstGeom>
          <a:noFill/>
        </p:spPr>
        <p:txBody>
          <a:bodyPr wrap="square" lIns="0" rIns="0" tIns="0" bIns="0">
            <a:spAutoFit/>
          </a:bodyPr>
          <a:lstStyle/>
          <a:p>
            <a:pPr algn="l"/>
            <a:r>
              <a:rPr sz="3000" b="1">
                <a:solidFill>
                  <a:srgbClr val="12141A"/>
                </a:solidFill>
                <a:latin typeface="Segoe UI"/>
              </a:rPr>
              <a:t>One account, two devices</a:t>
            </a:r>
          </a:p>
        </p:txBody>
      </p:sp>
      <p:sp>
        <p:nvSpPr>
          <p:cNvPr id="4" name="TextBox 3"/>
          <p:cNvSpPr txBox="1"/>
          <p:nvPr/>
        </p:nvSpPr>
        <p:spPr>
          <a:xfrm>
            <a:off x="7239000" y="857250"/>
            <a:ext cx="4191000" cy="419100"/>
          </a:xfrm>
          <a:prstGeom prst="rect">
            <a:avLst/>
          </a:prstGeom>
          <a:noFill/>
        </p:spPr>
        <p:txBody>
          <a:bodyPr wrap="square" lIns="0" rIns="0" tIns="0" bIns="0">
            <a:spAutoFit/>
          </a:bodyPr>
          <a:lstStyle/>
          <a:p>
            <a:pPr algn="r" rtl="1"/>
            <a:r>
              <a:rPr sz="2400" b="1">
                <a:solidFill>
                  <a:srgbClr val="5A6675"/>
                </a:solidFill>
                <a:latin typeface="Segoe UI"/>
              </a:rPr>
              <a:t>حسابٌ واحد على جهازين</a:t>
            </a:r>
          </a:p>
        </p:txBody>
      </p:sp>
      <p:sp>
        <p:nvSpPr>
          <p:cNvPr id="5" name="TextBox 4"/>
          <p:cNvSpPr txBox="1"/>
          <p:nvPr/>
        </p:nvSpPr>
        <p:spPr>
          <a:xfrm>
            <a:off x="762000" y="1666875"/>
            <a:ext cx="6096000" cy="419100"/>
          </a:xfrm>
          <a:prstGeom prst="rect">
            <a:avLst/>
          </a:prstGeom>
          <a:noFill/>
        </p:spPr>
        <p:txBody>
          <a:bodyPr wrap="square" lIns="0" rIns="0" tIns="0" bIns="0">
            <a:spAutoFit/>
          </a:bodyPr>
          <a:lstStyle/>
          <a:p>
            <a:pPr algn="l"/>
            <a:r>
              <a:rPr sz="1600" b="1">
                <a:solidFill>
                  <a:srgbClr val="12141A"/>
                </a:solidFill>
                <a:latin typeface="Segoe UI"/>
              </a:rPr>
              <a:t>Confirmed live Firestore continuity</a:t>
            </a:r>
          </a:p>
        </p:txBody>
      </p:sp>
      <p:sp>
        <p:nvSpPr>
          <p:cNvPr id="6" name="TextBox 5"/>
          <p:cNvSpPr txBox="1"/>
          <p:nvPr/>
        </p:nvSpPr>
        <p:spPr>
          <a:xfrm>
            <a:off x="762000" y="2133600"/>
            <a:ext cx="6096000" cy="2095500"/>
          </a:xfrm>
          <a:prstGeom prst="rect">
            <a:avLst/>
          </a:prstGeom>
          <a:noFill/>
        </p:spPr>
        <p:txBody>
          <a:bodyPr wrap="square" lIns="0" rIns="0" tIns="0" bIns="0">
            <a:spAutoFit/>
          </a:bodyPr>
          <a:lstStyle/>
          <a:p>
            <a:pPr algn="l"/>
            <a:r>
              <a:rPr sz="1200" b="0">
                <a:solidFill>
                  <a:srgbClr val="5A6675"/>
                </a:solidFill>
                <a:latin typeface="Segoe UI"/>
              </a:rPr>
              <a:t>Signed in as the same account on both targets.</a:t>
            </a:r>
          </a:p>
          <a:p>
            <a:pPr algn="l"/>
            <a:r>
              <a:rPr sz="1200" b="0">
                <a:solidFill>
                  <a:srgbClr val="5A6675"/>
                </a:solidFill>
                <a:latin typeface="Segoe UI"/>
              </a:rPr>
              <a:t>Physical Xiaomi 24117RN76G (Android 16) and the Medium_Phone API 37.0 emulator.</a:t>
            </a:r>
          </a:p>
          <a:p>
            <a:pPr algn="l"/>
            <a:r>
              <a:rPr sz="1200" b="0">
                <a:solidFill>
                  <a:srgbClr val="5A6675"/>
                </a:solidFill>
                <a:latin typeface="Segoe UI"/>
              </a:rPr>
              <a:t>The identical live Hot Offers feed rendered on each, with no manual refresh.</a:t>
            </a:r>
          </a:p>
          <a:p>
            <a:pPr algn="l"/>
            <a:r>
              <a:rPr sz="1200" b="0">
                <a:solidFill>
                  <a:srgbClr val="5A6675"/>
                </a:solidFill>
                <a:latin typeface="Segoe UI"/>
              </a:rPr>
              <a:t>Reads flow from one Cloud Firestore backend, so a session on one device mirrors on the other.</a:t>
            </a:r>
          </a:p>
        </p:txBody>
      </p:sp>
      <p:sp>
        <p:nvSpPr>
          <p:cNvPr id="7" name="TextBox 6"/>
          <p:cNvSpPr txBox="1"/>
          <p:nvPr/>
        </p:nvSpPr>
        <p:spPr>
          <a:xfrm>
            <a:off x="762000" y="4476750"/>
            <a:ext cx="6096000" cy="1714500"/>
          </a:xfrm>
          <a:prstGeom prst="rect">
            <a:avLst/>
          </a:prstGeom>
          <a:noFill/>
        </p:spPr>
        <p:txBody>
          <a:bodyPr wrap="square" lIns="0" rIns="0" tIns="0" bIns="0">
            <a:spAutoFit/>
          </a:bodyPr>
          <a:lstStyle/>
          <a:p>
            <a:pPr algn="r" rtl="1"/>
            <a:r>
              <a:rPr sz="1200" b="0">
                <a:solidFill>
                  <a:srgbClr val="7A8796"/>
                </a:solidFill>
                <a:latin typeface="Segoe UI"/>
              </a:rPr>
              <a:t>تسجيل الدخول بنفس الحساب على الهدفين.</a:t>
            </a:r>
          </a:p>
          <a:p>
            <a:pPr algn="r" rtl="1"/>
            <a:r>
              <a:rPr sz="1200" b="0">
                <a:solidFill>
                  <a:srgbClr val="7A8796"/>
                </a:solidFill>
                <a:latin typeface="Segoe UI"/>
              </a:rPr>
              <a:t>جهاز حقيقي Xiaomi ومحاكي Android 16.</a:t>
            </a:r>
          </a:p>
          <a:p>
            <a:pPr algn="r" rtl="1"/>
            <a:r>
              <a:rPr sz="1200" b="0">
                <a:solidFill>
                  <a:srgbClr val="7A8796"/>
                </a:solidFill>
                <a:latin typeface="Segoe UI"/>
              </a:rPr>
              <a:t>نفس تغذية Hot Offers الحية ظهرت على الاثنين بدون تحديث يدوي.</a:t>
            </a:r>
          </a:p>
          <a:p>
            <a:pPr algn="r" rtl="1"/>
            <a:r>
              <a:rPr sz="1200" b="0">
                <a:solidFill>
                  <a:srgbClr val="7A8796"/>
                </a:solidFill>
                <a:latin typeface="Segoe UI"/>
              </a:rPr>
              <a:t>القراءات من نفس خلفية Cloud Firestore، فتعاكس الجلسة بين الجهازين.</a:t>
            </a:r>
          </a:p>
        </p:txBody>
      </p:sp>
      <p:pic>
        <p:nvPicPr>
          <p:cNvPr id="8" name="Picture 7" descr="12-cross-device-sync.png"/>
          <p:cNvPicPr>
            <a:picLocks noChangeAspect="1"/>
          </p:cNvPicPr>
          <p:nvPr/>
        </p:nvPicPr>
        <p:blipFill>
          <a:blip r:embed="rId2"/>
          <a:stretch>
            <a:fillRect/>
          </a:stretch>
        </p:blipFill>
        <p:spPr>
          <a:xfrm>
            <a:off x="7629525" y="1638300"/>
            <a:ext cx="3799746" cy="4381500"/>
          </a:xfrm>
          <a:prstGeom prst="rect">
            <a:avLst/>
          </a:prstGeom>
        </p:spPr>
      </p:pic>
      <p:sp>
        <p:nvSpPr>
          <p:cNvPr id="9" name="TextBox 8"/>
          <p:cNvSpPr txBox="1"/>
          <p:nvPr/>
        </p:nvSpPr>
        <p:spPr>
          <a:xfrm>
            <a:off x="7629525" y="6096000"/>
            <a:ext cx="3800475" cy="247650"/>
          </a:xfrm>
          <a:prstGeom prst="rect">
            <a:avLst/>
          </a:prstGeom>
          <a:noFill/>
        </p:spPr>
        <p:txBody>
          <a:bodyPr wrap="square" lIns="0" rIns="0" tIns="0" bIns="0">
            <a:spAutoFit/>
          </a:bodyPr>
          <a:lstStyle/>
          <a:p>
            <a:pPr algn="ctr"/>
            <a:r>
              <a:rPr sz="900" b="0">
                <a:solidFill>
                  <a:srgbClr val="9AA5B1"/>
                </a:solidFill>
                <a:latin typeface="Segoe UI"/>
              </a:rPr>
              <a:t>·  12-cross-device-sync.png  ·  captured over adb</a:t>
            </a:r>
          </a:p>
        </p:txBody>
      </p:sp>
      <p:sp>
        <p:nvSpPr>
          <p:cNvPr id="10" name="TextBox 9"/>
          <p:cNvSpPr txBox="1"/>
          <p:nvPr/>
        </p:nvSpPr>
        <p:spPr>
          <a:xfrm>
            <a:off x="762000" y="6515100"/>
            <a:ext cx="3810000" cy="209550"/>
          </a:xfrm>
          <a:prstGeom prst="rect">
            <a:avLst/>
          </a:prstGeom>
          <a:noFill/>
        </p:spPr>
        <p:txBody>
          <a:bodyPr wrap="square" lIns="0" rIns="0" tIns="0" bIns="0">
            <a:spAutoFit/>
          </a:bodyPr>
          <a:lstStyle/>
          <a:p>
            <a:pPr algn="l"/>
            <a:r>
              <a:rPr sz="1000" b="0">
                <a:solidFill>
                  <a:srgbClr val="9AA5B1"/>
                </a:solidFill>
                <a:latin typeface="Segoe UI"/>
              </a:rPr>
              <a:t>StreetBite · Capstone report · 13</a:t>
            </a:r>
          </a:p>
        </p:txBody>
      </p:sp>
      <p:sp>
        <p:nvSpPr>
          <p:cNvPr id="11" name="TextBox 10"/>
          <p:cNvSpPr txBox="1"/>
          <p:nvPr/>
        </p:nvSpPr>
        <p:spPr>
          <a:xfrm>
            <a:off x="5143500" y="6515100"/>
            <a:ext cx="6286500" cy="209550"/>
          </a:xfrm>
          <a:prstGeom prst="rect">
            <a:avLst/>
          </a:prstGeom>
          <a:noFill/>
        </p:spPr>
        <p:txBody>
          <a:bodyPr wrap="square" lIns="0" rIns="0" tIns="0" bIns="0">
            <a:spAutoFit/>
          </a:bodyPr>
          <a:lstStyle/>
          <a:p>
            <a:pPr algn="l"/>
            <a:r>
              <a:rPr sz="1000" b="0">
                <a:solidFill>
                  <a:srgbClr val="9AA5B1"/>
                </a:solidFill>
                <a:latin typeface="Segoe UI"/>
              </a:rPr>
              <a:t>adb capture · Cloud Firestore · one account, two targets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6F8FA"/>
        </a:solidFill>
        <a:effectLst/>
      </p:bgPr>
    </p:bg>
    <p:spTree>
      <p:nvGrpSpPr>
        <p:cNvPr id="1" name=""/>
        <p:cNvGrpSpPr/>
        <p:nvPr/>
      </p:nvGrpSpPr>
      <p:grpSpPr>
        <a:xfrm>
          <a:off x="0" y="0"/>
          <a:ext cx="0" cy="0"/>
          <a:chOff x="0" y="0"/>
          <a:chExt cx="0" cy="0"/>
        </a:xfrm>
      </p:grpSpPr>
      <p:sp>
        <p:nvSpPr>
          <p:cNvPr id="3" name="TextBox 3">
            <a:extLst>
              <a:ext uri="{FF2B5EF4-FFF2-40B4-BE49-F238E27FC236}">
                <a16:creationId xmlns:a16="http://schemas.microsoft.com/office/drawing/2014/main" id="{5FEB4B0C-5614-45BF-85C6-23B3F5109401}"/>
              </a:ext>
            </a:extLst>
          </p:cNvPr>
          <p:cNvSpPr txBox="1"/>
          <p:nvPr/>
        </p:nvSpPr>
        <p:spPr>
          <a:xfrm>
            <a:off x="762000" y="533400"/>
            <a:ext cx="5715000" cy="209550"/>
          </a:xfrm>
        </p:spPr>
        <p:txBody>
          <a:bodyPr wrap="square" rtlCol="0" lIns="0" tIns="0" rIns="0" bIns="0" anchor="t"/>
          <a:lstStyle/>
          <a:p>
            <a:pPr algn="l">
              <a:lnSpc>
                <a:spcPct val="110000"/>
              </a:lnSpc>
            </a:pPr>
            <a:r>
              <a:rPr sz="1100" b="1">
                <a:solidFill>
                  <a:srgbClr val="00C16A"/>
                </a:solidFill>
                <a:latin typeface="Segoe UI"/>
                <a:ea typeface="Segoe UI"/>
              </a:rPr>
              <a:t>13  ·  TESTING AND QUALITY</a:t>
            </a:r>
          </a:p>
        </p:txBody>
      </p:sp>
      <p:sp>
        <p:nvSpPr>
          <p:cNvPr id="4" name="TextBox 4">
            <a:extLst>
              <a:ext uri="{FF2B5EF4-FFF2-40B4-BE49-F238E27FC236}">
                <a16:creationId xmlns:a16="http://schemas.microsoft.com/office/drawing/2014/main" id="{1587B974-9F25-4DE6-9859-67D2621E33E1}"/>
              </a:ext>
            </a:extLst>
          </p:cNvPr>
          <p:cNvSpPr txBox="1"/>
          <p:nvPr/>
        </p:nvSpPr>
        <p:spPr>
          <a:xfrm>
            <a:off x="762000" y="781050"/>
            <a:ext cx="5905500" cy="533400"/>
          </a:xfrm>
        </p:spPr>
        <p:txBody>
          <a:bodyPr wrap="square" rtlCol="0" lIns="0" tIns="0" rIns="0" bIns="0" anchor="t"/>
          <a:lstStyle/>
          <a:p>
            <a:pPr algn="l">
              <a:lnSpc>
                <a:spcPct val="105000"/>
              </a:lnSpc>
            </a:pPr>
            <a:r>
              <a:rPr sz="3000" b="1">
                <a:solidFill>
                  <a:srgbClr val="12141A"/>
                </a:solidFill>
                <a:latin typeface="Segoe UI"/>
                <a:ea typeface="Segoe UI"/>
              </a:rPr>
              <a:t>Three layers of testing</a:t>
            </a:r>
          </a:p>
        </p:txBody>
      </p:sp>
      <p:sp>
        <p:nvSpPr>
          <p:cNvPr id="5" name="TextBox 5">
            <a:extLst>
              <a:ext uri="{FF2B5EF4-FFF2-40B4-BE49-F238E27FC236}">
                <a16:creationId xmlns:a16="http://schemas.microsoft.com/office/drawing/2014/main" id="{0CE4F51B-ECE4-4458-9859-BDB195818671}"/>
              </a:ext>
            </a:extLst>
          </p:cNvPr>
          <p:cNvSpPr txBox="1"/>
          <p:nvPr/>
        </p:nvSpPr>
        <p:spPr>
          <a:xfrm>
            <a:off x="7239000" y="857250"/>
            <a:ext cx="4191000" cy="419100"/>
          </a:xfrm>
        </p:spPr>
        <p:txBody>
          <a:bodyPr wrap="square" rtlCol="0" lIns="0" tIns="0" rIns="0" bIns="0" anchor="t"/>
          <a:lstStyle/>
          <a:p>
            <a:pPr algn="r">
              <a:lnSpc>
                <a:spcPct val="105000"/>
              </a:lnSpc>
            </a:pPr>
            <a:r>
              <a:rPr sz="2400" b="1">
                <a:solidFill>
                  <a:srgbClr val="5A6675"/>
                </a:solidFill>
                <a:latin typeface="Segoe UI"/>
                <a:ea typeface="Segoe UI"/>
              </a:rPr>
              <a:t>ثلاث طبقات من الاختبار</a:t>
            </a:r>
          </a:p>
        </p:txBody>
      </p:sp>
      <p:sp>
        <p:nvSpPr>
          <p:cNvPr id="6" name="Shape 6">
            <a:extLst>
              <a:ext uri="{FF2B5EF4-FFF2-40B4-BE49-F238E27FC236}">
                <a16:creationId xmlns:a16="http://schemas.microsoft.com/office/drawing/2014/main" id="{5E38EC55-E078-40D0-A446-148B8B52991B}"/>
              </a:ext>
            </a:extLst>
          </p:cNvPr>
          <p:cNvSpPr/>
          <p:nvPr/>
        </p:nvSpPr>
        <p:spPr>
          <a:xfrm>
            <a:off x="762000" y="1809750"/>
            <a:ext cx="2524125" cy="2381250"/>
          </a:xfrm>
          <a:prstGeom prst="roundRect">
            <a:avLst/>
          </a:prstGeom>
          <a:solidFill>
            <a:srgbClr val="FFFFFF"/>
          </a:solidFill>
          <a:ln w="12700">
            <a:solidFill>
              <a:srgbClr val="E4E9F0"/>
            </a:solidFill>
          </a:ln>
        </p:spPr>
        <p:txBody>
          <a:bodyPr wrap="square" rtlCol="0"/>
          <a:lstStyle/>
          <a:p>
            <a:r>
              <a:rPr/>
              <a:t/>
            </a:r>
          </a:p>
        </p:txBody>
      </p:sp>
      <p:sp>
        <p:nvSpPr>
          <p:cNvPr id="7" name="Shape 7">
            <a:extLst>
              <a:ext uri="{FF2B5EF4-FFF2-40B4-BE49-F238E27FC236}">
                <a16:creationId xmlns:a16="http://schemas.microsoft.com/office/drawing/2014/main" id="{4A1A9465-1370-43F1-94C1-3FB943CD3468}"/>
              </a:ext>
            </a:extLst>
          </p:cNvPr>
          <p:cNvSpPr/>
          <p:nvPr/>
        </p:nvSpPr>
        <p:spPr>
          <a:xfrm>
            <a:off x="3476625" y="1809750"/>
            <a:ext cx="2524125" cy="2381250"/>
          </a:xfrm>
          <a:prstGeom prst="roundRect">
            <a:avLst/>
          </a:prstGeom>
          <a:solidFill>
            <a:srgbClr val="FFFFFF"/>
          </a:solidFill>
          <a:ln w="12700">
            <a:solidFill>
              <a:srgbClr val="E4E9F0"/>
            </a:solidFill>
          </a:ln>
        </p:spPr>
        <p:txBody>
          <a:bodyPr wrap="square" rtlCol="0"/>
          <a:lstStyle/>
          <a:p>
            <a:r>
              <a:rPr/>
              <a:t/>
            </a:r>
          </a:p>
        </p:txBody>
      </p:sp>
      <p:sp>
        <p:nvSpPr>
          <p:cNvPr id="8" name="Shape 8">
            <a:extLst>
              <a:ext uri="{FF2B5EF4-FFF2-40B4-BE49-F238E27FC236}">
                <a16:creationId xmlns:a16="http://schemas.microsoft.com/office/drawing/2014/main" id="{3EDEE5FD-F449-49D2-A4D2-7396E0D0DC29}"/>
              </a:ext>
            </a:extLst>
          </p:cNvPr>
          <p:cNvSpPr/>
          <p:nvPr/>
        </p:nvSpPr>
        <p:spPr>
          <a:xfrm>
            <a:off x="6191250" y="1809750"/>
            <a:ext cx="2524125" cy="2381250"/>
          </a:xfrm>
          <a:prstGeom prst="roundRect">
            <a:avLst/>
          </a:prstGeom>
          <a:solidFill>
            <a:srgbClr val="FFFFFF"/>
          </a:solidFill>
          <a:ln w="12700">
            <a:solidFill>
              <a:srgbClr val="E4E9F0"/>
            </a:solidFill>
          </a:ln>
        </p:spPr>
        <p:txBody>
          <a:bodyPr wrap="square" rtlCol="0"/>
          <a:lstStyle/>
          <a:p>
            <a:r>
              <a:rPr/>
              <a:t/>
            </a:r>
          </a:p>
        </p:txBody>
      </p:sp>
      <p:sp>
        <p:nvSpPr>
          <p:cNvPr id="9" name="Shape 9">
            <a:extLst>
              <a:ext uri="{FF2B5EF4-FFF2-40B4-BE49-F238E27FC236}">
                <a16:creationId xmlns:a16="http://schemas.microsoft.com/office/drawing/2014/main" id="{0BD1C1EF-FF6E-4EB1-987A-1AA35EEFFAF3}"/>
              </a:ext>
            </a:extLst>
          </p:cNvPr>
          <p:cNvSpPr/>
          <p:nvPr/>
        </p:nvSpPr>
        <p:spPr>
          <a:xfrm>
            <a:off x="8905875" y="1809750"/>
            <a:ext cx="2524125" cy="2381250"/>
          </a:xfrm>
          <a:prstGeom prst="roundRect">
            <a:avLst/>
          </a:prstGeom>
          <a:solidFill>
            <a:srgbClr val="FFFFFF"/>
          </a:solidFill>
          <a:ln w="12700">
            <a:solidFill>
              <a:srgbClr val="E4E9F0"/>
            </a:solidFill>
          </a:ln>
        </p:spPr>
        <p:txBody>
          <a:bodyPr wrap="square" rtlCol="0"/>
          <a:lstStyle/>
          <a:p>
            <a:r>
              <a:rPr/>
              <a:t/>
            </a:r>
          </a:p>
        </p:txBody>
      </p:sp>
      <p:sp>
        <p:nvSpPr>
          <p:cNvPr id="10" name="TextBox 10">
            <a:extLst>
              <a:ext uri="{FF2B5EF4-FFF2-40B4-BE49-F238E27FC236}">
                <a16:creationId xmlns:a16="http://schemas.microsoft.com/office/drawing/2014/main" id="{A28A469D-5D1F-42A4-8DBE-5FB166FF0D83}"/>
              </a:ext>
            </a:extLst>
          </p:cNvPr>
          <p:cNvSpPr txBox="1"/>
          <p:nvPr/>
        </p:nvSpPr>
        <p:spPr>
          <a:xfrm>
            <a:off x="990600" y="2019300"/>
            <a:ext cx="2066925" cy="670560"/>
          </a:xfrm>
        </p:spPr>
        <p:txBody>
          <a:bodyPr wrap="square" rtlCol="0" lIns="0" tIns="0" rIns="0" bIns="0" anchor="t"/>
          <a:lstStyle/>
          <a:p>
            <a:pPr algn="l">
              <a:lnSpc>
                <a:spcPct val="100000"/>
              </a:lnSpc>
            </a:pPr>
            <a:r>
              <a:rPr sz="4400" b="1">
                <a:solidFill>
                  <a:srgbClr val="00C16A"/>
                </a:solidFill>
                <a:latin typeface="Segoe UI"/>
                <a:ea typeface="Segoe UI"/>
              </a:rPr>
              <a:t>99</a:t>
            </a:r>
          </a:p>
        </p:txBody>
      </p:sp>
      <p:sp>
        <p:nvSpPr>
          <p:cNvPr id="11" name="TextBox 11">
            <a:extLst>
              <a:ext uri="{FF2B5EF4-FFF2-40B4-BE49-F238E27FC236}">
                <a16:creationId xmlns:a16="http://schemas.microsoft.com/office/drawing/2014/main" id="{1F5E403B-6E52-41DD-B407-8162F91C3712}"/>
              </a:ext>
            </a:extLst>
          </p:cNvPr>
          <p:cNvSpPr txBox="1"/>
          <p:nvPr/>
        </p:nvSpPr>
        <p:spPr>
          <a:xfrm>
            <a:off x="3705225" y="2019300"/>
            <a:ext cx="2066925" cy="670560"/>
          </a:xfrm>
        </p:spPr>
        <p:txBody>
          <a:bodyPr wrap="square" rtlCol="0" lIns="0" tIns="0" rIns="0" bIns="0" anchor="t"/>
          <a:lstStyle/>
          <a:p>
            <a:pPr algn="l">
              <a:lnSpc>
                <a:spcPct val="100000"/>
              </a:lnSpc>
            </a:pPr>
            <a:r>
              <a:rPr sz="4400" b="1">
                <a:solidFill>
                  <a:srgbClr val="00C16A"/>
                </a:solidFill>
                <a:latin typeface="Segoe UI"/>
                <a:ea typeface="Segoe UI"/>
              </a:rPr>
              <a:t>6 / 6</a:t>
            </a:r>
          </a:p>
        </p:txBody>
      </p:sp>
      <p:sp>
        <p:nvSpPr>
          <p:cNvPr id="12" name="TextBox 12">
            <a:extLst>
              <a:ext uri="{FF2B5EF4-FFF2-40B4-BE49-F238E27FC236}">
                <a16:creationId xmlns:a16="http://schemas.microsoft.com/office/drawing/2014/main" id="{BDBF7012-736C-4EDC-B132-6891A918F1B2}"/>
              </a:ext>
            </a:extLst>
          </p:cNvPr>
          <p:cNvSpPr txBox="1"/>
          <p:nvPr/>
        </p:nvSpPr>
        <p:spPr>
          <a:xfrm>
            <a:off x="6419850" y="2019300"/>
            <a:ext cx="2066925" cy="670560"/>
          </a:xfrm>
        </p:spPr>
        <p:txBody>
          <a:bodyPr wrap="square" rtlCol="0" lIns="0" tIns="0" rIns="0" bIns="0" anchor="t"/>
          <a:lstStyle/>
          <a:p>
            <a:pPr algn="l">
              <a:lnSpc>
                <a:spcPct val="100000"/>
              </a:lnSpc>
            </a:pPr>
            <a:r>
              <a:rPr sz="4400" b="1">
                <a:solidFill>
                  <a:srgbClr val="00C16A"/>
                </a:solidFill>
                <a:latin typeface="Segoe UI"/>
                <a:ea typeface="Segoe UI"/>
              </a:rPr>
              <a:t>17 / 51</a:t>
            </a:r>
          </a:p>
        </p:txBody>
      </p:sp>
      <p:sp>
        <p:nvSpPr>
          <p:cNvPr id="13" name="TextBox 13">
            <a:extLst>
              <a:ext uri="{FF2B5EF4-FFF2-40B4-BE49-F238E27FC236}">
                <a16:creationId xmlns:a16="http://schemas.microsoft.com/office/drawing/2014/main" id="{FC32F959-EE18-4E58-8F79-34E82769539E}"/>
              </a:ext>
            </a:extLst>
          </p:cNvPr>
          <p:cNvSpPr txBox="1"/>
          <p:nvPr/>
        </p:nvSpPr>
        <p:spPr>
          <a:xfrm>
            <a:off x="9134475" y="2019300"/>
            <a:ext cx="2066925" cy="670560"/>
          </a:xfrm>
        </p:spPr>
        <p:txBody>
          <a:bodyPr wrap="square" rtlCol="0" lIns="0" tIns="0" rIns="0" bIns="0" anchor="t"/>
          <a:lstStyle/>
          <a:p>
            <a:pPr algn="l">
              <a:lnSpc>
                <a:spcPct val="100000"/>
              </a:lnSpc>
            </a:pPr>
            <a:r>
              <a:rPr sz="4400" b="1">
                <a:solidFill>
                  <a:srgbClr val="00C16A"/>
                </a:solidFill>
                <a:latin typeface="Segoe UI"/>
                <a:ea typeface="Segoe UI"/>
              </a:rPr>
              <a:t>0</a:t>
            </a:r>
          </a:p>
        </p:txBody>
      </p:sp>
      <p:sp>
        <p:nvSpPr>
          <p:cNvPr id="14" name="TextBox 14">
            <a:extLst>
              <a:ext uri="{FF2B5EF4-FFF2-40B4-BE49-F238E27FC236}">
                <a16:creationId xmlns:a16="http://schemas.microsoft.com/office/drawing/2014/main" id="{B34C99C5-0E30-4038-8061-B3092515C300}"/>
              </a:ext>
            </a:extLst>
          </p:cNvPr>
          <p:cNvSpPr txBox="1"/>
          <p:nvPr/>
        </p:nvSpPr>
        <p:spPr>
          <a:xfrm>
            <a:off x="990600" y="2781300"/>
            <a:ext cx="2066925" cy="228600"/>
          </a:xfrm>
        </p:spPr>
        <p:txBody>
          <a:bodyPr wrap="square" rtlCol="0" lIns="0" tIns="0" rIns="0" bIns="0" anchor="t"/>
          <a:lstStyle/>
          <a:p>
            <a:pPr algn="l">
              <a:lnSpc>
                <a:spcPct val="110000"/>
              </a:lnSpc>
            </a:pPr>
            <a:r>
              <a:rPr sz="1300" b="1">
                <a:solidFill>
                  <a:srgbClr val="12141A"/>
                </a:solidFill>
                <a:latin typeface="Segoe UI"/>
                <a:ea typeface="Segoe UI"/>
              </a:rPr>
              <a:t>Flutter tests pass</a:t>
            </a:r>
          </a:p>
        </p:txBody>
      </p:sp>
      <p:sp>
        <p:nvSpPr>
          <p:cNvPr id="15" name="TextBox 15">
            <a:extLst>
              <a:ext uri="{FF2B5EF4-FFF2-40B4-BE49-F238E27FC236}">
                <a16:creationId xmlns:a16="http://schemas.microsoft.com/office/drawing/2014/main" id="{8C930386-114A-4E80-A60E-0552BFE32448}"/>
              </a:ext>
            </a:extLst>
          </p:cNvPr>
          <p:cNvSpPr txBox="1"/>
          <p:nvPr/>
        </p:nvSpPr>
        <p:spPr>
          <a:xfrm>
            <a:off x="3705225" y="2781300"/>
            <a:ext cx="2066925" cy="228600"/>
          </a:xfrm>
        </p:spPr>
        <p:txBody>
          <a:bodyPr wrap="square" rtlCol="0" lIns="0" tIns="0" rIns="0" bIns="0" anchor="t"/>
          <a:lstStyle/>
          <a:p>
            <a:pPr algn="l">
              <a:lnSpc>
                <a:spcPct val="110000"/>
              </a:lnSpc>
            </a:pPr>
            <a:r>
              <a:rPr sz="1300" b="1">
                <a:solidFill>
                  <a:srgbClr val="12141A"/>
                </a:solidFill>
                <a:latin typeface="Segoe UI"/>
                <a:ea typeface="Segoe UI"/>
              </a:rPr>
              <a:t>Appium end-to-end</a:t>
            </a:r>
          </a:p>
        </p:txBody>
      </p:sp>
      <p:sp>
        <p:nvSpPr>
          <p:cNvPr id="16" name="TextBox 16">
            <a:extLst>
              <a:ext uri="{FF2B5EF4-FFF2-40B4-BE49-F238E27FC236}">
                <a16:creationId xmlns:a16="http://schemas.microsoft.com/office/drawing/2014/main" id="{EF4BD352-1330-40AA-8EAD-B8CF9C34D88D}"/>
              </a:ext>
            </a:extLst>
          </p:cNvPr>
          <p:cNvSpPr txBox="1"/>
          <p:nvPr/>
        </p:nvSpPr>
        <p:spPr>
          <a:xfrm>
            <a:off x="6419850" y="2781300"/>
            <a:ext cx="2066925" cy="228600"/>
          </a:xfrm>
        </p:spPr>
        <p:txBody>
          <a:bodyPr wrap="square" rtlCol="0" lIns="0" tIns="0" rIns="0" bIns="0" anchor="t"/>
          <a:lstStyle/>
          <a:p>
            <a:pPr algn="l">
              <a:lnSpc>
                <a:spcPct val="110000"/>
              </a:lnSpc>
            </a:pPr>
            <a:r>
              <a:rPr sz="1300" b="1">
                <a:solidFill>
                  <a:srgbClr val="12141A"/>
                </a:solidFill>
                <a:latin typeface="Segoe UI"/>
                <a:ea typeface="Segoe UI"/>
              </a:rPr>
              <a:t>Manual cases run</a:t>
            </a:r>
          </a:p>
        </p:txBody>
      </p:sp>
      <p:sp>
        <p:nvSpPr>
          <p:cNvPr id="17" name="TextBox 17">
            <a:extLst>
              <a:ext uri="{FF2B5EF4-FFF2-40B4-BE49-F238E27FC236}">
                <a16:creationId xmlns:a16="http://schemas.microsoft.com/office/drawing/2014/main" id="{B904D3C1-5304-4C6E-9F3F-AFD2E50E6A21}"/>
              </a:ext>
            </a:extLst>
          </p:cNvPr>
          <p:cNvSpPr txBox="1"/>
          <p:nvPr/>
        </p:nvSpPr>
        <p:spPr>
          <a:xfrm>
            <a:off x="9134475" y="2781300"/>
            <a:ext cx="2066925" cy="228600"/>
          </a:xfrm>
        </p:spPr>
        <p:txBody>
          <a:bodyPr wrap="square" rtlCol="0" lIns="0" tIns="0" rIns="0" bIns="0" anchor="t"/>
          <a:lstStyle/>
          <a:p>
            <a:pPr algn="l">
              <a:lnSpc>
                <a:spcPct val="110000"/>
              </a:lnSpc>
            </a:pPr>
            <a:r>
              <a:rPr sz="1300" b="1">
                <a:solidFill>
                  <a:srgbClr val="12141A"/>
                </a:solidFill>
                <a:latin typeface="Segoe UI"/>
                <a:ea typeface="Segoe UI"/>
              </a:rPr>
              <a:t>Analyzer findings</a:t>
            </a:r>
          </a:p>
        </p:txBody>
      </p:sp>
      <p:sp>
        <p:nvSpPr>
          <p:cNvPr id="18" name="TextBox 18">
            <a:extLst>
              <a:ext uri="{FF2B5EF4-FFF2-40B4-BE49-F238E27FC236}">
                <a16:creationId xmlns:a16="http://schemas.microsoft.com/office/drawing/2014/main" id="{25C93527-9162-472D-A542-0A9F9D6E7C5D}"/>
              </a:ext>
            </a:extLst>
          </p:cNvPr>
          <p:cNvSpPr txBox="1"/>
          <p:nvPr/>
        </p:nvSpPr>
        <p:spPr>
          <a:xfrm>
            <a:off x="990600" y="3067050"/>
            <a:ext cx="2066925" cy="578358"/>
          </a:xfrm>
        </p:spPr>
        <p:txBody>
          <a:bodyPr wrap="square" rtlCol="0" lIns="0" tIns="0" rIns="0" bIns="0" anchor="t"/>
          <a:lstStyle/>
          <a:p>
            <a:pPr algn="l">
              <a:lnSpc>
                <a:spcPct val="115000"/>
              </a:lnSpc>
            </a:pPr>
            <a:r>
              <a:rPr sz="1100">
                <a:solidFill>
                  <a:srgbClr val="5A6675"/>
                </a:solidFill>
                <a:latin typeface="Segoe UI"/>
                <a:ea typeface="Segoe UI"/>
              </a:rPr>
              <a:t>15 suites: cart use cases, order lifecycle, models, l10n and every screen.</a:t>
            </a:r>
          </a:p>
        </p:txBody>
      </p:sp>
      <p:sp>
        <p:nvSpPr>
          <p:cNvPr id="19" name="TextBox 19">
            <a:extLst>
              <a:ext uri="{FF2B5EF4-FFF2-40B4-BE49-F238E27FC236}">
                <a16:creationId xmlns:a16="http://schemas.microsoft.com/office/drawing/2014/main" id="{82E39776-F8E2-4C05-AD71-DC308388D659}"/>
              </a:ext>
            </a:extLst>
          </p:cNvPr>
          <p:cNvSpPr txBox="1"/>
          <p:nvPr/>
        </p:nvSpPr>
        <p:spPr>
          <a:xfrm>
            <a:off x="3705225" y="3067050"/>
            <a:ext cx="2066925" cy="578358"/>
          </a:xfrm>
        </p:spPr>
        <p:txBody>
          <a:bodyPr wrap="square" rtlCol="0" lIns="0" tIns="0" rIns="0" bIns="0" anchor="t"/>
          <a:lstStyle/>
          <a:p>
            <a:pPr algn="l">
              <a:lnSpc>
                <a:spcPct val="115000"/>
              </a:lnSpc>
            </a:pPr>
            <a:r>
              <a:rPr sz="1100">
                <a:solidFill>
                  <a:srgbClr val="5A6675"/>
                </a:solidFill>
                <a:latin typeface="Segoe UI"/>
                <a:ea typeface="Segoe UI"/>
              </a:rPr>
              <a:t>A physical handset on Android 16, driven by Semantics identifiers.</a:t>
            </a:r>
          </a:p>
        </p:txBody>
      </p:sp>
      <p:sp>
        <p:nvSpPr>
          <p:cNvPr id="20" name="TextBox 20">
            <a:extLst>
              <a:ext uri="{FF2B5EF4-FFF2-40B4-BE49-F238E27FC236}">
                <a16:creationId xmlns:a16="http://schemas.microsoft.com/office/drawing/2014/main" id="{8B2CD8EB-6523-49C8-9FD3-1D46D4FC170E}"/>
              </a:ext>
            </a:extLst>
          </p:cNvPr>
          <p:cNvSpPr txBox="1"/>
          <p:nvPr/>
        </p:nvSpPr>
        <p:spPr>
          <a:xfrm>
            <a:off x="6419850" y="3067050"/>
            <a:ext cx="2066925" cy="578358"/>
          </a:xfrm>
        </p:spPr>
        <p:txBody>
          <a:bodyPr wrap="square" rtlCol="0" lIns="0" tIns="0" rIns="0" bIns="0" anchor="t"/>
          <a:lstStyle/>
          <a:p>
            <a:pPr algn="l">
              <a:lnSpc>
                <a:spcPct val="115000"/>
              </a:lnSpc>
            </a:pPr>
            <a:r>
              <a:rPr sz="1100">
                <a:solidFill>
                  <a:srgbClr val="5A6675"/>
                </a:solidFill>
                <a:latin typeface="Segoe UI"/>
                <a:ea typeface="Segoe UI"/>
              </a:rPr>
              <a:t>Executed on device and passed; 34 recorded as blocked, not green.</a:t>
            </a:r>
          </a:p>
        </p:txBody>
      </p:sp>
      <p:sp>
        <p:nvSpPr>
          <p:cNvPr id="21" name="TextBox 21">
            <a:extLst>
              <a:ext uri="{FF2B5EF4-FFF2-40B4-BE49-F238E27FC236}">
                <a16:creationId xmlns:a16="http://schemas.microsoft.com/office/drawing/2014/main" id="{623E605F-E483-4BC0-830E-0EBD8367E75D}"/>
              </a:ext>
            </a:extLst>
          </p:cNvPr>
          <p:cNvSpPr txBox="1"/>
          <p:nvPr/>
        </p:nvSpPr>
        <p:spPr>
          <a:xfrm>
            <a:off x="9134475" y="3067050"/>
            <a:ext cx="2066925" cy="571500"/>
          </a:xfrm>
        </p:spPr>
        <p:txBody>
          <a:bodyPr wrap="square" rtlCol="0" lIns="0" tIns="0" rIns="0" bIns="0" anchor="t"/>
          <a:lstStyle/>
          <a:p>
            <a:pPr algn="l">
              <a:lnSpc>
                <a:spcPct val="115000"/>
              </a:lnSpc>
            </a:pPr>
            <a:r>
              <a:rPr sz="1100">
                <a:solidFill>
                  <a:srgbClr val="5A6675"/>
                </a:solidFill>
                <a:latin typeface="Segoe UI"/>
                <a:ea typeface="Segoe UI"/>
              </a:rPr>
              <a:t>flutter analyze clean and dart format applied across the repo.</a:t>
            </a:r>
          </a:p>
        </p:txBody>
      </p:sp>
      <p:sp>
        <p:nvSpPr>
          <p:cNvPr id="22" name="TextBox 22">
            <a:extLst>
              <a:ext uri="{FF2B5EF4-FFF2-40B4-BE49-F238E27FC236}">
                <a16:creationId xmlns:a16="http://schemas.microsoft.com/office/drawing/2014/main" id="{F4100326-47BD-4DB8-AB5C-B0028D6AA4CF}"/>
              </a:ext>
            </a:extLst>
          </p:cNvPr>
          <p:cNvSpPr txBox="1"/>
          <p:nvPr/>
        </p:nvSpPr>
        <p:spPr>
          <a:xfrm>
            <a:off x="990600" y="3733800"/>
            <a:ext cx="2066925" cy="285750"/>
          </a:xfrm>
        </p:spPr>
        <p:txBody>
          <a:bodyPr wrap="square" rtlCol="0" lIns="0" tIns="0" rIns="0" bIns="0" anchor="t"/>
          <a:lstStyle/>
          <a:p>
            <a:pPr algn="l">
              <a:lnSpc>
                <a:spcPct val="110000"/>
              </a:lnSpc>
            </a:pPr>
            <a:r>
              <a:rPr sz="1100">
                <a:solidFill>
                  <a:srgbClr val="7A8796"/>
                </a:solidFill>
                <a:latin typeface="Segoe UI"/>
                <a:ea typeface="Segoe UI"/>
              </a:rPr>
              <a:t>اختبارات وحدة وواجهة</a:t>
            </a:r>
          </a:p>
        </p:txBody>
      </p:sp>
      <p:sp>
        <p:nvSpPr>
          <p:cNvPr id="23" name="TextBox 23">
            <a:extLst>
              <a:ext uri="{FF2B5EF4-FFF2-40B4-BE49-F238E27FC236}">
                <a16:creationId xmlns:a16="http://schemas.microsoft.com/office/drawing/2014/main" id="{FF5AD69D-850B-4193-A9A6-C316530020B6}"/>
              </a:ext>
            </a:extLst>
          </p:cNvPr>
          <p:cNvSpPr txBox="1"/>
          <p:nvPr/>
        </p:nvSpPr>
        <p:spPr>
          <a:xfrm>
            <a:off x="3705225" y="3733800"/>
            <a:ext cx="2066925" cy="285750"/>
          </a:xfrm>
        </p:spPr>
        <p:txBody>
          <a:bodyPr wrap="square" rtlCol="0" lIns="0" tIns="0" rIns="0" bIns="0" anchor="t"/>
          <a:lstStyle/>
          <a:p>
            <a:pPr algn="l">
              <a:lnSpc>
                <a:spcPct val="110000"/>
              </a:lnSpc>
            </a:pPr>
            <a:r>
              <a:rPr sz="1100">
                <a:solidFill>
                  <a:srgbClr val="7A6675"/>
                </a:solidFill>
                <a:latin typeface="Segoe UI"/>
                <a:ea typeface="Segoe UI"/>
              </a:rPr>
              <a:t>اختبارات آلية على الهاتف</a:t>
            </a:r>
          </a:p>
        </p:txBody>
      </p:sp>
      <p:sp>
        <p:nvSpPr>
          <p:cNvPr id="24" name="TextBox 24">
            <a:extLst>
              <a:ext uri="{FF2B5EF4-FFF2-40B4-BE49-F238E27FC236}">
                <a16:creationId xmlns:a16="http://schemas.microsoft.com/office/drawing/2014/main" id="{CCA9F4D9-C1FE-4888-AE55-A7173A031543}"/>
              </a:ext>
            </a:extLst>
          </p:cNvPr>
          <p:cNvSpPr txBox="1"/>
          <p:nvPr/>
        </p:nvSpPr>
        <p:spPr>
          <a:xfrm>
            <a:off x="6419850" y="3733800"/>
            <a:ext cx="2066925" cy="285750"/>
          </a:xfrm>
        </p:spPr>
        <p:txBody>
          <a:bodyPr wrap="square" rtlCol="0" lIns="0" tIns="0" rIns="0" bIns="0" anchor="t"/>
          <a:lstStyle/>
          <a:p>
            <a:pPr algn="l">
              <a:lnSpc>
                <a:spcPct val="110000"/>
              </a:lnSpc>
            </a:pPr>
            <a:r>
              <a:rPr sz="1100">
                <a:solidFill>
                  <a:srgbClr val="7A8796"/>
                </a:solidFill>
                <a:latin typeface="Segoe UI"/>
                <a:ea typeface="Segoe UI"/>
              </a:rPr>
              <a:t>حالات اختبار يدوية</a:t>
            </a:r>
          </a:p>
        </p:txBody>
      </p:sp>
      <p:sp>
        <p:nvSpPr>
          <p:cNvPr id="25" name="TextBox 25">
            <a:extLst>
              <a:ext uri="{FF2B5EF4-FFF2-40B4-BE49-F238E27FC236}">
                <a16:creationId xmlns:a16="http://schemas.microsoft.com/office/drawing/2014/main" id="{13BD503C-E6B9-4958-8612-B71507476EE0}"/>
              </a:ext>
            </a:extLst>
          </p:cNvPr>
          <p:cNvSpPr txBox="1"/>
          <p:nvPr/>
        </p:nvSpPr>
        <p:spPr>
          <a:xfrm>
            <a:off x="9134475" y="3733800"/>
            <a:ext cx="2066925" cy="285750"/>
          </a:xfrm>
        </p:spPr>
        <p:txBody>
          <a:bodyPr wrap="square" rtlCol="0" lIns="0" tIns="0" rIns="0" bIns="0" anchor="t"/>
          <a:lstStyle/>
          <a:p>
            <a:pPr algn="l">
              <a:lnSpc>
                <a:spcPct val="110000"/>
              </a:lnSpc>
            </a:pPr>
            <a:r>
              <a:rPr sz="1100">
                <a:solidFill>
                  <a:srgbClr val="7A8796"/>
                </a:solidFill>
                <a:latin typeface="Segoe UI"/>
                <a:ea typeface="Segoe UI"/>
              </a:rPr>
              <a:t>لا ملاحظات من المحلّل</a:t>
            </a:r>
          </a:p>
        </p:txBody>
      </p:sp>
      <p:sp>
        <p:nvSpPr>
          <p:cNvPr id="26" name="Shape 26">
            <a:extLst>
              <a:ext uri="{FF2B5EF4-FFF2-40B4-BE49-F238E27FC236}">
                <a16:creationId xmlns:a16="http://schemas.microsoft.com/office/drawing/2014/main" id="{E8B38514-7E10-445C-98DB-106765AC4685}"/>
              </a:ext>
            </a:extLst>
          </p:cNvPr>
          <p:cNvSpPr/>
          <p:nvPr/>
        </p:nvSpPr>
        <p:spPr>
          <a:xfrm>
            <a:off x="762000" y="4572000"/>
            <a:ext cx="10668000" cy="1524000"/>
          </a:xfrm>
          <a:prstGeom prst="roundRect">
            <a:avLst/>
          </a:prstGeom>
          <a:solidFill>
            <a:srgbClr val="E6F8F0"/>
          </a:solidFill>
          <a:ln w="12700">
            <a:solidFill>
              <a:srgbClr val="BFEBD8"/>
            </a:solidFill>
          </a:ln>
        </p:spPr>
        <p:txBody>
          <a:bodyPr wrap="square" rtlCol="0"/>
          <a:lstStyle/>
          <a:p>
            <a:r>
              <a:rPr/>
              <a:t/>
            </a:r>
          </a:p>
        </p:txBody>
      </p:sp>
      <p:sp>
        <p:nvSpPr>
          <p:cNvPr id="27" name="TextBox 27">
            <a:extLst>
              <a:ext uri="{FF2B5EF4-FFF2-40B4-BE49-F238E27FC236}">
                <a16:creationId xmlns:a16="http://schemas.microsoft.com/office/drawing/2014/main" id="{9E3B541A-52F3-45BC-AEFA-4522D2FE78F1}"/>
              </a:ext>
            </a:extLst>
          </p:cNvPr>
          <p:cNvSpPr txBox="1"/>
          <p:nvPr/>
        </p:nvSpPr>
        <p:spPr>
          <a:xfrm>
            <a:off x="990600" y="4781550"/>
            <a:ext cx="6096000" cy="247650"/>
          </a:xfrm>
        </p:spPr>
        <p:txBody>
          <a:bodyPr wrap="square" rtlCol="0" lIns="0" tIns="0" rIns="0" bIns="0" anchor="t"/>
          <a:lstStyle/>
          <a:p>
            <a:pPr algn="l">
              <a:lnSpc>
                <a:spcPct val="110000"/>
              </a:lnSpc>
            </a:pPr>
            <a:r>
              <a:rPr sz="1400" b="1">
                <a:solidFill>
                  <a:srgbClr val="00A85A"/>
                </a:solidFill>
                <a:latin typeface="Segoe UI"/>
                <a:ea typeface="Segoe UI"/>
              </a:rPr>
              <a:t>Nothing is marked passed on the strength of having written it</a:t>
            </a:r>
          </a:p>
        </p:txBody>
      </p:sp>
      <p:sp>
        <p:nvSpPr>
          <p:cNvPr id="28" name="TextBox 28">
            <a:extLst>
              <a:ext uri="{FF2B5EF4-FFF2-40B4-BE49-F238E27FC236}">
                <a16:creationId xmlns:a16="http://schemas.microsoft.com/office/drawing/2014/main" id="{5DD73116-BB51-4D11-B09D-DDF40D39E285}"/>
              </a:ext>
            </a:extLst>
          </p:cNvPr>
          <p:cNvSpPr txBox="1"/>
          <p:nvPr/>
        </p:nvSpPr>
        <p:spPr>
          <a:xfrm>
            <a:off x="7239000" y="4781550"/>
            <a:ext cx="3962400" cy="266700"/>
          </a:xfrm>
        </p:spPr>
        <p:txBody>
          <a:bodyPr wrap="square" rtlCol="0" lIns="0" tIns="0" rIns="0" bIns="0" anchor="t"/>
          <a:lstStyle/>
          <a:p>
            <a:pPr algn="r">
              <a:lnSpc>
                <a:spcPct val="110000"/>
              </a:lnSpc>
            </a:pPr>
            <a:r>
              <a:rPr sz="1300" b="1">
                <a:solidFill>
                  <a:srgbClr val="00A85A"/>
                </a:solidFill>
                <a:latin typeface="Segoe UI"/>
                <a:ea typeface="Segoe UI"/>
              </a:rPr>
              <a:t>لا تُعلَّم أي حالة كناجحة لمجرد أننا كتبناها</a:t>
            </a:r>
          </a:p>
        </p:txBody>
      </p:sp>
      <p:sp>
        <p:nvSpPr>
          <p:cNvPr id="29" name="TextBox 29">
            <a:extLst>
              <a:ext uri="{FF2B5EF4-FFF2-40B4-BE49-F238E27FC236}">
                <a16:creationId xmlns:a16="http://schemas.microsoft.com/office/drawing/2014/main" id="{323B2DB5-1D9C-46F4-A2AE-762004BD41AA}"/>
              </a:ext>
            </a:extLst>
          </p:cNvPr>
          <p:cNvSpPr txBox="1"/>
          <p:nvPr/>
        </p:nvSpPr>
        <p:spPr>
          <a:xfrm>
            <a:off x="990600" y="5143500"/>
            <a:ext cx="6096000" cy="658368"/>
          </a:xfrm>
        </p:spPr>
        <p:txBody>
          <a:bodyPr wrap="square" rtlCol="0" lIns="0" tIns="0" rIns="0" bIns="0" anchor="t"/>
          <a:lstStyle/>
          <a:p>
            <a:pPr algn="l">
              <a:lnSpc>
                <a:spcPct val="120000"/>
              </a:lnSpc>
            </a:pPr>
            <a:r>
              <a:rPr sz="1200">
                <a:solidFill>
                  <a:srgbClr val="12141A"/>
                </a:solidFill>
                <a:latin typeface="Segoe UI"/>
                <a:ea typeface="Segoe UI"/>
              </a:rPr>
              <a:t>A case counts as executed only when the release APK was installed on the handset and the behaviour was observed. The 34 remaining cases stay marked blocked rather than assumed green — an honest 17/51 is worth more than a fabricated 51/51.</a:t>
            </a:r>
          </a:p>
        </p:txBody>
      </p:sp>
      <p:sp>
        <p:nvSpPr>
          <p:cNvPr id="30" name="TextBox 30">
            <a:extLst>
              <a:ext uri="{FF2B5EF4-FFF2-40B4-BE49-F238E27FC236}">
                <a16:creationId xmlns:a16="http://schemas.microsoft.com/office/drawing/2014/main" id="{9BEA7BDB-D8C9-46F2-8537-F010E2BBE748}"/>
              </a:ext>
            </a:extLst>
          </p:cNvPr>
          <p:cNvSpPr txBox="1"/>
          <p:nvPr/>
        </p:nvSpPr>
        <p:spPr>
          <a:xfrm>
            <a:off x="7239000" y="5143500"/>
            <a:ext cx="3962400" cy="877824"/>
          </a:xfrm>
        </p:spPr>
        <p:txBody>
          <a:bodyPr wrap="square" rtlCol="0" lIns="0" tIns="0" rIns="0" bIns="0" anchor="t"/>
          <a:lstStyle/>
          <a:p>
            <a:pPr algn="r">
              <a:lnSpc>
                <a:spcPct val="120000"/>
              </a:lnSpc>
            </a:pPr>
            <a:r>
              <a:rPr sz="1200">
                <a:solidFill>
                  <a:srgbClr val="5A6675"/>
                </a:solidFill>
                <a:latin typeface="Segoe UI"/>
                <a:ea typeface="Segoe UI"/>
              </a:rPr>
              <a:t>تُعدّ الحالة منفّذة فقط حين تُثبَّت نسخة الإنتاج على الهاتف وتُلاحَظ السلوك فعليًا. أما الحالات الأربعة والثلاثون الباقية فتبقى محجوبة بدل أن تُفترض ناجحة.</a:t>
            </a:r>
          </a:p>
        </p:txBody>
      </p:sp>
      <p:sp>
        <p:nvSpPr>
          <p:cNvPr id="31" name="TextBox 31">
            <a:extLst>
              <a:ext uri="{FF2B5EF4-FFF2-40B4-BE49-F238E27FC236}">
                <a16:creationId xmlns:a16="http://schemas.microsoft.com/office/drawing/2014/main" id="{51997CE3-7396-414F-A487-332F344F1A4F}"/>
              </a:ext>
            </a:extLst>
          </p:cNvPr>
          <p:cNvSpPr txBox="1"/>
          <p:nvPr/>
        </p:nvSpPr>
        <p:spPr>
          <a:xfrm>
            <a:off x="762000" y="6515100"/>
            <a:ext cx="3810000" cy="209550"/>
          </a:xfrm>
        </p:spPr>
        <p:txBody>
          <a:bodyPr wrap="square" rtlCol="0" lIns="0" tIns="0" rIns="0" bIns="0" anchor="t"/>
          <a:lstStyle/>
          <a:p>
            <a:pPr algn="l">
              <a:lnSpc>
                <a:spcPct val="110000"/>
              </a:lnSpc>
            </a:pPr>
            <a:r>
              <a:rPr sz="1000">
                <a:solidFill>
                  <a:srgbClr val="9AA5B1"/>
                </a:solidFill>
                <a:latin typeface="Segoe UI"/>
                <a:ea typeface="Segoe UI"/>
              </a:rPr>
              <a:t>StreetBite · Capstone report · 14</a:t>
            </a:r>
          </a:p>
        </p:txBody>
      </p:sp>
      <p:sp>
        <p:nvSpPr>
          <p:cNvPr id="32" name="TextBox 32">
            <a:extLst>
              <a:ext uri="{FF2B5EF4-FFF2-40B4-BE49-F238E27FC236}">
                <a16:creationId xmlns:a16="http://schemas.microsoft.com/office/drawing/2014/main" id="{8274445B-E342-42C8-8778-51CD45C4C098}"/>
              </a:ext>
            </a:extLst>
          </p:cNvPr>
          <p:cNvSpPr txBox="1"/>
          <p:nvPr/>
        </p:nvSpPr>
        <p:spPr>
          <a:xfrm>
            <a:off x="5143500" y="6515100"/>
            <a:ext cx="6286500" cy="209550"/>
          </a:xfrm>
        </p:spPr>
        <p:txBody>
          <a:bodyPr wrap="square" rtlCol="0" lIns="0" tIns="0" rIns="0" bIns="0" anchor="t"/>
          <a:lstStyle/>
          <a:p>
            <a:pPr algn="r">
              <a:lnSpc>
                <a:spcPct val="110000"/>
              </a:lnSpc>
            </a:pPr>
            <a:r>
              <a:rPr sz="1000">
                <a:solidFill>
                  <a:srgbClr val="9AA5B1"/>
                </a:solidFill>
                <a:latin typeface="Segoe UI"/>
                <a:ea typeface="Segoe UI"/>
              </a:rPr>
              <a:t>flutter test · mvn test · manual_qa/TestPlan_and_TestCases.xlsx</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6F8FA"/>
        </a:solidFill>
        <a:effectLst/>
      </p:bgPr>
    </p:bg>
    <p:spTree>
      <p:nvGrpSpPr>
        <p:cNvPr id="1" name=""/>
        <p:cNvGrpSpPr/>
        <p:nvPr/>
      </p:nvGrpSpPr>
      <p:grpSpPr>
        <a:xfrm>
          <a:off x="0" y="0"/>
          <a:ext cx="0" cy="0"/>
          <a:chOff x="0" y="0"/>
          <a:chExt cx="0" cy="0"/>
        </a:xfrm>
      </p:grpSpPr>
      <p:sp>
        <p:nvSpPr>
          <p:cNvPr id="3" name="TextBox 3">
            <a:extLst>
              <a:ext uri="{FF2B5EF4-FFF2-40B4-BE49-F238E27FC236}">
                <a16:creationId xmlns:a16="http://schemas.microsoft.com/office/drawing/2014/main" id="{A17BB517-F931-43B2-953F-AA2E81553BBF}"/>
              </a:ext>
            </a:extLst>
          </p:cNvPr>
          <p:cNvSpPr txBox="1"/>
          <p:nvPr/>
        </p:nvSpPr>
        <p:spPr>
          <a:xfrm>
            <a:off x="762000" y="533400"/>
            <a:ext cx="5715000" cy="209550"/>
          </a:xfrm>
        </p:spPr>
        <p:txBody>
          <a:bodyPr wrap="square" rtlCol="0" lIns="0" tIns="0" rIns="0" bIns="0" anchor="t"/>
          <a:lstStyle/>
          <a:p>
            <a:pPr>
              <a:lnSpc>
                <a:spcPct val="110000"/>
              </a:lnSpc>
            </a:pPr>
            <a:r>
              <a:rPr sz="1100" b="1">
                <a:solidFill>
                  <a:srgbClr val="00C16A"/>
                </a:solidFill>
                <a:latin typeface="Segoe UI"/>
                <a:ea typeface="Segoe UI"/>
              </a:rPr>
              <a:t>14  ·  DEFECTS AND CLOSURE</a:t>
            </a:r>
          </a:p>
        </p:txBody>
      </p:sp>
      <p:sp>
        <p:nvSpPr>
          <p:cNvPr id="4" name="TextBox 4">
            <a:extLst>
              <a:ext uri="{FF2B5EF4-FFF2-40B4-BE49-F238E27FC236}">
                <a16:creationId xmlns:a16="http://schemas.microsoft.com/office/drawing/2014/main" id="{01A62F92-6166-48C8-BAAC-1F17F8054A50}"/>
              </a:ext>
            </a:extLst>
          </p:cNvPr>
          <p:cNvSpPr txBox="1"/>
          <p:nvPr/>
        </p:nvSpPr>
        <p:spPr>
          <a:xfrm>
            <a:off x="762000" y="781050"/>
            <a:ext cx="5905500" cy="533400"/>
          </a:xfrm>
        </p:spPr>
        <p:txBody>
          <a:bodyPr wrap="square" rtlCol="0" lIns="0" tIns="0" rIns="0" bIns="0" anchor="t"/>
          <a:lstStyle/>
          <a:p>
            <a:pPr>
              <a:lnSpc>
                <a:spcPct val="105000"/>
              </a:lnSpc>
            </a:pPr>
            <a:r>
              <a:rPr sz="3000" b="1">
                <a:solidFill>
                  <a:srgbClr val="12141A"/>
                </a:solidFill>
                <a:latin typeface="Segoe UI"/>
                <a:ea typeface="Segoe UI"/>
              </a:rPr>
              <a:t>Fourteen defects</a:t>
            </a:r>
          </a:p>
        </p:txBody>
      </p:sp>
      <p:sp>
        <p:nvSpPr>
          <p:cNvPr id="5" name="TextBox 5">
            <a:extLst>
              <a:ext uri="{FF2B5EF4-FFF2-40B4-BE49-F238E27FC236}">
                <a16:creationId xmlns:a16="http://schemas.microsoft.com/office/drawing/2014/main" id="{AC91DA67-1E7B-40F5-9AC5-790C48900349}"/>
              </a:ext>
            </a:extLst>
          </p:cNvPr>
          <p:cNvSpPr txBox="1"/>
          <p:nvPr/>
        </p:nvSpPr>
        <p:spPr>
          <a:xfrm>
            <a:off x="7239000" y="857250"/>
            <a:ext cx="4191000" cy="419100"/>
          </a:xfrm>
        </p:spPr>
        <p:txBody>
          <a:bodyPr wrap="square" rtlCol="0" lIns="0" tIns="0" rIns="0" bIns="0" anchor="t"/>
          <a:lstStyle/>
          <a:p>
            <a:pPr algn="r">
              <a:lnSpc>
                <a:spcPct val="105000"/>
              </a:lnSpc>
            </a:pPr>
            <a:r>
              <a:rPr sz="2400" b="1">
                <a:solidFill>
                  <a:srgbClr val="5A6675"/>
                </a:solidFill>
                <a:latin typeface="Segoe UI"/>
                <a:ea typeface="Segoe UI"/>
              </a:rPr>
              <a:t>أربعة عشر عيبًا</a:t>
            </a:r>
          </a:p>
        </p:txBody>
      </p:sp>
      <p:sp>
        <p:nvSpPr>
          <p:cNvPr id="6" name="Shape 6">
            <a:extLst>
              <a:ext uri="{FF2B5EF4-FFF2-40B4-BE49-F238E27FC236}">
                <a16:creationId xmlns:a16="http://schemas.microsoft.com/office/drawing/2014/main" id="{03CD6CEF-0ACC-4EFF-8B1C-7F4CC18801F4}"/>
              </a:ext>
            </a:extLst>
          </p:cNvPr>
          <p:cNvSpPr/>
          <p:nvPr/>
        </p:nvSpPr>
        <p:spPr>
          <a:xfrm>
            <a:off x="762000" y="1714500"/>
            <a:ext cx="3429000" cy="1619250"/>
          </a:xfrm>
          <a:prstGeom prst="roundRect">
            <a:avLst/>
          </a:prstGeom>
          <a:solidFill>
            <a:srgbClr val="FFFFFF"/>
          </a:solidFill>
          <a:ln w="12700">
            <a:solidFill>
              <a:srgbClr val="E4E9F0"/>
            </a:solidFill>
          </a:ln>
        </p:spPr>
        <p:txBody>
          <a:bodyPr wrap="square" rtlCol="0"/>
          <a:lstStyle/>
          <a:p>
            <a:r>
              <a:rPr/>
              <a:t/>
            </a:r>
          </a:p>
        </p:txBody>
      </p:sp>
      <p:sp>
        <p:nvSpPr>
          <p:cNvPr id="7" name="Shape 7">
            <a:extLst>
              <a:ext uri="{FF2B5EF4-FFF2-40B4-BE49-F238E27FC236}">
                <a16:creationId xmlns:a16="http://schemas.microsoft.com/office/drawing/2014/main" id="{22CB1E62-6C08-451A-A95D-17D617266229}"/>
              </a:ext>
            </a:extLst>
          </p:cNvPr>
          <p:cNvSpPr/>
          <p:nvPr/>
        </p:nvSpPr>
        <p:spPr>
          <a:xfrm>
            <a:off x="4381500" y="1714500"/>
            <a:ext cx="3429000" cy="1619250"/>
          </a:xfrm>
          <a:prstGeom prst="roundRect">
            <a:avLst/>
          </a:prstGeom>
          <a:solidFill>
            <a:srgbClr val="FFFFFF"/>
          </a:solidFill>
          <a:ln w="12700">
            <a:solidFill>
              <a:srgbClr val="E4E9F0"/>
            </a:solidFill>
          </a:ln>
        </p:spPr>
        <p:txBody>
          <a:bodyPr wrap="square" rtlCol="0"/>
          <a:lstStyle/>
          <a:p>
            <a:r>
              <a:rPr/>
              <a:t/>
            </a:r>
          </a:p>
        </p:txBody>
      </p:sp>
      <p:sp>
        <p:nvSpPr>
          <p:cNvPr id="8" name="Shape 8">
            <a:extLst>
              <a:ext uri="{FF2B5EF4-FFF2-40B4-BE49-F238E27FC236}">
                <a16:creationId xmlns:a16="http://schemas.microsoft.com/office/drawing/2014/main" id="{43B8A714-E172-4328-AA35-A1FC7E2E738A}"/>
              </a:ext>
            </a:extLst>
          </p:cNvPr>
          <p:cNvSpPr/>
          <p:nvPr/>
        </p:nvSpPr>
        <p:spPr>
          <a:xfrm>
            <a:off x="8001000" y="1714500"/>
            <a:ext cx="3429000" cy="1619250"/>
          </a:xfrm>
          <a:prstGeom prst="roundRect">
            <a:avLst/>
          </a:prstGeom>
          <a:solidFill>
            <a:srgbClr val="FFFFFF"/>
          </a:solidFill>
          <a:ln w="12700">
            <a:solidFill>
              <a:srgbClr val="FFD9DB"/>
            </a:solidFill>
          </a:ln>
        </p:spPr>
        <p:txBody>
          <a:bodyPr wrap="square" rtlCol="0"/>
          <a:lstStyle/>
          <a:p>
            <a:r>
              <a:rPr/>
              <a:t/>
            </a:r>
          </a:p>
        </p:txBody>
      </p:sp>
      <p:sp>
        <p:nvSpPr>
          <p:cNvPr id="9" name="TextBox 9">
            <a:extLst>
              <a:ext uri="{FF2B5EF4-FFF2-40B4-BE49-F238E27FC236}">
                <a16:creationId xmlns:a16="http://schemas.microsoft.com/office/drawing/2014/main" id="{82909700-D306-48EC-8F79-BBED2BD36C65}"/>
              </a:ext>
            </a:extLst>
          </p:cNvPr>
          <p:cNvSpPr txBox="1"/>
          <p:nvPr/>
        </p:nvSpPr>
        <p:spPr>
          <a:xfrm>
            <a:off x="990600" y="1905000"/>
            <a:ext cx="2971800" cy="548640"/>
          </a:xfrm>
        </p:spPr>
        <p:txBody>
          <a:bodyPr wrap="square" rtlCol="0" lIns="0" tIns="0" rIns="0" bIns="0" anchor="t"/>
          <a:lstStyle/>
          <a:p>
            <a:pPr>
              <a:lnSpc>
                <a:spcPct val="100000"/>
              </a:lnSpc>
            </a:pPr>
            <a:r>
              <a:rPr sz="3600" b="1">
                <a:solidFill>
                  <a:srgbClr val="00C16A"/>
                </a:solidFill>
                <a:latin typeface="Segoe UI"/>
                <a:ea typeface="Segoe UI"/>
              </a:rPr>
              <a:t>14</a:t>
            </a:r>
          </a:p>
        </p:txBody>
      </p:sp>
      <p:sp>
        <p:nvSpPr>
          <p:cNvPr id="10" name="TextBox 10">
            <a:extLst>
              <a:ext uri="{FF2B5EF4-FFF2-40B4-BE49-F238E27FC236}">
                <a16:creationId xmlns:a16="http://schemas.microsoft.com/office/drawing/2014/main" id="{D091CA2D-9829-4BB1-8B8B-8F16416E0BA0}"/>
              </a:ext>
            </a:extLst>
          </p:cNvPr>
          <p:cNvSpPr txBox="1"/>
          <p:nvPr/>
        </p:nvSpPr>
        <p:spPr>
          <a:xfrm>
            <a:off x="4610100" y="1905000"/>
            <a:ext cx="2971800" cy="548640"/>
          </a:xfrm>
        </p:spPr>
        <p:txBody>
          <a:bodyPr wrap="square" rtlCol="0" lIns="0" tIns="0" rIns="0" bIns="0" anchor="t"/>
          <a:lstStyle/>
          <a:p>
            <a:pPr>
              <a:lnSpc>
                <a:spcPct val="100000"/>
              </a:lnSpc>
            </a:pPr>
            <a:r>
              <a:rPr sz="3600" b="1">
                <a:solidFill>
                  <a:srgbClr val="00C16A"/>
                </a:solidFill>
                <a:latin typeface="Segoe UI"/>
                <a:ea typeface="Segoe UI"/>
              </a:rPr>
              <a:t>13</a:t>
            </a:r>
          </a:p>
        </p:txBody>
      </p:sp>
      <p:sp>
        <p:nvSpPr>
          <p:cNvPr id="11" name="TextBox 11">
            <a:extLst>
              <a:ext uri="{FF2B5EF4-FFF2-40B4-BE49-F238E27FC236}">
                <a16:creationId xmlns:a16="http://schemas.microsoft.com/office/drawing/2014/main" id="{61539EE8-DF14-4220-8F1A-706A450E9A16}"/>
              </a:ext>
            </a:extLst>
          </p:cNvPr>
          <p:cNvSpPr txBox="1"/>
          <p:nvPr/>
        </p:nvSpPr>
        <p:spPr>
          <a:xfrm>
            <a:off x="8229600" y="1905000"/>
            <a:ext cx="2971800" cy="548640"/>
          </a:xfrm>
        </p:spPr>
        <p:txBody>
          <a:bodyPr wrap="square" rtlCol="0" lIns="0" tIns="0" rIns="0" bIns="0" anchor="t"/>
          <a:lstStyle/>
          <a:p>
            <a:pPr>
              <a:lnSpc>
                <a:spcPct val="100000"/>
              </a:lnSpc>
            </a:pPr>
            <a:r>
              <a:rPr sz="3600" b="1">
                <a:solidFill>
                  <a:srgbClr val="FF5A5F"/>
                </a:solidFill>
                <a:latin typeface="Segoe UI"/>
                <a:ea typeface="Segoe UI"/>
              </a:rPr>
              <a:t>1</a:t>
            </a:r>
          </a:p>
        </p:txBody>
      </p:sp>
      <p:sp>
        <p:nvSpPr>
          <p:cNvPr id="12" name="TextBox 12">
            <a:extLst>
              <a:ext uri="{FF2B5EF4-FFF2-40B4-BE49-F238E27FC236}">
                <a16:creationId xmlns:a16="http://schemas.microsoft.com/office/drawing/2014/main" id="{2F81106B-CD3E-4506-AC55-17C1A01F34EB}"/>
              </a:ext>
            </a:extLst>
          </p:cNvPr>
          <p:cNvSpPr txBox="1"/>
          <p:nvPr/>
        </p:nvSpPr>
        <p:spPr>
          <a:xfrm>
            <a:off x="990600" y="2495550"/>
            <a:ext cx="2971800" cy="228600"/>
          </a:xfrm>
        </p:spPr>
        <p:txBody>
          <a:bodyPr wrap="square" rtlCol="0" lIns="0" tIns="0" rIns="0" bIns="0" anchor="t"/>
          <a:lstStyle/>
          <a:p>
            <a:pPr>
              <a:lnSpc>
                <a:spcPct val="110000"/>
              </a:lnSpc>
            </a:pPr>
            <a:r>
              <a:rPr sz="1300" b="1">
                <a:solidFill>
                  <a:srgbClr val="12141A"/>
                </a:solidFill>
                <a:latin typeface="Segoe UI"/>
                <a:ea typeface="Segoe UI"/>
              </a:rPr>
              <a:t>Raised on the Jira board</a:t>
            </a:r>
          </a:p>
        </p:txBody>
      </p:sp>
      <p:sp>
        <p:nvSpPr>
          <p:cNvPr id="13" name="TextBox 13">
            <a:extLst>
              <a:ext uri="{FF2B5EF4-FFF2-40B4-BE49-F238E27FC236}">
                <a16:creationId xmlns:a16="http://schemas.microsoft.com/office/drawing/2014/main" id="{27FFAFB8-C671-4B60-AB12-C0A84E00B52D}"/>
              </a:ext>
            </a:extLst>
          </p:cNvPr>
          <p:cNvSpPr txBox="1"/>
          <p:nvPr/>
        </p:nvSpPr>
        <p:spPr>
          <a:xfrm>
            <a:off x="4610100" y="2495550"/>
            <a:ext cx="2971800" cy="228600"/>
          </a:xfrm>
        </p:spPr>
        <p:txBody>
          <a:bodyPr wrap="square" rtlCol="0" lIns="0" tIns="0" rIns="0" bIns="0" anchor="t"/>
          <a:lstStyle/>
          <a:p>
            <a:pPr>
              <a:lnSpc>
                <a:spcPct val="110000"/>
              </a:lnSpc>
            </a:pPr>
            <a:r>
              <a:rPr sz="1300" b="1">
                <a:solidFill>
                  <a:srgbClr val="12141A"/>
                </a:solidFill>
                <a:latin typeface="Segoe UI"/>
                <a:ea typeface="Segoe UI"/>
              </a:rPr>
              <a:t>Fixed and re-verified</a:t>
            </a:r>
          </a:p>
        </p:txBody>
      </p:sp>
      <p:sp>
        <p:nvSpPr>
          <p:cNvPr id="14" name="TextBox 14">
            <a:extLst>
              <a:ext uri="{FF2B5EF4-FFF2-40B4-BE49-F238E27FC236}">
                <a16:creationId xmlns:a16="http://schemas.microsoft.com/office/drawing/2014/main" id="{2EA92BFE-B8BF-4F7B-97E9-305F0F2E464C}"/>
              </a:ext>
            </a:extLst>
          </p:cNvPr>
          <p:cNvSpPr txBox="1"/>
          <p:nvPr/>
        </p:nvSpPr>
        <p:spPr>
          <a:xfrm>
            <a:off x="8229600" y="2495550"/>
            <a:ext cx="2971800" cy="228600"/>
          </a:xfrm>
        </p:spPr>
        <p:txBody>
          <a:bodyPr wrap="square" rtlCol="0" lIns="0" tIns="0" rIns="0" bIns="0" anchor="t"/>
          <a:lstStyle/>
          <a:p>
            <a:pPr>
              <a:lnSpc>
                <a:spcPct val="110000"/>
              </a:lnSpc>
            </a:pPr>
            <a:r>
              <a:rPr sz="1300" b="1">
                <a:solidFill>
                  <a:srgbClr val="FF5A5F"/>
                </a:solidFill>
                <a:latin typeface="Segoe UI"/>
                <a:ea typeface="Segoe UI"/>
              </a:rPr>
              <a:t>Still open</a:t>
            </a:r>
          </a:p>
        </p:txBody>
      </p:sp>
      <p:sp>
        <p:nvSpPr>
          <p:cNvPr id="15" name="TextBox 15">
            <a:extLst>
              <a:ext uri="{FF2B5EF4-FFF2-40B4-BE49-F238E27FC236}">
                <a16:creationId xmlns:a16="http://schemas.microsoft.com/office/drawing/2014/main" id="{D79A5A04-0B80-4B08-9304-3718648B4A3D}"/>
              </a:ext>
            </a:extLst>
          </p:cNvPr>
          <p:cNvSpPr txBox="1"/>
          <p:nvPr/>
        </p:nvSpPr>
        <p:spPr>
          <a:xfrm>
            <a:off x="990600" y="2781300"/>
            <a:ext cx="2971800" cy="476250"/>
          </a:xfrm>
        </p:spPr>
        <p:txBody>
          <a:bodyPr wrap="square" rtlCol="0" lIns="0" tIns="0" rIns="0" bIns="0" anchor="t"/>
          <a:lstStyle/>
          <a:p>
            <a:pPr>
              <a:lnSpc>
                <a:spcPct val="115000"/>
              </a:lnSpc>
            </a:pPr>
            <a:r>
              <a:rPr sz="1100">
                <a:solidFill>
                  <a:srgbClr val="5A6675"/>
                </a:solidFill>
                <a:latin typeface="Segoe UI"/>
                <a:ea typeface="Segoe UI"/>
              </a:rPr>
              <a:t>SB-106 through SB-119, each one traced to the case that exposed it.</a:t>
            </a:r>
          </a:p>
        </p:txBody>
      </p:sp>
      <p:sp>
        <p:nvSpPr>
          <p:cNvPr id="16" name="TextBox 16">
            <a:extLst>
              <a:ext uri="{FF2B5EF4-FFF2-40B4-BE49-F238E27FC236}">
                <a16:creationId xmlns:a16="http://schemas.microsoft.com/office/drawing/2014/main" id="{B9CA13F7-13F6-4CAF-8F59-8A1347308802}"/>
              </a:ext>
            </a:extLst>
          </p:cNvPr>
          <p:cNvSpPr txBox="1"/>
          <p:nvPr/>
        </p:nvSpPr>
        <p:spPr>
          <a:xfrm>
            <a:off x="4610100" y="2781300"/>
            <a:ext cx="2971800" cy="476250"/>
          </a:xfrm>
        </p:spPr>
        <p:txBody>
          <a:bodyPr wrap="square" rtlCol="0" lIns="0" tIns="0" rIns="0" bIns="0" anchor="t"/>
          <a:lstStyle/>
          <a:p>
            <a:pPr>
              <a:lnSpc>
                <a:spcPct val="115000"/>
              </a:lnSpc>
            </a:pPr>
            <a:r>
              <a:rPr sz="1100">
                <a:solidFill>
                  <a:srgbClr val="5A6675"/>
                </a:solidFill>
                <a:latin typeface="Segoe UI"/>
                <a:ea typeface="Segoe UI"/>
              </a:rPr>
              <a:t>Every fix was re-run on the handset, not assumed from the diff.</a:t>
            </a:r>
          </a:p>
        </p:txBody>
      </p:sp>
      <p:sp>
        <p:nvSpPr>
          <p:cNvPr id="17" name="TextBox 17">
            <a:extLst>
              <a:ext uri="{FF2B5EF4-FFF2-40B4-BE49-F238E27FC236}">
                <a16:creationId xmlns:a16="http://schemas.microsoft.com/office/drawing/2014/main" id="{8E7FBE63-BF36-455C-9CAB-12F89A64F9A6}"/>
              </a:ext>
            </a:extLst>
          </p:cNvPr>
          <p:cNvSpPr txBox="1"/>
          <p:nvPr/>
        </p:nvSpPr>
        <p:spPr>
          <a:xfrm>
            <a:off x="8229600" y="2781300"/>
            <a:ext cx="2971800" cy="476250"/>
          </a:xfrm>
        </p:spPr>
        <p:txBody>
          <a:bodyPr wrap="square" rtlCol="0" lIns="0" tIns="0" rIns="0" bIns="0" anchor="t"/>
          <a:lstStyle/>
          <a:p>
            <a:pPr>
              <a:lnSpc>
                <a:spcPct val="115000"/>
              </a:lnSpc>
            </a:pPr>
            <a:r>
              <a:rPr sz="1100">
                <a:solidFill>
                  <a:srgbClr val="5A6675"/>
                </a:solidFill>
                <a:latin typeface="Segoe UI"/>
                <a:ea typeface="Segoe UI"/>
              </a:rPr>
              <a:t>SB-119 — the Google Maps key. A credential, not a code defect.</a:t>
            </a:r>
          </a:p>
        </p:txBody>
      </p:sp>
      <p:sp>
        <p:nvSpPr>
          <p:cNvPr id="18" name="TextBox 18">
            <a:extLst>
              <a:ext uri="{FF2B5EF4-FFF2-40B4-BE49-F238E27FC236}">
                <a16:creationId xmlns:a16="http://schemas.microsoft.com/office/drawing/2014/main" id="{8A02535A-8F83-4087-8D8D-2E62D1F0F35F}"/>
              </a:ext>
            </a:extLst>
          </p:cNvPr>
          <p:cNvSpPr txBox="1"/>
          <p:nvPr/>
        </p:nvSpPr>
        <p:spPr>
          <a:xfrm>
            <a:off x="990600" y="3276600"/>
            <a:ext cx="2971800" cy="266700"/>
          </a:xfrm>
        </p:spPr>
        <p:txBody>
          <a:bodyPr wrap="square" rtlCol="0" lIns="0" tIns="0" rIns="0" bIns="0" anchor="t"/>
          <a:lstStyle/>
          <a:p>
            <a:pPr>
              <a:lnSpc>
                <a:spcPct val="110000"/>
              </a:lnSpc>
            </a:pPr>
            <a:r>
              <a:rPr sz="1100">
                <a:solidFill>
                  <a:srgbClr val="7A8796"/>
                </a:solidFill>
                <a:latin typeface="Segoe UI"/>
                <a:ea typeface="Segoe UI"/>
              </a:rPr>
              <a:t>على لوحة Jira</a:t>
            </a:r>
          </a:p>
        </p:txBody>
      </p:sp>
      <p:sp>
        <p:nvSpPr>
          <p:cNvPr id="19" name="TextBox 19">
            <a:extLst>
              <a:ext uri="{FF2B5EF4-FFF2-40B4-BE49-F238E27FC236}">
                <a16:creationId xmlns:a16="http://schemas.microsoft.com/office/drawing/2014/main" id="{3B33CB8D-E593-4C01-B392-D19D5D6A4776}"/>
              </a:ext>
            </a:extLst>
          </p:cNvPr>
          <p:cNvSpPr txBox="1"/>
          <p:nvPr/>
        </p:nvSpPr>
        <p:spPr>
          <a:xfrm>
            <a:off x="4610100" y="3276600"/>
            <a:ext cx="2971800" cy="266700"/>
          </a:xfrm>
        </p:spPr>
        <p:txBody>
          <a:bodyPr wrap="square" rtlCol="0" lIns="0" tIns="0" rIns="0" bIns="0" anchor="t"/>
          <a:lstStyle/>
          <a:p>
            <a:pPr>
              <a:lnSpc>
                <a:spcPct val="110000"/>
              </a:lnSpc>
            </a:pPr>
            <a:r>
              <a:rPr sz="1100">
                <a:solidFill>
                  <a:srgbClr val="7A8796"/>
                </a:solidFill>
                <a:latin typeface="Segoe UI"/>
                <a:ea typeface="Segoe UI"/>
              </a:rPr>
              <a:t>أُصلحت وأُعيد اختبارها</a:t>
            </a:r>
          </a:p>
        </p:txBody>
      </p:sp>
      <p:sp>
        <p:nvSpPr>
          <p:cNvPr id="20" name="TextBox 20">
            <a:extLst>
              <a:ext uri="{FF2B5EF4-FFF2-40B4-BE49-F238E27FC236}">
                <a16:creationId xmlns:a16="http://schemas.microsoft.com/office/drawing/2014/main" id="{0D3364B2-CDE8-45F4-B6A5-C5BD02DEAA96}"/>
              </a:ext>
            </a:extLst>
          </p:cNvPr>
          <p:cNvSpPr txBox="1"/>
          <p:nvPr/>
        </p:nvSpPr>
        <p:spPr>
          <a:xfrm>
            <a:off x="8229600" y="3276600"/>
            <a:ext cx="2971800" cy="266700"/>
          </a:xfrm>
        </p:spPr>
        <p:txBody>
          <a:bodyPr wrap="square" rtlCol="0" lIns="0" tIns="0" rIns="0" bIns="0" anchor="t"/>
          <a:lstStyle/>
          <a:p>
            <a:pPr>
              <a:lnSpc>
                <a:spcPct val="110000"/>
              </a:lnSpc>
            </a:pPr>
            <a:r>
              <a:rPr sz="1100">
                <a:solidFill>
                  <a:srgbClr val="7A8796"/>
                </a:solidFill>
                <a:latin typeface="Segoe UI"/>
                <a:ea typeface="Segoe UI"/>
              </a:rPr>
              <a:t>ما زال مفتوحًا</a:t>
            </a:r>
          </a:p>
        </p:txBody>
      </p:sp>
      <p:sp>
        <p:nvSpPr>
          <p:cNvPr id="21" name="Shape 21">
            <a:extLst>
              <a:ext uri="{FF2B5EF4-FFF2-40B4-BE49-F238E27FC236}">
                <a16:creationId xmlns:a16="http://schemas.microsoft.com/office/drawing/2014/main" id="{CB49EA48-0B09-4A84-B978-EFA8FF0135CA}"/>
              </a:ext>
            </a:extLst>
          </p:cNvPr>
          <p:cNvSpPr/>
          <p:nvPr/>
        </p:nvSpPr>
        <p:spPr>
          <a:xfrm>
            <a:off x="762000" y="3619500"/>
            <a:ext cx="10668000" cy="1809750"/>
          </a:xfrm>
          <a:prstGeom prst="roundRect">
            <a:avLst/>
          </a:prstGeom>
          <a:solidFill>
            <a:srgbClr val="FFFFFF"/>
          </a:solidFill>
          <a:ln w="12700">
            <a:solidFill>
              <a:srgbClr val="E4E9F0"/>
            </a:solidFill>
          </a:ln>
        </p:spPr>
        <p:txBody>
          <a:bodyPr wrap="square" rtlCol="0"/>
          <a:lstStyle/>
          <a:p>
            <a:r>
              <a:rPr/>
              <a:t/>
            </a:r>
          </a:p>
        </p:txBody>
      </p:sp>
      <p:sp>
        <p:nvSpPr>
          <p:cNvPr id="22" name="TextBox 22">
            <a:extLst>
              <a:ext uri="{FF2B5EF4-FFF2-40B4-BE49-F238E27FC236}">
                <a16:creationId xmlns:a16="http://schemas.microsoft.com/office/drawing/2014/main" id="{6910CAF7-3E76-4E42-81D2-834D4D650118}"/>
              </a:ext>
            </a:extLst>
          </p:cNvPr>
          <p:cNvSpPr txBox="1"/>
          <p:nvPr/>
        </p:nvSpPr>
        <p:spPr>
          <a:xfrm>
            <a:off x="990600" y="3810000"/>
            <a:ext cx="6096000" cy="247650"/>
          </a:xfrm>
        </p:spPr>
        <p:txBody>
          <a:bodyPr wrap="square" rtlCol="0" lIns="0" tIns="0" rIns="0" bIns="0" anchor="t"/>
          <a:lstStyle/>
          <a:p>
            <a:pPr>
              <a:lnSpc>
                <a:spcPct val="110000"/>
              </a:lnSpc>
            </a:pPr>
            <a:r>
              <a:rPr sz="1400" b="1">
                <a:solidFill>
                  <a:srgbClr val="12141A"/>
                </a:solidFill>
                <a:latin typeface="Segoe UI"/>
                <a:ea typeface="Segoe UI"/>
              </a:rPr>
              <a:t>None of the fourteen was visible to static analysis</a:t>
            </a:r>
          </a:p>
        </p:txBody>
      </p:sp>
      <p:sp>
        <p:nvSpPr>
          <p:cNvPr id="23" name="TextBox 23">
            <a:extLst>
              <a:ext uri="{FF2B5EF4-FFF2-40B4-BE49-F238E27FC236}">
                <a16:creationId xmlns:a16="http://schemas.microsoft.com/office/drawing/2014/main" id="{836117F7-5A0D-442B-8495-FCA80F043F67}"/>
              </a:ext>
            </a:extLst>
          </p:cNvPr>
          <p:cNvSpPr txBox="1"/>
          <p:nvPr/>
        </p:nvSpPr>
        <p:spPr>
          <a:xfrm>
            <a:off x="7239000" y="3829050"/>
            <a:ext cx="3962400" cy="247650"/>
          </a:xfrm>
        </p:spPr>
        <p:txBody>
          <a:bodyPr wrap="square" rtlCol="0" lIns="0" tIns="0" rIns="0" bIns="0" anchor="t"/>
          <a:lstStyle/>
          <a:p>
            <a:pPr algn="r">
              <a:lnSpc>
                <a:spcPct val="110000"/>
              </a:lnSpc>
            </a:pPr>
            <a:r>
              <a:rPr sz="1300" b="1">
                <a:solidFill>
                  <a:srgbClr val="5A6675"/>
                </a:solidFill>
                <a:latin typeface="Segoe UI"/>
                <a:ea typeface="Segoe UI"/>
              </a:rPr>
              <a:t>لم يظهر أيٌّ منها عبر التحليل الساكن</a:t>
            </a:r>
          </a:p>
        </p:txBody>
      </p:sp>
      <p:sp>
        <p:nvSpPr>
          <p:cNvPr id="24" name="TextBox 24">
            <a:extLst>
              <a:ext uri="{FF2B5EF4-FFF2-40B4-BE49-F238E27FC236}">
                <a16:creationId xmlns:a16="http://schemas.microsoft.com/office/drawing/2014/main" id="{F1478427-3CEE-421C-AB88-8045996BD871}"/>
              </a:ext>
            </a:extLst>
          </p:cNvPr>
          <p:cNvSpPr txBox="1"/>
          <p:nvPr/>
        </p:nvSpPr>
        <p:spPr>
          <a:xfrm>
            <a:off x="990600" y="4133850"/>
            <a:ext cx="10210800" cy="1028700"/>
          </a:xfrm>
        </p:spPr>
        <p:txBody>
          <a:bodyPr wrap="square" rtlCol="0" lIns="0" tIns="0" rIns="0" bIns="0" anchor="t"/>
          <a:lstStyle/>
          <a:p>
            <a:pPr>
              <a:lnSpc>
                <a:spcPct val="125000"/>
              </a:lnSpc>
            </a:pPr>
            <a:r>
              <a:rPr sz="1100">
                <a:solidFill>
                  <a:srgbClr val="5A6675"/>
                </a:solidFill>
                <a:latin typeface="Segoe UI"/>
                <a:ea typeface="Segoe UI"/>
              </a:rPr>
              <a:t>SB-106 – SB-109 · first device run — DI resolution order, a concrete-type lookup, the seed account, a missing toggle</a:t>
            </a:r>
            <a:br/>
            <a:r>
              <a:rPr sz="1100">
                <a:solidFill>
                  <a:srgbClr val="5A6675"/>
                </a:solidFill>
                <a:latin typeface="Segoe UI"/>
                <a:ea typeface="Segoe UI"/>
              </a:rPr>
              <a:t>SB-110 – SB-113 · Appium — a permanent sign-in, a pre-filled password, merged card semantics, a null driver</a:t>
            </a:r>
            <a:br/>
            <a:r>
              <a:rPr sz="1100">
                <a:solidFill>
                  <a:srgbClr val="5A6675"/>
                </a:solidFill>
                <a:latin typeface="Segoe UI"/>
                <a:ea typeface="Segoe UI"/>
              </a:rPr>
              <a:t>SB-114 – SB-118 · device round — Firestore rules, a session-destroying seed, a zombie session, an unreachable gate, a re-querying profile</a:t>
            </a:r>
          </a:p>
        </p:txBody>
      </p:sp>
      <p:sp>
        <p:nvSpPr>
          <p:cNvPr id="25" name="TextBox 25">
            <a:extLst>
              <a:ext uri="{FF2B5EF4-FFF2-40B4-BE49-F238E27FC236}">
                <a16:creationId xmlns:a16="http://schemas.microsoft.com/office/drawing/2014/main" id="{B7188EA5-CD32-4F5B-B497-191F69C9E360}"/>
              </a:ext>
            </a:extLst>
          </p:cNvPr>
          <p:cNvSpPr txBox="1"/>
          <p:nvPr/>
        </p:nvSpPr>
        <p:spPr>
          <a:xfrm>
            <a:off x="990600" y="5200650"/>
            <a:ext cx="10210800" cy="247650"/>
          </a:xfrm>
        </p:spPr>
        <p:txBody>
          <a:bodyPr wrap="square" rtlCol="0" lIns="0" tIns="0" rIns="0" bIns="0" anchor="t"/>
          <a:lstStyle/>
          <a:p>
            <a:pPr algn="r">
              <a:lnSpc>
                <a:spcPct val="115000"/>
              </a:lnSpc>
            </a:pPr>
            <a:r>
              <a:rPr sz="1100">
                <a:solidFill>
                  <a:srgbClr val="7A8796"/>
                </a:solidFill>
                <a:latin typeface="Segoe UI"/>
                <a:ea typeface="Segoe UI"/>
              </a:rPr>
              <a:t>flutter analyze و flutter test بقيا خضراوين طوال الوقت: هذا هو بالضبط مبرّر الجولة على الجهاز والجولة الآلية</a:t>
            </a:r>
          </a:p>
        </p:txBody>
      </p:sp>
      <p:sp>
        <p:nvSpPr>
          <p:cNvPr id="26" name="Shape 26">
            <a:extLst>
              <a:ext uri="{FF2B5EF4-FFF2-40B4-BE49-F238E27FC236}">
                <a16:creationId xmlns:a16="http://schemas.microsoft.com/office/drawing/2014/main" id="{8FFBD96C-DAF4-479F-9952-A0C589C8A7CF}"/>
              </a:ext>
            </a:extLst>
          </p:cNvPr>
          <p:cNvSpPr/>
          <p:nvPr/>
        </p:nvSpPr>
        <p:spPr>
          <a:xfrm>
            <a:off x="762000" y="5638800"/>
            <a:ext cx="10668000" cy="685800"/>
          </a:xfrm>
          <a:prstGeom prst="roundRect">
            <a:avLst/>
          </a:prstGeom>
          <a:solidFill>
            <a:srgbClr val="FFF3F3"/>
          </a:solidFill>
          <a:ln w="12700">
            <a:solidFill>
              <a:srgbClr val="FFD9DB"/>
            </a:solidFill>
          </a:ln>
        </p:spPr>
        <p:txBody>
          <a:bodyPr wrap="square" rtlCol="0"/>
          <a:lstStyle/>
          <a:p>
            <a:r>
              <a:rPr/>
              <a:t/>
            </a:r>
          </a:p>
        </p:txBody>
      </p:sp>
      <p:sp>
        <p:nvSpPr>
          <p:cNvPr id="27" name="TextBox 27">
            <a:extLst>
              <a:ext uri="{FF2B5EF4-FFF2-40B4-BE49-F238E27FC236}">
                <a16:creationId xmlns:a16="http://schemas.microsoft.com/office/drawing/2014/main" id="{9127BC52-A4F0-422B-AAAA-955BF9E42850}"/>
              </a:ext>
            </a:extLst>
          </p:cNvPr>
          <p:cNvSpPr txBox="1"/>
          <p:nvPr/>
        </p:nvSpPr>
        <p:spPr>
          <a:xfrm>
            <a:off x="990600" y="5753100"/>
            <a:ext cx="10210800" cy="495300"/>
          </a:xfrm>
        </p:spPr>
        <p:txBody>
          <a:bodyPr wrap="square" rtlCol="0" lIns="0" tIns="0" rIns="0" bIns="0" anchor="t"/>
          <a:lstStyle/>
          <a:p>
            <a:pPr>
              <a:lnSpc>
                <a:spcPct val="115000"/>
              </a:lnSpc>
            </a:pPr>
            <a:r>
              <a:rPr sz="1100">
                <a:solidFill>
                  <a:srgbClr val="12141A"/>
                </a:solidFill>
                <a:latin typeface="Segoe UI"/>
                <a:ea typeface="Segoe UI"/>
              </a:rPr>
              <a:t>SB-119: the Maps SDK answers </a:t>
            </a:r>
            <a:r>
              <a:rPr sz="1000">
                <a:solidFill>
                  <a:srgbClr val="12141A"/>
                </a:solidFill>
                <a:latin typeface="Consolas"/>
                <a:ea typeface="Consolas"/>
              </a:rPr>
              <a:t>StatusCode=INVALID_ARGUMENT</a:t>
            </a:r>
            <a:r>
              <a:rPr sz="1100">
                <a:solidFill>
                  <a:srgbClr val="12141A"/>
                </a:solidFill>
                <a:latin typeface="Segoe UI"/>
                <a:ea typeface="Segoe UI"/>
              </a:rPr>
              <a:t>. The app now degrades to a readable error view with Retry instead of hanging, but tiles need a valid key in android/key.properties or Maps SDK for Android enabled in Cloud Console.</a:t>
            </a:r>
          </a:p>
        </p:txBody>
      </p:sp>
      <p:sp>
        <p:nvSpPr>
          <p:cNvPr id="28" name="TextBox 28">
            <a:extLst>
              <a:ext uri="{FF2B5EF4-FFF2-40B4-BE49-F238E27FC236}">
                <a16:creationId xmlns:a16="http://schemas.microsoft.com/office/drawing/2014/main" id="{264E011B-0983-4CD4-8FAC-6B330B66469B}"/>
              </a:ext>
            </a:extLst>
          </p:cNvPr>
          <p:cNvSpPr txBox="1"/>
          <p:nvPr/>
        </p:nvSpPr>
        <p:spPr>
          <a:xfrm>
            <a:off x="762000" y="6515100"/>
            <a:ext cx="3810000" cy="209550"/>
          </a:xfrm>
        </p:spPr>
        <p:txBody>
          <a:bodyPr wrap="square" rtlCol="0" lIns="0" tIns="0" rIns="0" bIns="0" anchor="t"/>
          <a:lstStyle/>
          <a:p>
            <a:pPr>
              <a:lnSpc>
                <a:spcPct val="110000"/>
              </a:lnSpc>
            </a:pPr>
            <a:r>
              <a:rPr sz="1000">
                <a:solidFill>
                  <a:srgbClr val="9AA5B1"/>
                </a:solidFill>
                <a:latin typeface="Segoe UI"/>
                <a:ea typeface="Segoe UI"/>
              </a:rPr>
              <a:t>StreetBite · Capstone report · 15</a:t>
            </a:r>
          </a:p>
        </p:txBody>
      </p:sp>
      <p:sp>
        <p:nvSpPr>
          <p:cNvPr id="29" name="TextBox 29">
            <a:extLst>
              <a:ext uri="{FF2B5EF4-FFF2-40B4-BE49-F238E27FC236}">
                <a16:creationId xmlns:a16="http://schemas.microsoft.com/office/drawing/2014/main" id="{7B53C1B4-AD11-47E0-8BB4-75B84ABDAA62}"/>
              </a:ext>
            </a:extLst>
          </p:cNvPr>
          <p:cNvSpPr txBox="1"/>
          <p:nvPr/>
        </p:nvSpPr>
        <p:spPr>
          <a:xfrm>
            <a:off x="5143500" y="6515100"/>
            <a:ext cx="6286500" cy="209550"/>
          </a:xfrm>
        </p:spPr>
        <p:txBody>
          <a:bodyPr wrap="square" rtlCol="0" lIns="0" tIns="0" rIns="0" bIns="0" anchor="t"/>
          <a:lstStyle/>
          <a:p>
            <a:pPr algn="r">
              <a:lnSpc>
                <a:spcPct val="110000"/>
              </a:lnSpc>
            </a:pPr>
            <a:r>
              <a:rPr sz="1000">
                <a:solidFill>
                  <a:srgbClr val="9AA5B1"/>
                </a:solidFill>
                <a:latin typeface="Segoe UI"/>
                <a:ea typeface="Segoe UI"/>
              </a:rPr>
              <a:t>Defect log: manual_qa workbook + the Jira board</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80D18"/>
        </a:solidFill>
        <a:effectLst/>
      </p:bgPr>
    </p:bg>
    <p:spTree>
      <p:nvGrpSpPr>
        <p:cNvPr id="1" name=""/>
        <p:cNvGrpSpPr/>
        <p:nvPr/>
      </p:nvGrpSpPr>
      <p:grpSpPr>
        <a:xfrm>
          <a:off x="0" y="0"/>
          <a:ext cx="0" cy="0"/>
          <a:chOff x="0" y="0"/>
          <a:chExt cx="0" cy="0"/>
        </a:xfrm>
      </p:grpSpPr>
      <p:sp>
        <p:nvSpPr>
          <p:cNvPr id="3" name="TextBox 3">
            <a:extLst>
              <a:ext uri="{FF2B5EF4-FFF2-40B4-BE49-F238E27FC236}">
                <a16:creationId xmlns:a16="http://schemas.microsoft.com/office/drawing/2014/main" id="{8422A27D-B0D7-4CFD-816C-D3808B82BD43}"/>
              </a:ext>
            </a:extLst>
          </p:cNvPr>
          <p:cNvSpPr txBox="1"/>
          <p:nvPr/>
        </p:nvSpPr>
        <p:spPr>
          <a:xfrm>
            <a:off x="762000" y="533400"/>
            <a:ext cx="5715000" cy="209550"/>
          </a:xfrm>
        </p:spPr>
        <p:txBody>
          <a:bodyPr wrap="square" rtlCol="0" lIns="0" tIns="0" rIns="0" bIns="0" anchor="t"/>
          <a:lstStyle/>
          <a:p>
            <a:pPr>
              <a:lnSpc>
                <a:spcPct val="110000"/>
              </a:lnSpc>
            </a:pPr>
            <a:r>
              <a:rPr sz="1100" b="1">
                <a:solidFill>
                  <a:srgbClr val="00C16A"/>
                </a:solidFill>
                <a:latin typeface="Segoe UI"/>
                <a:ea typeface="Segoe UI"/>
              </a:rPr>
              <a:t>15  ·  CLOSING</a:t>
            </a:r>
          </a:p>
        </p:txBody>
      </p:sp>
      <p:sp>
        <p:nvSpPr>
          <p:cNvPr id="4" name="TextBox 4">
            <a:extLst>
              <a:ext uri="{FF2B5EF4-FFF2-40B4-BE49-F238E27FC236}">
                <a16:creationId xmlns:a16="http://schemas.microsoft.com/office/drawing/2014/main" id="{196060F4-D181-4711-AD0C-501CE037D81D}"/>
              </a:ext>
            </a:extLst>
          </p:cNvPr>
          <p:cNvSpPr txBox="1"/>
          <p:nvPr/>
        </p:nvSpPr>
        <p:spPr>
          <a:xfrm>
            <a:off x="762000" y="781050"/>
            <a:ext cx="5905500" cy="533400"/>
          </a:xfrm>
        </p:spPr>
        <p:txBody>
          <a:bodyPr wrap="square" rtlCol="0" lIns="0" tIns="0" rIns="0" bIns="0" anchor="t"/>
          <a:lstStyle/>
          <a:p>
            <a:pPr>
              <a:lnSpc>
                <a:spcPct val="105000"/>
              </a:lnSpc>
            </a:pPr>
            <a:r>
              <a:rPr sz="3000" b="1">
                <a:solidFill>
                  <a:srgbClr val="F2F6FC"/>
                </a:solidFill>
                <a:latin typeface="Segoe UI"/>
                <a:ea typeface="Segoe UI"/>
              </a:rPr>
              <a:t>Ready to run</a:t>
            </a:r>
          </a:p>
        </p:txBody>
      </p:sp>
      <p:sp>
        <p:nvSpPr>
          <p:cNvPr id="5" name="TextBox 5">
            <a:extLst>
              <a:ext uri="{FF2B5EF4-FFF2-40B4-BE49-F238E27FC236}">
                <a16:creationId xmlns:a16="http://schemas.microsoft.com/office/drawing/2014/main" id="{C5245AE7-5C9D-4C7A-B756-08D3368D01DE}"/>
              </a:ext>
            </a:extLst>
          </p:cNvPr>
          <p:cNvSpPr txBox="1"/>
          <p:nvPr/>
        </p:nvSpPr>
        <p:spPr>
          <a:xfrm>
            <a:off x="7239000" y="857250"/>
            <a:ext cx="4191000" cy="419100"/>
          </a:xfrm>
        </p:spPr>
        <p:txBody>
          <a:bodyPr wrap="square" rtlCol="0" lIns="0" tIns="0" rIns="0" bIns="0" anchor="t"/>
          <a:lstStyle/>
          <a:p>
            <a:pPr algn="r">
              <a:lnSpc>
                <a:spcPct val="105000"/>
              </a:lnSpc>
            </a:pPr>
            <a:r>
              <a:rPr sz="2400" b="1">
                <a:solidFill>
                  <a:srgbClr val="9DAABF"/>
                </a:solidFill>
                <a:latin typeface="Segoe UI"/>
                <a:ea typeface="Segoe UI"/>
              </a:rPr>
              <a:t>جاهز للتشغيل</a:t>
            </a:r>
          </a:p>
        </p:txBody>
      </p:sp>
      <p:sp>
        <p:nvSpPr>
          <p:cNvPr id="6" name="Shape 6">
            <a:extLst>
              <a:ext uri="{FF2B5EF4-FFF2-40B4-BE49-F238E27FC236}">
                <a16:creationId xmlns:a16="http://schemas.microsoft.com/office/drawing/2014/main" id="{D8CE7790-D446-484B-A94A-2C206D8A7A00}"/>
              </a:ext>
            </a:extLst>
          </p:cNvPr>
          <p:cNvSpPr/>
          <p:nvPr/>
        </p:nvSpPr>
        <p:spPr>
          <a:xfrm>
            <a:off x="762000" y="1762125"/>
            <a:ext cx="5334000" cy="2762250"/>
          </a:xfrm>
          <a:prstGeom prst="roundRect">
            <a:avLst/>
          </a:prstGeom>
          <a:solidFill>
            <a:srgbClr val="111C2E"/>
          </a:solidFill>
          <a:ln w="12700">
            <a:solidFill>
              <a:srgbClr val="1E2A3D"/>
            </a:solidFill>
          </a:ln>
        </p:spPr>
        <p:txBody>
          <a:bodyPr wrap="square" rtlCol="0"/>
          <a:lstStyle/>
          <a:p>
            <a:r>
              <a:rPr/>
              <a:t/>
            </a:r>
          </a:p>
        </p:txBody>
      </p:sp>
      <p:sp>
        <p:nvSpPr>
          <p:cNvPr id="7" name="Shape 7">
            <a:extLst>
              <a:ext uri="{FF2B5EF4-FFF2-40B4-BE49-F238E27FC236}">
                <a16:creationId xmlns:a16="http://schemas.microsoft.com/office/drawing/2014/main" id="{7017C405-486D-4C61-92FE-9AC2CB6726C6}"/>
              </a:ext>
            </a:extLst>
          </p:cNvPr>
          <p:cNvSpPr/>
          <p:nvPr/>
        </p:nvSpPr>
        <p:spPr>
          <a:xfrm>
            <a:off x="6286500" y="1762125"/>
            <a:ext cx="5143500" cy="2762250"/>
          </a:xfrm>
          <a:prstGeom prst="roundRect">
            <a:avLst/>
          </a:prstGeom>
          <a:solidFill>
            <a:srgbClr val="111C2E"/>
          </a:solidFill>
          <a:ln w="12700">
            <a:solidFill>
              <a:srgbClr val="1E2A3D"/>
            </a:solidFill>
          </a:ln>
        </p:spPr>
        <p:txBody>
          <a:bodyPr wrap="square" rtlCol="0"/>
          <a:lstStyle/>
          <a:p>
            <a:r>
              <a:rPr/>
              <a:t/>
            </a:r>
          </a:p>
        </p:txBody>
      </p:sp>
      <p:sp>
        <p:nvSpPr>
          <p:cNvPr id="8" name="TextBox 8">
            <a:extLst>
              <a:ext uri="{FF2B5EF4-FFF2-40B4-BE49-F238E27FC236}">
                <a16:creationId xmlns:a16="http://schemas.microsoft.com/office/drawing/2014/main" id="{683CCBAA-0E59-43FF-A3D1-E8E4C2CFBFBF}"/>
              </a:ext>
            </a:extLst>
          </p:cNvPr>
          <p:cNvSpPr txBox="1"/>
          <p:nvPr/>
        </p:nvSpPr>
        <p:spPr>
          <a:xfrm>
            <a:off x="990600" y="1971675"/>
            <a:ext cx="4876800" cy="247650"/>
          </a:xfrm>
        </p:spPr>
        <p:txBody>
          <a:bodyPr wrap="square" rtlCol="0" lIns="0" tIns="0" rIns="0" bIns="0" anchor="t"/>
          <a:lstStyle/>
          <a:p>
            <a:pPr>
              <a:lnSpc>
                <a:spcPct val="110000"/>
              </a:lnSpc>
            </a:pPr>
            <a:r>
              <a:rPr sz="1500" b="1">
                <a:solidFill>
                  <a:srgbClr val="F2F6FC"/>
                </a:solidFill>
                <a:latin typeface="Segoe UI"/>
                <a:ea typeface="Segoe UI"/>
              </a:rPr>
              <a:t>From a clean clone  ·  من نسخة نظيفة</a:t>
            </a:r>
          </a:p>
        </p:txBody>
      </p:sp>
      <p:sp>
        <p:nvSpPr>
          <p:cNvPr id="9" name="Shape 9">
            <a:extLst>
              <a:ext uri="{FF2B5EF4-FFF2-40B4-BE49-F238E27FC236}">
                <a16:creationId xmlns:a16="http://schemas.microsoft.com/office/drawing/2014/main" id="{F2E692DE-F0AF-467C-96C9-48AB0B3B8207}"/>
              </a:ext>
            </a:extLst>
          </p:cNvPr>
          <p:cNvSpPr/>
          <p:nvPr/>
        </p:nvSpPr>
        <p:spPr>
          <a:xfrm>
            <a:off x="990600" y="2286000"/>
            <a:ext cx="457200" cy="19050"/>
          </a:xfrm>
          <a:prstGeom prst="rect">
            <a:avLst/>
          </a:prstGeom>
          <a:solidFill>
            <a:srgbClr val="00C16A"/>
          </a:solidFill>
        </p:spPr>
        <p:txBody>
          <a:bodyPr wrap="square" rtlCol="0"/>
          <a:lstStyle/>
          <a:p>
            <a:r>
              <a:rPr/>
              <a:t/>
            </a:r>
          </a:p>
        </p:txBody>
      </p:sp>
      <p:sp>
        <p:nvSpPr>
          <p:cNvPr id="10" name="TextBox 10">
            <a:extLst>
              <a:ext uri="{FF2B5EF4-FFF2-40B4-BE49-F238E27FC236}">
                <a16:creationId xmlns:a16="http://schemas.microsoft.com/office/drawing/2014/main" id="{4D8EB895-CC7C-485D-8F06-865E0B238A62}"/>
              </a:ext>
            </a:extLst>
          </p:cNvPr>
          <p:cNvSpPr txBox="1"/>
          <p:nvPr/>
        </p:nvSpPr>
        <p:spPr>
          <a:xfrm>
            <a:off x="990600" y="2457450"/>
            <a:ext cx="4876800" cy="1676400"/>
          </a:xfrm>
        </p:spPr>
        <p:txBody>
          <a:bodyPr wrap="square" rtlCol="0" lIns="0" tIns="0" rIns="0" bIns="0" anchor="t"/>
          <a:lstStyle/>
          <a:p>
            <a:pPr>
              <a:lnSpc>
                <a:spcPct val="110000"/>
              </a:lnSpc>
            </a:pPr>
            <a:r>
              <a:rPr sz="1200">
                <a:solidFill>
                  <a:srgbClr val="00C16A"/>
                </a:solidFill>
                <a:latin typeface="Consolas"/>
                <a:ea typeface="Consolas"/>
              </a:rPr>
              <a:t>$ </a:t>
            </a:r>
            <a:r>
              <a:rPr sz="1200">
                <a:solidFill>
                  <a:srgbClr val="F2F6FC"/>
                </a:solidFill>
                <a:latin typeface="Consolas"/>
                <a:ea typeface="Consolas"/>
              </a:rPr>
              <a:t>cd streetbite_capstone</a:t>
            </a:r>
            <a:br/>
            <a:r>
              <a:rPr sz="1200">
                <a:solidFill>
                  <a:srgbClr val="00C16A"/>
                </a:solidFill>
                <a:latin typeface="Consolas"/>
                <a:ea typeface="Consolas"/>
              </a:rPr>
              <a:t>$ </a:t>
            </a:r>
            <a:r>
              <a:rPr sz="1200">
                <a:solidFill>
                  <a:srgbClr val="F2F6FC"/>
                </a:solidFill>
                <a:latin typeface="Consolas"/>
                <a:ea typeface="Consolas"/>
              </a:rPr>
              <a:t>flutter pub get &amp;&amp; flutter gen-l10n</a:t>
            </a:r>
            <a:br/>
            <a:r>
              <a:rPr sz="1200">
                <a:solidFill>
                  <a:srgbClr val="00C16A"/>
                </a:solidFill>
                <a:latin typeface="Consolas"/>
                <a:ea typeface="Consolas"/>
              </a:rPr>
              <a:t>$ </a:t>
            </a:r>
            <a:r>
              <a:rPr sz="1200">
                <a:solidFill>
                  <a:srgbClr val="F2F6FC"/>
                </a:solidFill>
                <a:latin typeface="Consolas"/>
                <a:ea typeface="Consolas"/>
              </a:rPr>
              <a:t>flutter run</a:t>
            </a:r>
            <a:br/>
            <a:r>
              <a:rPr sz="1200">
                <a:solidFill>
                  <a:srgbClr val="00C16A"/>
                </a:solidFill>
                <a:latin typeface="Consolas"/>
                <a:ea typeface="Consolas"/>
              </a:rPr>
              <a:t>$ </a:t>
            </a:r>
            <a:r>
              <a:rPr sz="1200">
                <a:solidFill>
                  <a:srgbClr val="F2F6FC"/>
                </a:solidFill>
                <a:latin typeface="Consolas"/>
                <a:ea typeface="Consolas"/>
              </a:rPr>
              <a:t>flutter test      </a:t>
            </a:r>
            <a:r>
              <a:rPr sz="1200">
                <a:solidFill>
                  <a:srgbClr val="9DAABF"/>
                </a:solidFill>
                <a:latin typeface="Consolas"/>
                <a:ea typeface="Consolas"/>
              </a:rPr>
              <a:t># 99 green</a:t>
            </a:r>
            <a:br/>
            <a:r>
              <a:rPr sz="1200">
                <a:solidFill>
                  <a:srgbClr val="00C16A"/>
                </a:solidFill>
                <a:latin typeface="Consolas"/>
                <a:ea typeface="Consolas"/>
              </a:rPr>
              <a:t>$ </a:t>
            </a:r>
            <a:r>
              <a:rPr sz="1200">
                <a:solidFill>
                  <a:srgbClr val="F2F6FC"/>
                </a:solidFill>
                <a:latin typeface="Consolas"/>
                <a:ea typeface="Consolas"/>
              </a:rPr>
              <a:t>cd ../automation &amp;&amp; mvn test</a:t>
            </a:r>
          </a:p>
        </p:txBody>
      </p:sp>
      <p:sp>
        <p:nvSpPr>
          <p:cNvPr id="11" name="TextBox 11">
            <a:extLst>
              <a:ext uri="{FF2B5EF4-FFF2-40B4-BE49-F238E27FC236}">
                <a16:creationId xmlns:a16="http://schemas.microsoft.com/office/drawing/2014/main" id="{278AD3DD-EA2F-4D13-94E8-BDBD07FE786C}"/>
              </a:ext>
            </a:extLst>
          </p:cNvPr>
          <p:cNvSpPr txBox="1"/>
          <p:nvPr/>
        </p:nvSpPr>
        <p:spPr>
          <a:xfrm>
            <a:off x="990600" y="4152900"/>
            <a:ext cx="4876800" cy="190500"/>
          </a:xfrm>
        </p:spPr>
        <p:txBody>
          <a:bodyPr wrap="square" rtlCol="0" lIns="0" tIns="0" rIns="0" bIns="0" anchor="t"/>
          <a:lstStyle/>
          <a:p>
            <a:pPr>
              <a:lnSpc>
                <a:spcPct val="110000"/>
              </a:lnSpc>
            </a:pPr>
            <a:r>
              <a:rPr sz="1000" i="1">
                <a:solidFill>
                  <a:srgbClr val="9DAABF"/>
                </a:solidFill>
                <a:latin typeface="Segoe UI"/>
                <a:ea typeface="Segoe UI"/>
              </a:rPr>
              <a:t>No Firebase project required — it falls back to the device.</a:t>
            </a:r>
          </a:p>
        </p:txBody>
      </p:sp>
      <p:sp>
        <p:nvSpPr>
          <p:cNvPr id="12" name="TextBox 12">
            <a:extLst>
              <a:ext uri="{FF2B5EF4-FFF2-40B4-BE49-F238E27FC236}">
                <a16:creationId xmlns:a16="http://schemas.microsoft.com/office/drawing/2014/main" id="{6841A699-79C7-4C32-B0D0-169C9DC72E2B}"/>
              </a:ext>
            </a:extLst>
          </p:cNvPr>
          <p:cNvSpPr txBox="1"/>
          <p:nvPr/>
        </p:nvSpPr>
        <p:spPr>
          <a:xfrm>
            <a:off x="990600" y="4343400"/>
            <a:ext cx="4876800" cy="190500"/>
          </a:xfrm>
        </p:spPr>
        <p:txBody>
          <a:bodyPr wrap="square" rtlCol="0" lIns="0" tIns="0" rIns="0" bIns="0" anchor="t"/>
          <a:lstStyle/>
          <a:p>
            <a:pPr algn="r">
              <a:lnSpc>
                <a:spcPct val="110000"/>
              </a:lnSpc>
            </a:pPr>
            <a:r>
              <a:rPr sz="1000" i="1">
                <a:solidFill>
                  <a:srgbClr val="5F6E85"/>
                </a:solidFill>
                <a:latin typeface="Segoe UI"/>
                <a:ea typeface="Segoe UI"/>
              </a:rPr>
              <a:t>لا حاجة إلى مشروع Firebase</a:t>
            </a:r>
          </a:p>
        </p:txBody>
      </p:sp>
      <p:sp>
        <p:nvSpPr>
          <p:cNvPr id="13" name="TextBox 13">
            <a:extLst>
              <a:ext uri="{FF2B5EF4-FFF2-40B4-BE49-F238E27FC236}">
                <a16:creationId xmlns:a16="http://schemas.microsoft.com/office/drawing/2014/main" id="{2E32F45F-7027-4B2E-B632-5940558BD76E}"/>
              </a:ext>
            </a:extLst>
          </p:cNvPr>
          <p:cNvSpPr txBox="1"/>
          <p:nvPr/>
        </p:nvSpPr>
        <p:spPr>
          <a:xfrm>
            <a:off x="6515100" y="1971675"/>
            <a:ext cx="4686300" cy="247650"/>
          </a:xfrm>
        </p:spPr>
        <p:txBody>
          <a:bodyPr wrap="square" rtlCol="0" lIns="0" tIns="0" rIns="0" bIns="0" anchor="t"/>
          <a:lstStyle/>
          <a:p>
            <a:pPr>
              <a:lnSpc>
                <a:spcPct val="110000"/>
              </a:lnSpc>
            </a:pPr>
            <a:r>
              <a:rPr sz="1500" b="1">
                <a:solidFill>
                  <a:srgbClr val="F2F6FC"/>
                </a:solidFill>
                <a:latin typeface="Segoe UI"/>
                <a:ea typeface="Segoe UI"/>
              </a:rPr>
              <a:t>Delivered  ·  المسلَّم</a:t>
            </a:r>
          </a:p>
        </p:txBody>
      </p:sp>
      <p:sp>
        <p:nvSpPr>
          <p:cNvPr id="14" name="Shape 14">
            <a:extLst>
              <a:ext uri="{FF2B5EF4-FFF2-40B4-BE49-F238E27FC236}">
                <a16:creationId xmlns:a16="http://schemas.microsoft.com/office/drawing/2014/main" id="{A4CF233A-F975-4759-BCEE-2D49F57E2758}"/>
              </a:ext>
            </a:extLst>
          </p:cNvPr>
          <p:cNvSpPr/>
          <p:nvPr/>
        </p:nvSpPr>
        <p:spPr>
          <a:xfrm>
            <a:off x="6515100" y="2286000"/>
            <a:ext cx="457200" cy="19050"/>
          </a:xfrm>
          <a:prstGeom prst="rect">
            <a:avLst/>
          </a:prstGeom>
          <a:solidFill>
            <a:srgbClr val="00C16A"/>
          </a:solidFill>
        </p:spPr>
        <p:txBody>
          <a:bodyPr wrap="square" rtlCol="0"/>
          <a:lstStyle/>
          <a:p>
            <a:r>
              <a:rPr/>
              <a:t/>
            </a:r>
          </a:p>
        </p:txBody>
      </p:sp>
      <p:sp>
        <p:nvSpPr>
          <p:cNvPr id="15" name="TextBox 15">
            <a:extLst>
              <a:ext uri="{FF2B5EF4-FFF2-40B4-BE49-F238E27FC236}">
                <a16:creationId xmlns:a16="http://schemas.microsoft.com/office/drawing/2014/main" id="{0FD3FF14-B23E-4B6B-873E-9018F1D365E3}"/>
              </a:ext>
            </a:extLst>
          </p:cNvPr>
          <p:cNvSpPr txBox="1"/>
          <p:nvPr/>
        </p:nvSpPr>
        <p:spPr>
          <a:xfrm>
            <a:off x="6515100" y="2457450"/>
            <a:ext cx="2286000" cy="1905000"/>
          </a:xfrm>
        </p:spPr>
        <p:txBody>
          <a:bodyPr wrap="square" rtlCol="0" lIns="0" tIns="0" rIns="0" bIns="0" anchor="t"/>
          <a:lstStyle/>
          <a:p>
            <a:pPr>
              <a:lnSpc>
                <a:spcPct val="100000"/>
              </a:lnSpc>
            </a:pPr>
            <a:r>
              <a:rPr sz="1100">
                <a:solidFill>
                  <a:srgbClr val="9DAABF"/>
                </a:solidFill>
                <a:latin typeface="Segoe UI"/>
                <a:ea typeface="Segoe UI"/>
              </a:rPr>
              <a:t>Repo with the full project</a:t>
            </a:r>
            <a:br/>
            <a:r>
              <a:rPr sz="1100">
                <a:solidFill>
                  <a:srgbClr val="9DAABF"/>
                </a:solidFill>
                <a:latin typeface="Segoe UI"/>
                <a:ea typeface="Segoe UI"/>
              </a:rPr>
              <a:t>Multi-page bilingual docs</a:t>
            </a:r>
            <a:br/>
            <a:r>
              <a:rPr sz="1100">
                <a:solidFill>
                  <a:srgbClr val="9DAABF"/>
                </a:solidFill>
                <a:latin typeface="Segoe UI"/>
                <a:ea typeface="Segoe UI"/>
              </a:rPr>
              <a:t>Clean Architecture</a:t>
            </a:r>
            <a:br/>
            <a:r>
              <a:rPr sz="1100">
                <a:solidFill>
                  <a:srgbClr val="9DAABF"/>
                </a:solidFill>
                <a:latin typeface="Segoe UI"/>
                <a:ea typeface="Segoe UI"/>
              </a:rPr>
              <a:t>130+ Dart files</a:t>
            </a:r>
            <a:br/>
            <a:r>
              <a:rPr sz="1100">
                <a:solidFill>
                  <a:srgbClr val="9DAABF"/>
                </a:solidFill>
                <a:latin typeface="Segoe UI"/>
                <a:ea typeface="Segoe UI"/>
              </a:rPr>
              <a:t>Either — no unhandled error</a:t>
            </a:r>
            <a:br/>
            <a:r>
              <a:rPr sz="1100">
                <a:solidFill>
                  <a:srgbClr val="9DAABF"/>
                </a:solidFill>
                <a:latin typeface="Segoe UI"/>
                <a:ea typeface="Segoe UI"/>
              </a:rPr>
              <a:t>Appium suite 6 / 6</a:t>
            </a:r>
            <a:br/>
            <a:r>
              <a:rPr sz="1100">
                <a:solidFill>
                  <a:srgbClr val="9DAABF"/>
                </a:solidFill>
                <a:latin typeface="Segoe UI"/>
                <a:ea typeface="Segoe UI"/>
              </a:rPr>
              <a:t>The QA closure pack</a:t>
            </a:r>
          </a:p>
        </p:txBody>
      </p:sp>
      <p:sp>
        <p:nvSpPr>
          <p:cNvPr id="16" name="TextBox 16">
            <a:extLst>
              <a:ext uri="{FF2B5EF4-FFF2-40B4-BE49-F238E27FC236}">
                <a16:creationId xmlns:a16="http://schemas.microsoft.com/office/drawing/2014/main" id="{5D54FB88-3FBA-4D48-A4EC-3266451BDA26}"/>
              </a:ext>
            </a:extLst>
          </p:cNvPr>
          <p:cNvSpPr txBox="1"/>
          <p:nvPr/>
        </p:nvSpPr>
        <p:spPr>
          <a:xfrm>
            <a:off x="8915400" y="2457450"/>
            <a:ext cx="2286000" cy="1905000"/>
          </a:xfrm>
        </p:spPr>
        <p:txBody>
          <a:bodyPr wrap="square" rtlCol="0" lIns="0" tIns="0" rIns="0" bIns="0" anchor="t"/>
          <a:lstStyle/>
          <a:p>
            <a:pPr algn="r">
              <a:lnSpc>
                <a:spcPct val="100000"/>
              </a:lnSpc>
            </a:pPr>
            <a:r>
              <a:rPr sz="1100">
                <a:solidFill>
                  <a:srgbClr val="5F6E85"/>
                </a:solidFill>
                <a:latin typeface="Segoe UI"/>
                <a:ea typeface="Segoe UI"/>
              </a:rPr>
              <a:t>المستودع كاملًا</a:t>
            </a:r>
            <a:br/>
            <a:r>
              <a:rPr sz="1100">
                <a:solidFill>
                  <a:srgbClr val="5F6E85"/>
                </a:solidFill>
                <a:latin typeface="Segoe UI"/>
                <a:ea typeface="Segoe UI"/>
              </a:rPr>
              <a:t>توثيق متعدد الصفحات بلغتين</a:t>
            </a:r>
            <a:br/>
            <a:r>
              <a:rPr sz="1100">
                <a:solidFill>
                  <a:srgbClr val="5F6E85"/>
                </a:solidFill>
                <a:latin typeface="Segoe UI"/>
                <a:ea typeface="Segoe UI"/>
              </a:rPr>
              <a:t>بنية نظيفة</a:t>
            </a:r>
            <a:br/>
            <a:r>
              <a:rPr sz="1100">
                <a:solidFill>
                  <a:srgbClr val="5F6E85"/>
                </a:solidFill>
                <a:latin typeface="Segoe UI"/>
                <a:ea typeface="Segoe UI"/>
              </a:rPr>
              <a:t>130+ ملف Dart</a:t>
            </a:r>
            <a:br/>
            <a:r>
              <a:rPr sz="1100">
                <a:solidFill>
                  <a:srgbClr val="5F6E85"/>
                </a:solidFill>
                <a:latin typeface="Segoe UI"/>
                <a:ea typeface="Segoe UI"/>
              </a:rPr>
              <a:t>Either بلا خطأ سافر</a:t>
            </a:r>
            <a:br/>
            <a:r>
              <a:rPr sz="1100">
                <a:solidFill>
                  <a:srgbClr val="5F6E85"/>
                </a:solidFill>
                <a:latin typeface="Segoe UI"/>
                <a:ea typeface="Segoe UI"/>
              </a:rPr>
              <a:t>حزمة Appium</a:t>
            </a:r>
            <a:br/>
            <a:r>
              <a:rPr sz="1100">
                <a:solidFill>
                  <a:srgbClr val="5F6E85"/>
                </a:solidFill>
                <a:latin typeface="Segoe UI"/>
                <a:ea typeface="Segoe UI"/>
              </a:rPr>
              <a:t>حزمة الجودة اليدوية</a:t>
            </a:r>
          </a:p>
        </p:txBody>
      </p:sp>
      <p:sp>
        <p:nvSpPr>
          <p:cNvPr id="17" name="Shape 17">
            <a:extLst>
              <a:ext uri="{FF2B5EF4-FFF2-40B4-BE49-F238E27FC236}">
                <a16:creationId xmlns:a16="http://schemas.microsoft.com/office/drawing/2014/main" id="{15C76B03-7C32-4679-9AC3-99B2BD9A8422}"/>
              </a:ext>
            </a:extLst>
          </p:cNvPr>
          <p:cNvSpPr/>
          <p:nvPr/>
        </p:nvSpPr>
        <p:spPr>
          <a:xfrm>
            <a:off x="762000" y="4762500"/>
            <a:ext cx="10668000" cy="1524000"/>
          </a:xfrm>
          <a:prstGeom prst="roundRect">
            <a:avLst/>
          </a:prstGeom>
          <a:solidFill>
            <a:srgbClr val="111C2E"/>
          </a:solidFill>
          <a:ln w="12700">
            <a:solidFill>
              <a:srgbClr val="1E2A3D"/>
            </a:solidFill>
          </a:ln>
        </p:spPr>
        <p:txBody>
          <a:bodyPr wrap="square" rtlCol="0"/>
          <a:lstStyle/>
          <a:p>
            <a:r>
              <a:rPr/>
              <a:t/>
            </a:r>
          </a:p>
        </p:txBody>
      </p:sp>
      <p:sp>
        <p:nvSpPr>
          <p:cNvPr id="18" name="TextBox 18">
            <a:extLst>
              <a:ext uri="{FF2B5EF4-FFF2-40B4-BE49-F238E27FC236}">
                <a16:creationId xmlns:a16="http://schemas.microsoft.com/office/drawing/2014/main" id="{36DD882E-524C-4B1E-B339-1AA9FC2F45C6}"/>
              </a:ext>
            </a:extLst>
          </p:cNvPr>
          <p:cNvSpPr txBox="1"/>
          <p:nvPr/>
        </p:nvSpPr>
        <p:spPr>
          <a:xfrm>
            <a:off x="990600" y="4933950"/>
            <a:ext cx="10210800" cy="228600"/>
          </a:xfrm>
        </p:spPr>
        <p:txBody>
          <a:bodyPr wrap="square" rtlCol="0" lIns="0" tIns="0" rIns="0" bIns="0" anchor="t"/>
          <a:lstStyle/>
          <a:p>
            <a:pPr>
              <a:lnSpc>
                <a:spcPct val="110000"/>
              </a:lnSpc>
            </a:pPr>
            <a:r>
              <a:rPr sz="1300" b="1">
                <a:solidFill>
                  <a:srgbClr val="FFB020"/>
                </a:solidFill>
                <a:latin typeface="Segoe UI"/>
                <a:ea typeface="Segoe UI"/>
              </a:rPr>
              <a:t>Known limitations  ·  حدود معروفة</a:t>
            </a:r>
          </a:p>
        </p:txBody>
      </p:sp>
      <p:sp>
        <p:nvSpPr>
          <p:cNvPr id="19" name="TextBox 19">
            <a:extLst>
              <a:ext uri="{FF2B5EF4-FFF2-40B4-BE49-F238E27FC236}">
                <a16:creationId xmlns:a16="http://schemas.microsoft.com/office/drawing/2014/main" id="{6676FC14-E438-4198-AE90-193A45F6EA55}"/>
              </a:ext>
            </a:extLst>
          </p:cNvPr>
          <p:cNvSpPr txBox="1"/>
          <p:nvPr/>
        </p:nvSpPr>
        <p:spPr>
          <a:xfrm>
            <a:off x="990600" y="5219700"/>
            <a:ext cx="5905500" cy="1009650"/>
          </a:xfrm>
        </p:spPr>
        <p:txBody>
          <a:bodyPr wrap="square" rtlCol="0" lIns="0" tIns="0" rIns="0" bIns="0" anchor="t"/>
          <a:lstStyle/>
          <a:p>
            <a:pPr>
              <a:lnSpc>
                <a:spcPct val="100000"/>
              </a:lnSpc>
            </a:pPr>
            <a:r>
              <a:rPr sz="1000">
                <a:solidFill>
                  <a:srgbClr val="9DAABF"/>
                </a:solidFill>
                <a:latin typeface="Segoe UI"/>
                <a:ea typeface="Segoe UI"/>
              </a:rPr>
              <a:t>Prices are synthetic — TheMealDB has no price field, so they derive from the meal id</a:t>
            </a:r>
            <a:br/>
            <a:r>
              <a:rPr sz="1000">
                <a:solidFill>
                  <a:srgbClr val="9DAABF"/>
                </a:solidFill>
                <a:latin typeface="Segoe UI"/>
                <a:ea typeface="Segoe UI"/>
              </a:rPr>
              <a:t>Vendors are the five hardcoded seeds in VendorLocalDataSource</a:t>
            </a:r>
            <a:br/>
            <a:r>
              <a:rPr sz="1000">
                <a:solidFill>
                  <a:srgbClr val="9DAABF"/>
                </a:solidFill>
                <a:latin typeface="Segoe UI"/>
                <a:ea typeface="Segoe UI"/>
              </a:rPr>
              <a:t>The delivery window is simulated: Current to Past 45 minutes after placedAt</a:t>
            </a:r>
            <a:br/>
            <a:r>
              <a:rPr sz="1000">
                <a:solidFill>
                  <a:srgbClr val="9DAABF"/>
                </a:solidFill>
                <a:latin typeface="Segoe UI"/>
                <a:ea typeface="Segoe UI"/>
              </a:rPr>
              <a:t>No order cancellation and no vendor-side tooling in V1</a:t>
            </a:r>
            <a:br/>
            <a:r>
              <a:rPr sz="1000">
                <a:solidFill>
                  <a:srgbClr val="9DAABF"/>
                </a:solidFill>
                <a:latin typeface="Segoe UI"/>
                <a:ea typeface="Segoe UI"/>
              </a:rPr>
              <a:t>iOS is scaffolded but unconfigured; the task targeted Android</a:t>
            </a:r>
          </a:p>
        </p:txBody>
      </p:sp>
      <p:sp>
        <p:nvSpPr>
          <p:cNvPr id="20" name="TextBox 20">
            <a:extLst>
              <a:ext uri="{FF2B5EF4-FFF2-40B4-BE49-F238E27FC236}">
                <a16:creationId xmlns:a16="http://schemas.microsoft.com/office/drawing/2014/main" id="{F796B5DF-773E-4587-84E8-C562FE0A335E}"/>
              </a:ext>
            </a:extLst>
          </p:cNvPr>
          <p:cNvSpPr txBox="1"/>
          <p:nvPr/>
        </p:nvSpPr>
        <p:spPr>
          <a:xfrm>
            <a:off x="7239000" y="5219700"/>
            <a:ext cx="4000500" cy="1009650"/>
          </a:xfrm>
        </p:spPr>
        <p:txBody>
          <a:bodyPr wrap="square" rtlCol="0" lIns="0" tIns="0" rIns="0" bIns="0" anchor="t"/>
          <a:lstStyle/>
          <a:p>
            <a:pPr algn="r">
              <a:lnSpc>
                <a:spcPct val="100000"/>
              </a:lnSpc>
            </a:pPr>
            <a:r>
              <a:rPr sz="1000">
                <a:solidFill>
                  <a:srgbClr val="5F6E85"/>
                </a:solidFill>
                <a:latin typeface="Segoe UI"/>
                <a:ea typeface="Segoe UI"/>
              </a:rPr>
              <a:t>الأسعار مشتقّة لا حقيقية</a:t>
            </a:r>
            <a:br/>
            <a:r>
              <a:rPr sz="1000">
                <a:solidFill>
                  <a:srgbClr val="5F6E85"/>
                </a:solidFill>
                <a:latin typeface="Segoe UI"/>
                <a:ea typeface="Segoe UI"/>
              </a:rPr>
              <a:t>البائعون خمسة مُثبَّتون في الكود</a:t>
            </a:r>
            <a:br/>
            <a:r>
              <a:rPr sz="1000">
                <a:solidFill>
                  <a:srgbClr val="5F6E85"/>
                </a:solidFill>
                <a:latin typeface="Segoe UI"/>
                <a:ea typeface="Segoe UI"/>
              </a:rPr>
              <a:t>نافذة التوصيل محاكاة عند 45 دقيقة</a:t>
            </a:r>
            <a:br/>
            <a:r>
              <a:rPr sz="1000">
                <a:solidFill>
                  <a:srgbClr val="5F6E85"/>
                </a:solidFill>
                <a:latin typeface="Segoe UI"/>
                <a:ea typeface="Segoe UI"/>
              </a:rPr>
              <a:t>لا إلغاء للطلب في الإصدار الأول</a:t>
            </a:r>
            <a:br/>
            <a:r>
              <a:rPr sz="1000">
                <a:solidFill>
                  <a:srgbClr val="5F6E85"/>
                </a:solidFill>
                <a:latin typeface="Segoe UI"/>
                <a:ea typeface="Segoe UI"/>
              </a:rPr>
              <a:t>iOS مُهيّكلة وغير مُعدّة</a:t>
            </a:r>
          </a:p>
        </p:txBody>
      </p:sp>
      <p:sp>
        <p:nvSpPr>
          <p:cNvPr id="21" name="TextBox 21">
            <a:extLst>
              <a:ext uri="{FF2B5EF4-FFF2-40B4-BE49-F238E27FC236}">
                <a16:creationId xmlns:a16="http://schemas.microsoft.com/office/drawing/2014/main" id="{32577A97-F34A-4BEE-B98D-C32B01F6C5B9}"/>
              </a:ext>
            </a:extLst>
          </p:cNvPr>
          <p:cNvSpPr txBox="1"/>
          <p:nvPr/>
        </p:nvSpPr>
        <p:spPr>
          <a:xfrm>
            <a:off x="762000" y="6515100"/>
            <a:ext cx="3810000" cy="209550"/>
          </a:xfrm>
        </p:spPr>
        <p:txBody>
          <a:bodyPr wrap="square" rtlCol="0" lIns="0" tIns="0" rIns="0" bIns="0" anchor="t"/>
          <a:lstStyle/>
          <a:p>
            <a:pPr>
              <a:lnSpc>
                <a:spcPct val="110000"/>
              </a:lnSpc>
            </a:pPr>
            <a:r>
              <a:rPr sz="1000">
                <a:solidFill>
                  <a:srgbClr val="5F6E85"/>
                </a:solidFill>
                <a:latin typeface="Segoe UI"/>
                <a:ea typeface="Segoe UI"/>
              </a:rPr>
              <a:t>StreetBite · Capstone report · 16</a:t>
            </a:r>
          </a:p>
        </p:txBody>
      </p:sp>
      <p:sp>
        <p:nvSpPr>
          <p:cNvPr id="22" name="TextBox 22">
            <a:extLst>
              <a:ext uri="{FF2B5EF4-FFF2-40B4-BE49-F238E27FC236}">
                <a16:creationId xmlns:a16="http://schemas.microsoft.com/office/drawing/2014/main" id="{30B64DBA-8DD1-47E3-9C9D-07F8641F8CBF}"/>
              </a:ext>
            </a:extLst>
          </p:cNvPr>
          <p:cNvSpPr txBox="1"/>
          <p:nvPr/>
        </p:nvSpPr>
        <p:spPr>
          <a:xfrm>
            <a:off x="5143500" y="6515100"/>
            <a:ext cx="6286500" cy="209550"/>
          </a:xfrm>
        </p:spPr>
        <p:txBody>
          <a:bodyPr wrap="square" rtlCol="0" lIns="0" tIns="0" rIns="0" bIns="0" anchor="t"/>
          <a:lstStyle/>
          <a:p>
            <a:pPr algn="r">
              <a:lnSpc>
                <a:spcPct val="110000"/>
              </a:lnSpc>
            </a:pPr>
            <a:r>
              <a:rPr sz="1000">
                <a:solidFill>
                  <a:srgbClr val="5F6E85"/>
                </a:solidFill>
                <a:latin typeface="Segoe UI"/>
                <a:ea typeface="Segoe UI"/>
              </a:rPr>
              <a:t>github.com/MahmoudMuslim/streetbite_capstone</a:t>
            </a:r>
          </a:p>
        </p:txBody>
      </p:sp>
    </p:spTree>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C43E1C"/>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Microsoft YaHei"/>
        <a:cs typeface=""/>
      </a:majorFont>
      <a:minorFont>
        <a:latin typeface="Calibri"/>
        <a:ea typeface="Microsoft YaHei"/>
        <a:cs typeface=""/>
      </a:minorFont>
    </a:fontScheme>
    <a:fmtScheme name="Office">
      <a:fillStyleLst>
        <a:solidFill>
          <a:schemeClr val="phClr"/>
        </a:solidFill>
        <a:solidFill>
          <a:schemeClr val="phClr"/>
        </a:solidFill>
        <a:solidFill>
          <a:schemeClr val="phClr"/>
        </a:solidFill>
      </a:fillStyleLst>
      <a:lnStyleLst>
        <a:ln w="6350">
          <a:solidFill>
            <a:schemeClr val="phClr"/>
          </a:solidFill>
        </a:ln>
        <a:ln w="12700">
          <a:solidFill>
            <a:schemeClr val="phClr"/>
          </a:solidFill>
        </a:ln>
        <a:ln w="19050">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